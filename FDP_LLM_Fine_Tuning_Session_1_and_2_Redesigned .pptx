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9"/>
  </p:notesMasterIdLst>
  <p:sldIdLst>
    <p:sldId id="256" r:id="rId2"/>
    <p:sldId id="257" r:id="rId3"/>
    <p:sldId id="258" r:id="rId4"/>
    <p:sldId id="307" r:id="rId5"/>
    <p:sldId id="259" r:id="rId6"/>
    <p:sldId id="260" r:id="rId7"/>
    <p:sldId id="301" r:id="rId8"/>
    <p:sldId id="261" r:id="rId9"/>
    <p:sldId id="262" r:id="rId10"/>
    <p:sldId id="303" r:id="rId11"/>
    <p:sldId id="304" r:id="rId12"/>
    <p:sldId id="263" r:id="rId13"/>
    <p:sldId id="264" r:id="rId14"/>
    <p:sldId id="265" r:id="rId15"/>
    <p:sldId id="266" r:id="rId16"/>
    <p:sldId id="305" r:id="rId17"/>
    <p:sldId id="308" r:id="rId18"/>
    <p:sldId id="306" r:id="rId19"/>
    <p:sldId id="267" r:id="rId20"/>
    <p:sldId id="268" r:id="rId21"/>
    <p:sldId id="269" r:id="rId22"/>
    <p:sldId id="302" r:id="rId23"/>
    <p:sldId id="270" r:id="rId24"/>
    <p:sldId id="271" r:id="rId25"/>
    <p:sldId id="272" r:id="rId26"/>
    <p:sldId id="273" r:id="rId27"/>
    <p:sldId id="274" r:id="rId28"/>
    <p:sldId id="275" r:id="rId29"/>
    <p:sldId id="276" r:id="rId30"/>
    <p:sldId id="277" r:id="rId31"/>
    <p:sldId id="278" r:id="rId32"/>
    <p:sldId id="279" r:id="rId33"/>
    <p:sldId id="280" r:id="rId34"/>
    <p:sldId id="281" r:id="rId35"/>
    <p:sldId id="282" r:id="rId36"/>
    <p:sldId id="283" r:id="rId37"/>
    <p:sldId id="284" r:id="rId38"/>
    <p:sldId id="285" r:id="rId39"/>
    <p:sldId id="309" r:id="rId40"/>
    <p:sldId id="310" r:id="rId41"/>
    <p:sldId id="311" r:id="rId42"/>
    <p:sldId id="312" r:id="rId43"/>
    <p:sldId id="286" r:id="rId44"/>
    <p:sldId id="287" r:id="rId45"/>
    <p:sldId id="288" r:id="rId46"/>
    <p:sldId id="289" r:id="rId47"/>
    <p:sldId id="290" r:id="rId48"/>
    <p:sldId id="291" r:id="rId49"/>
    <p:sldId id="292" r:id="rId50"/>
    <p:sldId id="313" r:id="rId51"/>
    <p:sldId id="293" r:id="rId52"/>
    <p:sldId id="294" r:id="rId53"/>
    <p:sldId id="295" r:id="rId54"/>
    <p:sldId id="296" r:id="rId55"/>
    <p:sldId id="297" r:id="rId56"/>
    <p:sldId id="298" r:id="rId57"/>
    <p:sldId id="299" r:id="rId5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21DD11A-0358-5299-532D-9609FE3EE1EB}" v="89" dt="2026-08-16T17:31:27.082"/>
    <p1510:client id="{EACA1E49-52C4-4E4C-A12C-CD6B2876B11A}" v="4" dt="2026-08-17T01:28:05.64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viewProps" Target="view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microsoft.com/office/2015/10/relationships/revisionInfo" Target="revisionInfo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064B345-6677-4D3B-B798-9BAEF322FBF8}" type="datetimeFigureOut">
              <a:t>8/16/2026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1577173-173F-412C-A651-FCF2E4C1C05C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259575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90538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8.png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8.png"/><Relationship Id="rId4" Type="http://schemas.openxmlformats.org/officeDocument/2006/relationships/image" Target="../media/image22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.png"/><Relationship Id="rId4" Type="http://schemas.openxmlformats.org/officeDocument/2006/relationships/image" Target="../media/image2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7.png"/><Relationship Id="rId4" Type="http://schemas.openxmlformats.org/officeDocument/2006/relationships/image" Target="../media/image2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8.png"/><Relationship Id="rId4" Type="http://schemas.openxmlformats.org/officeDocument/2006/relationships/image" Target="../media/image26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25.png"/><Relationship Id="rId4" Type="http://schemas.openxmlformats.org/officeDocument/2006/relationships/image" Target="../media/image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0.png"/><Relationship Id="rId4" Type="http://schemas.openxmlformats.org/officeDocument/2006/relationships/image" Target="../media/image2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31.pn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6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12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3.png"/><Relationship Id="rId4" Type="http://schemas.openxmlformats.org/officeDocument/2006/relationships/image" Target="../media/image39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0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22.png"/><Relationship Id="rId4" Type="http://schemas.openxmlformats.org/officeDocument/2006/relationships/image" Target="../media/image26.png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image" Target="../media/image35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5" Type="http://schemas.openxmlformats.org/officeDocument/2006/relationships/image" Target="../media/image17.png"/><Relationship Id="rId4" Type="http://schemas.openxmlformats.org/officeDocument/2006/relationships/image" Target="../media/image37.png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image" Target="../media/image30.png"/><Relationship Id="rId7" Type="http://schemas.openxmlformats.org/officeDocument/2006/relationships/image" Target="../media/image43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2.png"/><Relationship Id="rId5" Type="http://schemas.openxmlformats.org/officeDocument/2006/relationships/image" Target="../media/image37.png"/><Relationship Id="rId4" Type="http://schemas.openxmlformats.org/officeDocument/2006/relationships/image" Target="../media/image12.png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3" Type="http://schemas.openxmlformats.org/officeDocument/2006/relationships/image" Target="../media/image39.png"/><Relationship Id="rId7" Type="http://schemas.openxmlformats.org/officeDocument/2006/relationships/image" Target="../media/image46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5.png"/><Relationship Id="rId5" Type="http://schemas.openxmlformats.org/officeDocument/2006/relationships/image" Target="../media/image26.png"/><Relationship Id="rId4" Type="http://schemas.openxmlformats.org/officeDocument/2006/relationships/image" Target="../media/image8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5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1005840"/>
            <a:ext cx="914400" cy="0"/>
          </a:xfrm>
          <a:prstGeom prst="line">
            <a:avLst/>
          </a:prstGeom>
          <a:noFill/>
          <a:ln w="12700">
            <a:solidFill>
              <a:srgbClr val="3A469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07040" y="731520"/>
            <a:ext cx="640080" cy="731520"/>
          </a:xfrm>
          <a:prstGeom prst="line">
            <a:avLst/>
          </a:prstGeom>
          <a:noFill/>
          <a:ln w="12700">
            <a:solidFill>
              <a:srgbClr val="3A469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247120" y="1463040"/>
            <a:ext cx="0" cy="457200"/>
          </a:xfrm>
          <a:prstGeom prst="line">
            <a:avLst/>
          </a:prstGeom>
          <a:noFill/>
          <a:ln w="12700">
            <a:solidFill>
              <a:srgbClr val="3A469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241280" y="1920240"/>
            <a:ext cx="0" cy="274320"/>
          </a:xfrm>
          <a:prstGeom prst="line">
            <a:avLst/>
          </a:prstGeom>
          <a:noFill/>
          <a:ln w="12700">
            <a:solidFill>
              <a:srgbClr val="3A469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418320" y="2194560"/>
            <a:ext cx="2011680" cy="182880"/>
          </a:xfrm>
          <a:prstGeom prst="line">
            <a:avLst/>
          </a:prstGeom>
          <a:noFill/>
          <a:ln w="12700">
            <a:solidFill>
              <a:srgbClr val="3A469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430000" y="2377440"/>
            <a:ext cx="0" cy="548640"/>
          </a:xfrm>
          <a:prstGeom prst="line">
            <a:avLst/>
          </a:prstGeom>
          <a:noFill/>
          <a:ln w="12700">
            <a:solidFill>
              <a:srgbClr val="3A469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646920" y="960120"/>
            <a:ext cx="91440" cy="9144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9" name="Shape 7"/>
          <p:cNvSpPr/>
          <p:nvPr/>
        </p:nvSpPr>
        <p:spPr>
          <a:xfrm>
            <a:off x="10561320" y="685800"/>
            <a:ext cx="91440" cy="91440"/>
          </a:xfrm>
          <a:prstGeom prst="ellipse">
            <a:avLst/>
          </a:prstGeom>
          <a:solidFill>
            <a:srgbClr val="3B6EF0"/>
          </a:solidFill>
          <a:ln/>
        </p:spPr>
      </p:sp>
      <p:sp>
        <p:nvSpPr>
          <p:cNvPr id="10" name="Shape 8"/>
          <p:cNvSpPr/>
          <p:nvPr/>
        </p:nvSpPr>
        <p:spPr>
          <a:xfrm>
            <a:off x="11201400" y="1417320"/>
            <a:ext cx="91440" cy="91440"/>
          </a:xfrm>
          <a:prstGeom prst="ellipse">
            <a:avLst/>
          </a:prstGeom>
          <a:solidFill>
            <a:srgbClr val="3B6EF0"/>
          </a:solidFill>
          <a:ln/>
        </p:spPr>
      </p:sp>
      <p:sp>
        <p:nvSpPr>
          <p:cNvPr id="11" name="Shape 9"/>
          <p:cNvSpPr/>
          <p:nvPr/>
        </p:nvSpPr>
        <p:spPr>
          <a:xfrm>
            <a:off x="10195560" y="1874520"/>
            <a:ext cx="91440" cy="9144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2" name="Shape 10"/>
          <p:cNvSpPr/>
          <p:nvPr/>
        </p:nvSpPr>
        <p:spPr>
          <a:xfrm>
            <a:off x="9372600" y="2148840"/>
            <a:ext cx="91440" cy="91440"/>
          </a:xfrm>
          <a:prstGeom prst="ellipse">
            <a:avLst/>
          </a:prstGeom>
          <a:solidFill>
            <a:srgbClr val="3B6EF0"/>
          </a:solidFill>
          <a:ln/>
        </p:spPr>
      </p:sp>
      <p:sp>
        <p:nvSpPr>
          <p:cNvPr id="13" name="Shape 11"/>
          <p:cNvSpPr/>
          <p:nvPr/>
        </p:nvSpPr>
        <p:spPr>
          <a:xfrm>
            <a:off x="11384280" y="2331720"/>
            <a:ext cx="91440" cy="91440"/>
          </a:xfrm>
          <a:prstGeom prst="ellipse">
            <a:avLst/>
          </a:prstGeom>
          <a:solidFill>
            <a:srgbClr val="3B6EF0"/>
          </a:solidFill>
          <a:ln/>
        </p:spPr>
      </p:sp>
      <p:sp>
        <p:nvSpPr>
          <p:cNvPr id="14" name="Shape 12"/>
          <p:cNvSpPr/>
          <p:nvPr/>
        </p:nvSpPr>
        <p:spPr>
          <a:xfrm>
            <a:off x="10652760" y="2880360"/>
            <a:ext cx="91440" cy="9144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21488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DEVELOPMENT PROGRAM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22960" y="2487168"/>
            <a:ext cx="9875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LLM Fine-Tuning: Concepts, Methods &amp; Training Mechanics</a:t>
            </a:r>
            <a:endParaRPr lang="en-US" sz="4000" dirty="0"/>
          </a:p>
        </p:txBody>
      </p:sp>
      <p:sp>
        <p:nvSpPr>
          <p:cNvPr id="17" name="Text 15"/>
          <p:cNvSpPr/>
          <p:nvPr/>
        </p:nvSpPr>
        <p:spPr>
          <a:xfrm>
            <a:off x="822960" y="3703320"/>
            <a:ext cx="8961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pretrained language models to parameter-efficient adaptation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22960" y="4526280"/>
            <a:ext cx="1828800" cy="0"/>
          </a:xfrm>
          <a:prstGeom prst="line">
            <a:avLst/>
          </a:prstGeom>
          <a:noFill/>
          <a:ln w="25400">
            <a:solidFill>
              <a:srgbClr val="3B6E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4709160"/>
            <a:ext cx="7315200" cy="3657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AAB4D6"/>
                </a:solidFill>
                <a:latin typeface="Calibri"/>
                <a:ea typeface="Calibri"/>
                <a:cs typeface="Calibri"/>
              </a:rPr>
              <a:t>Session 1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22960" y="63093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48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  •  Faculty Development Program  •  1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3B6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5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Roadmap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139696"/>
            <a:ext cx="384048" cy="384048"/>
          </a:xfrm>
          <a:prstGeom prst="ellipse">
            <a:avLst/>
          </a:prstGeom>
          <a:solidFill>
            <a:srgbClr val="1B2559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13055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78992" y="2084832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B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LLMs: what they are and how they work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78992" y="2450592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 architecture, tokens and autoregressive generation.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3035808"/>
            <a:ext cx="384048" cy="384048"/>
          </a:xfrm>
          <a:prstGeom prst="ellipse">
            <a:avLst/>
          </a:prstGeom>
          <a:solidFill>
            <a:srgbClr val="1B2559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302666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78992" y="2980944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B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fine-tuning?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78992" y="3346704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and why we adapt a pretrained model at all.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3931920"/>
            <a:ext cx="384048" cy="384048"/>
          </a:xfrm>
          <a:prstGeom prst="ellipse">
            <a:avLst/>
          </a:prstGeom>
          <a:solidFill>
            <a:srgbClr val="1B2559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92277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78992" y="3877056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B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fine-tuning vs prompt engineering vs prompt tuning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78992" y="4242816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Comparing the adaptation spectrum and its trade-offs.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4828032"/>
            <a:ext cx="384048" cy="384048"/>
          </a:xfrm>
          <a:prstGeom prst="ellipse">
            <a:avLst/>
          </a:prstGeom>
          <a:solidFill>
            <a:srgbClr val="1B2559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481888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78992" y="4773168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B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Parameter-efficient fine-tuning: LoRA &amp; QLoRA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78992" y="5138928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Low-rank adapters and quantized backbones.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309360" y="2139696"/>
            <a:ext cx="384048" cy="384048"/>
          </a:xfrm>
          <a:prstGeom prst="ellipse">
            <a:avLst/>
          </a:prstGeom>
          <a:solidFill>
            <a:srgbClr val="3B6EF0"/>
          </a:solidFill>
          <a:ln/>
        </p:spPr>
      </p:sp>
      <p:sp>
        <p:nvSpPr>
          <p:cNvPr id="21" name="Text 19"/>
          <p:cNvSpPr/>
          <p:nvPr/>
        </p:nvSpPr>
        <p:spPr>
          <a:xfrm>
            <a:off x="6309360" y="213055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839712" y="2084832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B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fine-tuning (SFT)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839712" y="2450592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 a model from labeled input/output examples.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309360" y="3035808"/>
            <a:ext cx="384048" cy="384048"/>
          </a:xfrm>
          <a:prstGeom prst="ellipse">
            <a:avLst/>
          </a:prstGeom>
          <a:solidFill>
            <a:srgbClr val="3B6EF0"/>
          </a:solidFill>
          <a:ln/>
        </p:spPr>
      </p:sp>
      <p:sp>
        <p:nvSpPr>
          <p:cNvPr id="25" name="Text 23"/>
          <p:cNvSpPr/>
          <p:nvPr/>
        </p:nvSpPr>
        <p:spPr>
          <a:xfrm>
            <a:off x="6309360" y="302666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839712" y="2980944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B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mechanics, loss and optimization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839712" y="3346704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pass, backpropagation and gradient descent.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309360" y="3931920"/>
            <a:ext cx="384048" cy="384048"/>
          </a:xfrm>
          <a:prstGeom prst="ellipse">
            <a:avLst/>
          </a:prstGeom>
          <a:solidFill>
            <a:srgbClr val="3B6EF0"/>
          </a:solidFill>
          <a:ln/>
        </p:spPr>
      </p:sp>
      <p:sp>
        <p:nvSpPr>
          <p:cNvPr id="29" name="Text 27"/>
          <p:cNvSpPr/>
          <p:nvPr/>
        </p:nvSpPr>
        <p:spPr>
          <a:xfrm>
            <a:off x="6309360" y="392277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839712" y="3877056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B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Evaluation, overfitting and practical considerations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839712" y="4242816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Judging whether fine-tuning actually worked.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  •  Faculty Development Program  •  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3B6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5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Outcomes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56816"/>
            <a:ext cx="384048" cy="384048"/>
          </a:xfrm>
          <a:prstGeom prst="ellipse">
            <a:avLst/>
          </a:prstGeom>
          <a:solidFill>
            <a:srgbClr val="1B2559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94767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78992" y="1901952"/>
            <a:ext cx="10332720" cy="3200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en-US" sz="1450" b="1">
                <a:solidFill>
                  <a:srgbClr val="1B2559"/>
                </a:solidFill>
                <a:latin typeface="Calibri"/>
                <a:ea typeface="Calibri"/>
                <a:cs typeface="Calibri"/>
              </a:rPr>
              <a:t>Basic architecture and training paradigm of LLMs.</a:t>
            </a:r>
            <a:endParaRPr lang="en-US" sz="1450">
              <a:latin typeface="Calibri"/>
              <a:ea typeface="Calibri"/>
              <a:cs typeface="Calibri"/>
            </a:endParaRPr>
          </a:p>
        </p:txBody>
      </p:sp>
      <p:sp>
        <p:nvSpPr>
          <p:cNvPr id="7" name="Text 5"/>
          <p:cNvSpPr/>
          <p:nvPr/>
        </p:nvSpPr>
        <p:spPr>
          <a:xfrm>
            <a:off x="1078992" y="2249424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Tokens, embeddings and Transformer blocks.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2615184"/>
            <a:ext cx="384048" cy="384048"/>
          </a:xfrm>
          <a:prstGeom prst="ellipse">
            <a:avLst/>
          </a:prstGeom>
          <a:solidFill>
            <a:srgbClr val="1B2559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6060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78992" y="2560320"/>
            <a:ext cx="103327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B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Distinguish prompt engineering, prompt tuning, full fine-tuning and PEFT.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1078992" y="2907792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which parameters each method touches.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3273552"/>
            <a:ext cx="384048" cy="384048"/>
          </a:xfrm>
          <a:prstGeom prst="ellipse">
            <a:avLst/>
          </a:prstGeom>
          <a:solidFill>
            <a:srgbClr val="1B2559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26440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78992" y="3218688"/>
            <a:ext cx="10332720" cy="3200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B2559"/>
                </a:solidFill>
                <a:latin typeface="Calibri"/>
                <a:ea typeface="Calibri"/>
                <a:cs typeface="Calibri"/>
              </a:rPr>
              <a:t>Why </a:t>
            </a:r>
            <a:r>
              <a:rPr lang="en-US" sz="1450" b="1" dirty="0" err="1">
                <a:solidFill>
                  <a:srgbClr val="1B2559"/>
                </a:solidFill>
                <a:latin typeface="Calibri"/>
                <a:ea typeface="Calibri"/>
                <a:cs typeface="Calibri"/>
              </a:rPr>
              <a:t>LoRA</a:t>
            </a:r>
            <a:r>
              <a:rPr lang="en-US" sz="1450" b="1" dirty="0">
                <a:solidFill>
                  <a:srgbClr val="1B2559"/>
                </a:solidFill>
                <a:latin typeface="Calibri"/>
                <a:ea typeface="Calibri"/>
                <a:cs typeface="Calibri"/>
              </a:rPr>
              <a:t> and </a:t>
            </a:r>
            <a:r>
              <a:rPr lang="en-US" sz="1450" b="1" dirty="0" err="1">
                <a:solidFill>
                  <a:srgbClr val="1B2559"/>
                </a:solidFill>
                <a:latin typeface="Calibri"/>
                <a:ea typeface="Calibri"/>
                <a:cs typeface="Calibri"/>
              </a:rPr>
              <a:t>QLoRA</a:t>
            </a:r>
            <a:r>
              <a:rPr lang="en-US" sz="1450" b="1" dirty="0">
                <a:solidFill>
                  <a:srgbClr val="1B2559"/>
                </a:solidFill>
                <a:latin typeface="Calibri"/>
                <a:ea typeface="Calibri"/>
                <a:cs typeface="Calibri"/>
              </a:rPr>
              <a:t> reduce the cost of adapting LLMs.</a:t>
            </a:r>
            <a:endParaRPr lang="en-US" sz="1450" dirty="0">
              <a:latin typeface="Calibri"/>
              <a:ea typeface="Calibri"/>
              <a:cs typeface="Calibri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078992" y="356616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Low-rank matrices and quantized weights.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3931920"/>
            <a:ext cx="384048" cy="384048"/>
          </a:xfrm>
          <a:prstGeom prst="ellipse">
            <a:avLst/>
          </a:prstGeom>
          <a:solidFill>
            <a:srgbClr val="1B2559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92277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78992" y="3877056"/>
            <a:ext cx="103327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B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SFT, tokenization, loss, backpropagation and optimizer updates.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1078992" y="4224528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supervised training loop.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4590288"/>
            <a:ext cx="384048" cy="384048"/>
          </a:xfrm>
          <a:prstGeom prst="ellipse">
            <a:avLst/>
          </a:prstGeom>
          <a:solidFill>
            <a:srgbClr val="1B2559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458114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78992" y="4535424"/>
            <a:ext cx="103327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B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 training/validation behavior and select appropriate evaluation strategies.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1078992" y="4882896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 overfitting before it costs you.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5248656"/>
            <a:ext cx="384048" cy="384048"/>
          </a:xfrm>
          <a:prstGeom prst="ellipse">
            <a:avLst/>
          </a:prstGeom>
          <a:solidFill>
            <a:srgbClr val="1B2559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523951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078992" y="5193792"/>
            <a:ext cx="103327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B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fine-tuning decisions to practical deep-learning applications.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1078992" y="5541264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 theory into workshop practice.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  •  Faculty Development Program  •  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4213D"/>
                </a:solidFill>
                <a:latin typeface="Aptos"/>
              </a:defRPr>
            </a:pPr>
            <a:r>
              <a:t>Examples of Modern LLM Families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1440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F6B7A"/>
                </a:solidFill>
                <a:latin typeface="Aptos"/>
              </a:defRPr>
            </a:pPr>
            <a:r>
              <a:t>Different organizations and model families; capabilities and deployment options vary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2588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213D"/>
                </a:solidFill>
                <a:latin typeface="Aptos"/>
              </a:defRPr>
            </a:pPr>
            <a:r>
              <a:t>MODEL FAMILIES YOU MAY ENCOUNTER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874519"/>
            <a:ext cx="1645920" cy="868680"/>
          </a:xfrm>
          <a:prstGeom prst="roundRect">
            <a:avLst/>
          </a:prstGeom>
          <a:solidFill>
            <a:srgbClr val="E8EEF5"/>
          </a:solidFill>
          <a:ln w="13970">
            <a:solidFill>
              <a:srgbClr val="2F5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202733"/>
                </a:solidFill>
                <a:latin typeface="Aptos"/>
              </a:defRPr>
            </a:pPr>
            <a:r>
              <a:t>OpenAI</a:t>
            </a:r>
            <a:br/>
            <a:r>
              <a:t>GPT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88920" y="1874519"/>
            <a:ext cx="1645920" cy="868680"/>
          </a:xfrm>
          <a:prstGeom prst="roundRect">
            <a:avLst/>
          </a:prstGeom>
          <a:solidFill>
            <a:srgbClr val="E8EEF5"/>
          </a:solidFill>
          <a:ln w="13970">
            <a:solidFill>
              <a:srgbClr val="2F5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202733"/>
                </a:solidFill>
                <a:latin typeface="Aptos"/>
              </a:defRPr>
            </a:pPr>
            <a:r>
              <a:t>Anthropic</a:t>
            </a:r>
            <a:br/>
            <a:r>
              <a:t>Claude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09160" y="1874519"/>
            <a:ext cx="1645920" cy="868680"/>
          </a:xfrm>
          <a:prstGeom prst="roundRect">
            <a:avLst/>
          </a:prstGeom>
          <a:solidFill>
            <a:srgbClr val="E7F3F2"/>
          </a:solidFill>
          <a:ln w="13970">
            <a:solidFill>
              <a:srgbClr val="2A7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202733"/>
                </a:solidFill>
                <a:latin typeface="Aptos"/>
              </a:defRPr>
            </a:pPr>
            <a:r>
              <a:t>Google</a:t>
            </a:r>
            <a:br/>
            <a:r>
              <a:t>Gemini / Gemma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12280" y="1874519"/>
            <a:ext cx="1645920" cy="868680"/>
          </a:xfrm>
          <a:prstGeom prst="roundRect">
            <a:avLst/>
          </a:prstGeom>
          <a:solidFill>
            <a:srgbClr val="E7F3F2"/>
          </a:solidFill>
          <a:ln w="13970">
            <a:solidFill>
              <a:srgbClr val="2A7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202733"/>
                </a:solidFill>
                <a:latin typeface="Aptos"/>
              </a:defRPr>
            </a:pPr>
            <a:r>
              <a:t>Meta</a:t>
            </a:r>
            <a:br/>
            <a:r>
              <a:t>Llama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732520" y="1874519"/>
            <a:ext cx="1645920" cy="868680"/>
          </a:xfrm>
          <a:prstGeom prst="roundRect">
            <a:avLst/>
          </a:prstGeom>
          <a:solidFill>
            <a:srgbClr val="F8F1E0"/>
          </a:solidFill>
          <a:ln w="13970">
            <a:solidFill>
              <a:srgbClr val="C68F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202733"/>
                </a:solidFill>
                <a:latin typeface="Aptos"/>
              </a:defRPr>
            </a:pPr>
            <a:r>
              <a:t>Alibaba</a:t>
            </a:r>
            <a:br/>
            <a:r>
              <a:t>Qwen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09160" y="3063240"/>
            <a:ext cx="1645920" cy="868680"/>
          </a:xfrm>
          <a:prstGeom prst="roundRect">
            <a:avLst/>
          </a:prstGeom>
          <a:solidFill>
            <a:srgbClr val="F8F1E0"/>
          </a:solidFill>
          <a:ln w="13970">
            <a:solidFill>
              <a:srgbClr val="C68F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202733"/>
                </a:solidFill>
                <a:latin typeface="Aptos"/>
              </a:defRPr>
            </a:pPr>
            <a:r>
              <a:t>Mistral</a:t>
            </a:r>
            <a:br/>
            <a:r>
              <a:t>Mistral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2519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213D"/>
                </a:solidFill>
                <a:latin typeface="Aptos"/>
              </a:defRPr>
            </a:pPr>
            <a:r>
              <a:t>WHAT DIFFERS?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4617720"/>
            <a:ext cx="2423160" cy="47548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202733"/>
                </a:solidFill>
                <a:latin typeface="Aptos"/>
              </a:defRPr>
            </a:pPr>
            <a:r>
              <a:t>Model size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11880" y="4617720"/>
            <a:ext cx="2423160" cy="47548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202733"/>
                </a:solidFill>
                <a:latin typeface="Aptos"/>
              </a:defRPr>
            </a:pPr>
            <a:r>
              <a:t>Training data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55080" y="4617720"/>
            <a:ext cx="2423160" cy="47548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202733"/>
                </a:solidFill>
                <a:latin typeface="Aptos"/>
              </a:defRPr>
            </a:pPr>
            <a:r>
              <a:t>Architecture / variants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98280" y="4617720"/>
            <a:ext cx="2423160" cy="47548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202733"/>
                </a:solidFill>
                <a:latin typeface="Aptos"/>
              </a:defRPr>
            </a:pPr>
            <a:r>
              <a:t>Context length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8680" y="5276088"/>
            <a:ext cx="2423160" cy="47548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202733"/>
                </a:solidFill>
                <a:latin typeface="Aptos"/>
              </a:defRPr>
            </a:pPr>
            <a:r>
              <a:t>Modalities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11880" y="5276088"/>
            <a:ext cx="2423160" cy="47548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202733"/>
                </a:solidFill>
                <a:latin typeface="Aptos"/>
              </a:defRPr>
            </a:pPr>
            <a:r>
              <a:t>Licensing / access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55080" y="5276088"/>
            <a:ext cx="2423160" cy="47548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202733"/>
                </a:solidFill>
                <a:latin typeface="Aptos"/>
              </a:defRPr>
            </a:pPr>
            <a:r>
              <a:t>Deployment options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828800" y="5806440"/>
            <a:ext cx="8503920" cy="502920"/>
          </a:xfrm>
          <a:prstGeom prst="roundRect">
            <a:avLst/>
          </a:prstGeom>
          <a:solidFill>
            <a:srgbClr val="F8F1E0"/>
          </a:solidFill>
          <a:ln w="13970">
            <a:solidFill>
              <a:srgbClr val="C68F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14213D"/>
                </a:solidFill>
                <a:latin typeface="Aptos"/>
              </a:defRPr>
            </a:pPr>
            <a:r>
              <a:t>Hands-on: Qwen2.5-0.5B-Instruct — small enough for Colab, suitable for SFT + LoRA.</a:t>
            </a:r>
          </a:p>
        </p:txBody>
      </p:sp>
    </p:spTree>
    <p:extLst>
      <p:ext uri="{BB962C8B-B14F-4D97-AF65-F5344CB8AC3E}">
        <p14:creationId xmlns:p14="http://schemas.microsoft.com/office/powerpoint/2010/main" val="41236319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3B6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FOUNDATIONS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5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an LLM?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57400"/>
            <a:ext cx="457200" cy="457200"/>
          </a:xfrm>
          <a:prstGeom prst="ellipse">
            <a:avLst/>
          </a:prstGeom>
          <a:solidFill>
            <a:srgbClr val="F5F7FC"/>
          </a:solidFill>
          <a:ln w="12700">
            <a:solidFill>
              <a:srgbClr val="E3E7F1"/>
            </a:solidFill>
            <a:prstDash val="solid"/>
          </a:ln>
        </p:spPr>
      </p:sp>
      <p:pic>
        <p:nvPicPr>
          <p:cNvPr id="5" name="Image 0" descr="/home/claude/icons/cpu_3B6EF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148840"/>
            <a:ext cx="274320" cy="274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52144" y="2020824"/>
            <a:ext cx="102412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B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neural language model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1152144" y="2276856"/>
            <a:ext cx="10241280" cy="704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on large-scale text to predict and generate sequences of tokens, one step at a time.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548640" y="3017520"/>
            <a:ext cx="457200" cy="457200"/>
          </a:xfrm>
          <a:prstGeom prst="ellipse">
            <a:avLst/>
          </a:prstGeom>
          <a:solidFill>
            <a:srgbClr val="F5F7FC"/>
          </a:solidFill>
          <a:ln w="12700">
            <a:solidFill>
              <a:srgbClr val="E3E7F1"/>
            </a:solidFill>
            <a:prstDash val="solid"/>
          </a:ln>
        </p:spPr>
      </p:sp>
      <p:pic>
        <p:nvPicPr>
          <p:cNvPr id="9" name="Image 1" descr="/home/claude/icons/layers_3B6EF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108960"/>
            <a:ext cx="274320" cy="2743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52144" y="2980944"/>
            <a:ext cx="102412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B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Transformer-based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1152144" y="3236976"/>
            <a:ext cx="10241280" cy="704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LLMs are predominantly Transformer-based and use self-attention to model contextual relationships between tokens.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548640" y="3977640"/>
            <a:ext cx="457200" cy="457200"/>
          </a:xfrm>
          <a:prstGeom prst="ellipse">
            <a:avLst/>
          </a:prstGeom>
          <a:solidFill>
            <a:srgbClr val="F5F7FC"/>
          </a:solidFill>
          <a:ln w="12700">
            <a:solidFill>
              <a:srgbClr val="E3E7F1"/>
            </a:solidFill>
            <a:prstDash val="solid"/>
          </a:ln>
        </p:spPr>
      </p:sp>
      <p:pic>
        <p:nvPicPr>
          <p:cNvPr id="13" name="Image 2" descr="/home/claude/icons/book-open_3B6EF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4069080"/>
            <a:ext cx="274320" cy="2743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152144" y="3941064"/>
            <a:ext cx="102412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B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 pretraining, narrow adaptation</a:t>
            </a:r>
            <a:endParaRPr lang="en-US" sz="1350" dirty="0"/>
          </a:p>
        </p:txBody>
      </p:sp>
      <p:sp>
        <p:nvSpPr>
          <p:cNvPr id="15" name="Text 10"/>
          <p:cNvSpPr/>
          <p:nvPr/>
        </p:nvSpPr>
        <p:spPr>
          <a:xfrm>
            <a:off x="1152144" y="4197096"/>
            <a:ext cx="10241280" cy="704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Pretraining creates broad language and representation capabilities; downstream adaptation specializes behavior for a task.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548640" y="4937760"/>
            <a:ext cx="457200" cy="457200"/>
          </a:xfrm>
          <a:prstGeom prst="ellipse">
            <a:avLst/>
          </a:prstGeom>
          <a:solidFill>
            <a:srgbClr val="F5F7FC"/>
          </a:solidFill>
          <a:ln w="12700">
            <a:solidFill>
              <a:srgbClr val="E3E7F1"/>
            </a:solidFill>
            <a:prstDash val="solid"/>
          </a:ln>
        </p:spPr>
      </p:sp>
      <p:pic>
        <p:nvPicPr>
          <p:cNvPr id="17" name="Image 3" descr="/home/claude/icons/refresh-cw_3B6EF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5029200"/>
            <a:ext cx="274320" cy="27432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152144" y="4901184"/>
            <a:ext cx="102412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B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Autoregressive generation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1152144" y="5157216"/>
            <a:ext cx="10241280" cy="704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generate text autoregressively — repeatedly predicting the next token conditioned on everything generated so far.</a:t>
            </a:r>
            <a:endParaRPr lang="en-US" sz="1150" dirty="0"/>
          </a:p>
        </p:txBody>
      </p:sp>
      <p:sp>
        <p:nvSpPr>
          <p:cNvPr id="20" name="Text 1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  •  Faculty Development Program  •  4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3B6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FOUNDATIONS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5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Text to Tokens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457200" cy="457200"/>
          </a:xfrm>
          <a:prstGeom prst="ellipse">
            <a:avLst/>
          </a:prstGeom>
          <a:solidFill>
            <a:srgbClr val="F5F7FC"/>
          </a:solidFill>
          <a:ln w="12700">
            <a:solidFill>
              <a:srgbClr val="E3E7F1"/>
            </a:solidFill>
            <a:prstDash val="solid"/>
          </a:ln>
        </p:spPr>
      </p:sp>
      <p:pic>
        <p:nvPicPr>
          <p:cNvPr id="5" name="Image 0" descr="/home/claude/icons/hash_3B6EF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783080"/>
            <a:ext cx="274320" cy="274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52144" y="1655064"/>
            <a:ext cx="102412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B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Tokenization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1152144" y="1911096"/>
            <a:ext cx="1024128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is converted into tokens using a tokenizer; each token is mapped to a unique integer ID from the model's vocabulary.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548640" y="2606040"/>
            <a:ext cx="457200" cy="457200"/>
          </a:xfrm>
          <a:prstGeom prst="ellipse">
            <a:avLst/>
          </a:prstGeom>
          <a:solidFill>
            <a:srgbClr val="F5F7FC"/>
          </a:solidFill>
          <a:ln w="12700">
            <a:solidFill>
              <a:srgbClr val="E3E7F1"/>
            </a:solidFill>
            <a:prstDash val="solid"/>
          </a:ln>
        </p:spPr>
      </p:sp>
      <p:pic>
        <p:nvPicPr>
          <p:cNvPr id="9" name="Image 1" descr="/home/claude/icons/filter_3B6EF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2697480"/>
            <a:ext cx="274320" cy="2743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52144" y="2569464"/>
            <a:ext cx="102412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B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Sub-word units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1152144" y="2825496"/>
            <a:ext cx="1024128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 may represent whole words, sub-words or punctuation — not necessarily complete words.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548640" y="3520440"/>
            <a:ext cx="457200" cy="457200"/>
          </a:xfrm>
          <a:prstGeom prst="ellipse">
            <a:avLst/>
          </a:prstGeom>
          <a:solidFill>
            <a:srgbClr val="F5F7FC"/>
          </a:solidFill>
          <a:ln w="12700">
            <a:solidFill>
              <a:srgbClr val="E3E7F1"/>
            </a:solidFill>
            <a:prstDash val="solid"/>
          </a:ln>
        </p:spPr>
      </p:sp>
      <p:pic>
        <p:nvPicPr>
          <p:cNvPr id="13" name="Image 2" descr="/home/claude/icons/grid_3B6EF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3611880"/>
            <a:ext cx="274320" cy="2743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152144" y="3483864"/>
            <a:ext cx="102412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B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</a:t>
            </a:r>
            <a:endParaRPr lang="en-US" sz="1350" dirty="0"/>
          </a:p>
        </p:txBody>
      </p:sp>
      <p:sp>
        <p:nvSpPr>
          <p:cNvPr id="15" name="Text 10"/>
          <p:cNvSpPr/>
          <p:nvPr/>
        </p:nvSpPr>
        <p:spPr>
          <a:xfrm>
            <a:off x="1152144" y="3739896"/>
            <a:ext cx="1024128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IDs are transformed into dense vector embeddings before entering the Transformer stack.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548640" y="4434840"/>
            <a:ext cx="457200" cy="457200"/>
          </a:xfrm>
          <a:prstGeom prst="ellipse">
            <a:avLst/>
          </a:prstGeom>
          <a:solidFill>
            <a:srgbClr val="F5F7FC"/>
          </a:solidFill>
          <a:ln w="12700">
            <a:solidFill>
              <a:srgbClr val="E3E7F1"/>
            </a:solidFill>
            <a:prstDash val="solid"/>
          </a:ln>
        </p:spPr>
      </p:sp>
      <p:pic>
        <p:nvPicPr>
          <p:cNvPr id="17" name="Image 3" descr="/home/claude/icons/sliders_3B6EF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4526280"/>
            <a:ext cx="274320" cy="27432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152144" y="4398264"/>
            <a:ext cx="102412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B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 length matters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1152144" y="4654296"/>
            <a:ext cx="1024128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Longer sequences directly increase memory and compute requirements during training and inference.</a:t>
            </a:r>
            <a:endParaRPr lang="en-US" sz="1150" dirty="0"/>
          </a:p>
        </p:txBody>
      </p:sp>
      <p:sp>
        <p:nvSpPr>
          <p:cNvPr id="20" name="Shape 14"/>
          <p:cNvSpPr/>
          <p:nvPr/>
        </p:nvSpPr>
        <p:spPr>
          <a:xfrm>
            <a:off x="548640" y="5349240"/>
            <a:ext cx="457200" cy="457200"/>
          </a:xfrm>
          <a:prstGeom prst="ellipse">
            <a:avLst/>
          </a:prstGeom>
          <a:solidFill>
            <a:srgbClr val="F5F7FC"/>
          </a:solidFill>
          <a:ln w="12700">
            <a:solidFill>
              <a:srgbClr val="E3E7F1"/>
            </a:solidFill>
            <a:prstDash val="solid"/>
          </a:ln>
        </p:spPr>
      </p:sp>
      <p:pic>
        <p:nvPicPr>
          <p:cNvPr id="21" name="Image 4" descr="/home/claude/icons/settings_3B6EF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80" y="5440680"/>
            <a:ext cx="274320" cy="27432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152144" y="5312664"/>
            <a:ext cx="102412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B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 tokens</a:t>
            </a:r>
            <a:endParaRPr lang="en-US" sz="1350" dirty="0"/>
          </a:p>
        </p:txBody>
      </p:sp>
      <p:sp>
        <p:nvSpPr>
          <p:cNvPr id="23" name="Text 16"/>
          <p:cNvSpPr/>
          <p:nvPr/>
        </p:nvSpPr>
        <p:spPr>
          <a:xfrm>
            <a:off x="1152144" y="5568696"/>
            <a:ext cx="1024128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 tokens and model-specific formatting (e.g. chat markers) matter for instruction-tuned models.</a:t>
            </a:r>
            <a:endParaRPr lang="en-US" sz="1150" dirty="0"/>
          </a:p>
        </p:txBody>
      </p:sp>
      <p:sp>
        <p:nvSpPr>
          <p:cNvPr id="24" name="Text 1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  •  Faculty Development Program  •  5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4213D"/>
                </a:solidFill>
                <a:latin typeface="Aptos Display"/>
              </a:defRPr>
            </a:pPr>
            <a:r>
              <a:t>What Does an LLM Actually See?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5156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F6B7A"/>
                </a:solidFill>
              </a:defRPr>
            </a:pPr>
            <a:r>
              <a:t>One sentence → tokens → token IDs → embedding vectors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91640"/>
            <a:ext cx="10835640" cy="62179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/>
          <a:lstStyle/>
          <a:p>
            <a:pPr algn="ctr">
              <a:defRPr sz="2000" b="1">
                <a:solidFill>
                  <a:srgbClr val="202733"/>
                </a:solidFill>
                <a:latin typeface="Aptos"/>
              </a:defRPr>
            </a:pPr>
            <a:r>
              <a:t>"What is </a:t>
            </a:r>
            <a:r>
              <a:rPr lang="en-GB"/>
              <a:t>machine learning</a:t>
            </a:r>
            <a:r>
              <a:rPr dirty="0"/>
              <a:t>?"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080760" y="2313432"/>
            <a:ext cx="0" cy="356616"/>
          </a:xfrm>
          <a:prstGeom prst="line">
            <a:avLst/>
          </a:prstGeom>
          <a:ln w="25400">
            <a:solidFill>
              <a:srgbClr val="2F5D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4800600" y="2697480"/>
            <a:ext cx="2560320" cy="502920"/>
          </a:xfrm>
          <a:prstGeom prst="roundRect">
            <a:avLst/>
          </a:prstGeom>
          <a:solidFill>
            <a:srgbClr val="F8F1E0"/>
          </a:solidFill>
          <a:ln w="15240">
            <a:solidFill>
              <a:srgbClr val="C68F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202733"/>
                </a:solidFill>
                <a:latin typeface="Aptos"/>
              </a:defRPr>
            </a:pPr>
            <a:r>
              <a:t>TOKENIZER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080760" y="3200400"/>
            <a:ext cx="0" cy="301752"/>
          </a:xfrm>
          <a:prstGeom prst="line">
            <a:avLst/>
          </a:prstGeom>
          <a:ln w="25400">
            <a:solidFill>
              <a:srgbClr val="2F5D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914400" y="3520440"/>
            <a:ext cx="1508760" cy="566928"/>
          </a:xfrm>
          <a:prstGeom prst="roundRect">
            <a:avLst/>
          </a:prstGeom>
          <a:solidFill>
            <a:srgbClr val="E8EEF5"/>
          </a:solidFill>
          <a:ln w="15240">
            <a:solidFill>
              <a:srgbClr val="2F5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202733"/>
                </a:solidFill>
                <a:latin typeface="Aptos"/>
              </a:defRPr>
            </a:pPr>
            <a:r>
              <a:t>What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063240" y="3520440"/>
            <a:ext cx="1508760" cy="566928"/>
          </a:xfrm>
          <a:prstGeom prst="roundRect">
            <a:avLst/>
          </a:prstGeom>
          <a:solidFill>
            <a:srgbClr val="E8EEF5"/>
          </a:solidFill>
          <a:ln w="15240">
            <a:solidFill>
              <a:srgbClr val="2F5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202733"/>
                </a:solidFill>
                <a:latin typeface="Aptos"/>
              </a:defRPr>
            </a:pPr>
            <a:r>
              <a:t> is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212080" y="3520440"/>
            <a:ext cx="1508760" cy="566928"/>
          </a:xfrm>
          <a:prstGeom prst="roundRect">
            <a:avLst/>
          </a:prstGeom>
          <a:solidFill>
            <a:srgbClr val="E8EEF5"/>
          </a:solidFill>
          <a:ln w="15240">
            <a:solidFill>
              <a:srgbClr val="2F5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/>
          <a:lstStyle/>
          <a:p>
            <a:pPr algn="ctr">
              <a:defRPr sz="1400" b="1">
                <a:solidFill>
                  <a:srgbClr val="202733"/>
                </a:solidFill>
                <a:latin typeface="Aptos"/>
              </a:defRPr>
            </a:pPr>
            <a:r>
              <a:rPr lang="en-US"/>
              <a:t>machine</a:t>
            </a:r>
            <a:endParaRPr lang="en-US" dirty="0"/>
          </a:p>
        </p:txBody>
      </p:sp>
      <p:sp>
        <p:nvSpPr>
          <p:cNvPr id="12" name="Rounded Rectangle 11"/>
          <p:cNvSpPr/>
          <p:nvPr/>
        </p:nvSpPr>
        <p:spPr>
          <a:xfrm>
            <a:off x="7360920" y="3520440"/>
            <a:ext cx="1508760" cy="566928"/>
          </a:xfrm>
          <a:prstGeom prst="roundRect">
            <a:avLst/>
          </a:prstGeom>
          <a:solidFill>
            <a:srgbClr val="E8EEF5"/>
          </a:solidFill>
          <a:ln w="15240">
            <a:solidFill>
              <a:srgbClr val="2F5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/>
          <a:lstStyle/>
          <a:p>
            <a:pPr algn="ctr">
              <a:defRPr sz="1400" b="1">
                <a:solidFill>
                  <a:srgbClr val="202733"/>
                </a:solidFill>
                <a:latin typeface="Aptos"/>
              </a:defRPr>
            </a:pPr>
            <a:r>
              <a:rPr lang="en-GB"/>
              <a:t>learning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46920" y="3520440"/>
            <a:ext cx="1508760" cy="566928"/>
          </a:xfrm>
          <a:prstGeom prst="roundRect">
            <a:avLst/>
          </a:prstGeom>
          <a:solidFill>
            <a:srgbClr val="E8EEF5"/>
          </a:solidFill>
          <a:ln w="15240">
            <a:solidFill>
              <a:srgbClr val="2F5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202733"/>
                </a:solidFill>
                <a:latin typeface="Aptos"/>
              </a:defRPr>
            </a:pPr>
            <a:r>
              <a:t>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160520"/>
            <a:ext cx="10881360" cy="274320"/>
          </a:xfrm>
          <a:prstGeom prst="roundRect">
            <a:avLst/>
          </a:prstGeom>
          <a:solidFill>
            <a:srgbClr val="E7F3F2"/>
          </a:solidFill>
          <a:ln w="15240">
            <a:solidFill>
              <a:srgbClr val="2A7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202733"/>
                </a:solidFill>
                <a:latin typeface="Aptos"/>
              </a:defRPr>
            </a:pPr>
            <a:r>
              <a:t>TOKEN ID  —  integer index into the vocabulary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4480560"/>
            <a:ext cx="1508760" cy="530352"/>
          </a:xfrm>
          <a:prstGeom prst="roundRect">
            <a:avLst/>
          </a:prstGeom>
          <a:solidFill>
            <a:srgbClr val="E7F3F2"/>
          </a:solidFill>
          <a:ln w="15240">
            <a:solidFill>
              <a:srgbClr val="2A7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202733"/>
                </a:solidFill>
                <a:latin typeface="Aptos"/>
              </a:defRPr>
            </a:pPr>
            <a:r>
              <a:t>3838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063240" y="4480560"/>
            <a:ext cx="1508760" cy="530352"/>
          </a:xfrm>
          <a:prstGeom prst="roundRect">
            <a:avLst/>
          </a:prstGeom>
          <a:solidFill>
            <a:srgbClr val="E7F3F2"/>
          </a:solidFill>
          <a:ln w="15240">
            <a:solidFill>
              <a:srgbClr val="2A7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202733"/>
                </a:solidFill>
                <a:latin typeface="Aptos"/>
              </a:defRPr>
            </a:pPr>
            <a:r>
              <a:t>374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212080" y="4480560"/>
            <a:ext cx="1508760" cy="530352"/>
          </a:xfrm>
          <a:prstGeom prst="roundRect">
            <a:avLst/>
          </a:prstGeom>
          <a:solidFill>
            <a:srgbClr val="E7F3F2"/>
          </a:solidFill>
          <a:ln w="15240">
            <a:solidFill>
              <a:srgbClr val="2A7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202733"/>
                </a:solidFill>
                <a:latin typeface="Aptos"/>
              </a:defRPr>
            </a:pPr>
            <a:r>
              <a:t>1203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60920" y="4480560"/>
            <a:ext cx="1508760" cy="530352"/>
          </a:xfrm>
          <a:prstGeom prst="roundRect">
            <a:avLst/>
          </a:prstGeom>
          <a:solidFill>
            <a:srgbClr val="E7F3F2"/>
          </a:solidFill>
          <a:ln w="15240">
            <a:solidFill>
              <a:srgbClr val="2A7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202733"/>
                </a:solidFill>
                <a:latin typeface="Aptos"/>
              </a:defRPr>
            </a:pPr>
            <a:r>
              <a:t>7342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646920" y="4480560"/>
            <a:ext cx="1508760" cy="530352"/>
          </a:xfrm>
          <a:prstGeom prst="roundRect">
            <a:avLst/>
          </a:prstGeom>
          <a:solidFill>
            <a:srgbClr val="E7F3F2"/>
          </a:solidFill>
          <a:ln w="15240">
            <a:solidFill>
              <a:srgbClr val="2A7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202733"/>
                </a:solidFill>
                <a:latin typeface="Aptos"/>
              </a:defRPr>
            </a:pPr>
            <a:r>
              <a:t>30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5102352"/>
            <a:ext cx="10881360" cy="274320"/>
          </a:xfrm>
          <a:prstGeom prst="roundRect">
            <a:avLst/>
          </a:prstGeom>
          <a:solidFill>
            <a:srgbClr val="F8F1E0"/>
          </a:solidFill>
          <a:ln w="15240">
            <a:solidFill>
              <a:srgbClr val="C68F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202733"/>
                </a:solidFill>
                <a:latin typeface="Aptos"/>
              </a:defRPr>
            </a:pPr>
            <a:r>
              <a:t>EMBEDDING  —  learned dense vector representation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" y="5422392"/>
            <a:ext cx="1508760" cy="566928"/>
          </a:xfrm>
          <a:prstGeom prst="roundRect">
            <a:avLst/>
          </a:prstGeom>
          <a:solidFill>
            <a:srgbClr val="F8F1E0"/>
          </a:solidFill>
          <a:ln w="15240">
            <a:solidFill>
              <a:srgbClr val="C68F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0">
                <a:solidFill>
                  <a:srgbClr val="202733"/>
                </a:solidFill>
                <a:latin typeface="Aptos"/>
              </a:defRPr>
            </a:pPr>
            <a:r>
              <a:t>[ 0.21, −0.47, 0.83, … ]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063240" y="5422392"/>
            <a:ext cx="1508760" cy="566928"/>
          </a:xfrm>
          <a:prstGeom prst="roundRect">
            <a:avLst/>
          </a:prstGeom>
          <a:solidFill>
            <a:srgbClr val="F8F1E0"/>
          </a:solidFill>
          <a:ln w="15240">
            <a:solidFill>
              <a:srgbClr val="C68F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0">
                <a:solidFill>
                  <a:srgbClr val="202733"/>
                </a:solidFill>
                <a:latin typeface="Aptos"/>
              </a:defRPr>
            </a:pPr>
            <a:r>
              <a:t>[ −0.08, 0.31, 0.14, … ]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212080" y="5422392"/>
            <a:ext cx="1508760" cy="566928"/>
          </a:xfrm>
          <a:prstGeom prst="roundRect">
            <a:avLst/>
          </a:prstGeom>
          <a:solidFill>
            <a:srgbClr val="F8F1E0"/>
          </a:solidFill>
          <a:ln w="15240">
            <a:solidFill>
              <a:srgbClr val="C68F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0">
                <a:solidFill>
                  <a:srgbClr val="202733"/>
                </a:solidFill>
                <a:latin typeface="Aptos"/>
              </a:defRPr>
            </a:pPr>
            <a:r>
              <a:t>[ 0.52, −0.12, 0.77, … ]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60920" y="5422392"/>
            <a:ext cx="1508760" cy="566928"/>
          </a:xfrm>
          <a:prstGeom prst="roundRect">
            <a:avLst/>
          </a:prstGeom>
          <a:solidFill>
            <a:srgbClr val="F8F1E0"/>
          </a:solidFill>
          <a:ln w="15240">
            <a:solidFill>
              <a:srgbClr val="C68F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0">
                <a:solidFill>
                  <a:srgbClr val="202733"/>
                </a:solidFill>
                <a:latin typeface="Aptos"/>
              </a:defRPr>
            </a:pPr>
            <a:r>
              <a:t>[ 0.09, 0.64, −0.28, … ]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646920" y="5422392"/>
            <a:ext cx="1508760" cy="566928"/>
          </a:xfrm>
          <a:prstGeom prst="roundRect">
            <a:avLst/>
          </a:prstGeom>
          <a:solidFill>
            <a:srgbClr val="F8F1E0"/>
          </a:solidFill>
          <a:ln w="15240">
            <a:solidFill>
              <a:srgbClr val="C68F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0">
                <a:solidFill>
                  <a:srgbClr val="202733"/>
                </a:solidFill>
                <a:latin typeface="Aptos"/>
              </a:defRPr>
            </a:pPr>
            <a:r>
              <a:t>[ −0.17, 0.22, 0.41, … ]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080760" y="4087368"/>
            <a:ext cx="0" cy="73152"/>
          </a:xfrm>
          <a:prstGeom prst="line">
            <a:avLst/>
          </a:prstGeom>
          <a:ln w="25400">
            <a:solidFill>
              <a:srgbClr val="2F5D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6080760" y="5010912"/>
            <a:ext cx="0" cy="91440"/>
          </a:xfrm>
          <a:prstGeom prst="line">
            <a:avLst/>
          </a:prstGeom>
          <a:ln w="25400">
            <a:solidFill>
              <a:srgbClr val="2F5D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731520" y="614476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2F5D8C"/>
                </a:solidFill>
              </a:defRPr>
            </a:pPr>
            <a:r>
              <a:t>KEY DISTINCTION   •   Token ID = index   •   Embedding = learned numerical vector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75520" y="347472"/>
            <a:ext cx="1554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i="1">
                <a:solidFill>
                  <a:srgbClr val="5F6B7A"/>
                </a:solidFill>
              </a:defRPr>
            </a:pPr>
            <a:r>
              <a:t>Illustrative values</a:t>
            </a:r>
          </a:p>
        </p:txBody>
      </p:sp>
    </p:spTree>
    <p:extLst>
      <p:ext uri="{BB962C8B-B14F-4D97-AF65-F5344CB8AC3E}">
        <p14:creationId xmlns:p14="http://schemas.microsoft.com/office/powerpoint/2010/main" val="39459176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3B6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FOUNDATIONS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5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Transformer: High-Level View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761488"/>
            <a:ext cx="2526030" cy="960120"/>
          </a:xfrm>
          <a:prstGeom prst="roundRect">
            <a:avLst>
              <a:gd name="adj" fmla="val 8571"/>
            </a:avLst>
          </a:prstGeom>
          <a:solidFill>
            <a:srgbClr val="F5F7FC"/>
          </a:solidFill>
          <a:ln w="12700">
            <a:solidFill>
              <a:srgbClr val="E3E7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2852928"/>
            <a:ext cx="230657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B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Tokens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58368" y="3337560"/>
            <a:ext cx="2306574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→ IDs</a:t>
            </a:r>
            <a:endParaRPr lang="en-US" sz="950" dirty="0"/>
          </a:p>
        </p:txBody>
      </p:sp>
      <p:pic>
        <p:nvPicPr>
          <p:cNvPr id="7" name="Image 0" descr="/home/claude/icons/arrow-right_3B6EF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2102" y="3122676"/>
            <a:ext cx="256032" cy="23774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3394710" y="2761488"/>
            <a:ext cx="2526030" cy="960120"/>
          </a:xfrm>
          <a:prstGeom prst="roundRect">
            <a:avLst>
              <a:gd name="adj" fmla="val 8571"/>
            </a:avLst>
          </a:prstGeom>
          <a:solidFill>
            <a:srgbClr val="F5F7FC"/>
          </a:solidFill>
          <a:ln w="12700">
            <a:solidFill>
              <a:srgbClr val="E3E7F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504438" y="2852928"/>
            <a:ext cx="230657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B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3504438" y="3337560"/>
            <a:ext cx="2306574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Positional Info</a:t>
            </a:r>
            <a:endParaRPr lang="en-US" sz="950" dirty="0"/>
          </a:p>
        </p:txBody>
      </p:sp>
      <p:pic>
        <p:nvPicPr>
          <p:cNvPr id="11" name="Image 1" descr="/home/claude/icons/arrow-right_3B6EF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8172" y="3122676"/>
            <a:ext cx="256032" cy="237744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6240780" y="2761488"/>
            <a:ext cx="2526030" cy="960120"/>
          </a:xfrm>
          <a:prstGeom prst="roundRect">
            <a:avLst>
              <a:gd name="adj" fmla="val 8571"/>
            </a:avLst>
          </a:prstGeom>
          <a:solidFill>
            <a:srgbClr val="1B2559"/>
          </a:solidFill>
          <a:ln w="12700">
            <a:solidFill>
              <a:srgbClr val="1B2559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6350508" y="2852928"/>
            <a:ext cx="230657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 Blocks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6350508" y="3337560"/>
            <a:ext cx="2306574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Repeated ×N</a:t>
            </a:r>
            <a:endParaRPr lang="en-US" sz="950" dirty="0"/>
          </a:p>
        </p:txBody>
      </p:sp>
      <p:pic>
        <p:nvPicPr>
          <p:cNvPr id="15" name="Image 2" descr="/home/claude/icons/arrow-right_3B6EF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94242" y="3122676"/>
            <a:ext cx="256032" cy="237744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9086850" y="2761488"/>
            <a:ext cx="2526030" cy="960120"/>
          </a:xfrm>
          <a:prstGeom prst="roundRect">
            <a:avLst>
              <a:gd name="adj" fmla="val 8571"/>
            </a:avLst>
          </a:prstGeom>
          <a:solidFill>
            <a:srgbClr val="F5F7FC"/>
          </a:solidFill>
          <a:ln w="12700">
            <a:solidFill>
              <a:srgbClr val="E3E7F1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9196578" y="2852928"/>
            <a:ext cx="230657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B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Logits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9196578" y="3337560"/>
            <a:ext cx="2306574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Next-token scores</a:t>
            </a:r>
            <a:endParaRPr lang="en-US" sz="950" dirty="0"/>
          </a:p>
        </p:txBody>
      </p:sp>
      <p:sp>
        <p:nvSpPr>
          <p:cNvPr id="19" name="Shape 14"/>
          <p:cNvSpPr/>
          <p:nvPr/>
        </p:nvSpPr>
        <p:spPr>
          <a:xfrm>
            <a:off x="548640" y="4178808"/>
            <a:ext cx="109728" cy="109728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20" name="Text 15"/>
          <p:cNvSpPr/>
          <p:nvPr/>
        </p:nvSpPr>
        <p:spPr>
          <a:xfrm>
            <a:off x="804672" y="406908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block combines self-attention and a feed-forward network with residual connections and normalization.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548640" y="4562856"/>
            <a:ext cx="109728" cy="109728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22" name="Text 17"/>
          <p:cNvSpPr/>
          <p:nvPr/>
        </p:nvSpPr>
        <p:spPr>
          <a:xfrm>
            <a:off x="804672" y="4453128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Self-attention lets every token pull information from other relevant tokens in its context.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548640" y="4946904"/>
            <a:ext cx="109728" cy="109728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24" name="Text 19"/>
          <p:cNvSpPr/>
          <p:nvPr/>
        </p:nvSpPr>
        <p:spPr>
          <a:xfrm>
            <a:off x="804672" y="4837176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final vocabulary logits are converted into probabilities for next-token prediction.</a:t>
            </a:r>
            <a:endParaRPr lang="en-US" sz="1200" dirty="0"/>
          </a:p>
        </p:txBody>
      </p:sp>
      <p:sp>
        <p:nvSpPr>
          <p:cNvPr id="25" name="Text 2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  •  Faculty Development Program  •  6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3B6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FOUNDATIONS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5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Self-Attention: Core Idea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64240" cy="658368"/>
          </a:xfrm>
          <a:prstGeom prst="roundRect">
            <a:avLst>
              <a:gd name="adj" fmla="val 11111"/>
            </a:avLst>
          </a:prstGeom>
          <a:solidFill>
            <a:srgbClr val="1B2559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554480"/>
            <a:ext cx="10515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Attention(Q, K, V) = softmax( QKᵀ / √dₖ ) V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514600"/>
            <a:ext cx="457200" cy="457200"/>
          </a:xfrm>
          <a:prstGeom prst="ellipse">
            <a:avLst/>
          </a:prstGeom>
          <a:solidFill>
            <a:srgbClr val="F5F7FC"/>
          </a:solidFill>
          <a:ln w="12700">
            <a:solidFill>
              <a:srgbClr val="E3E7F1"/>
            </a:solidFill>
            <a:prstDash val="solid"/>
          </a:ln>
        </p:spPr>
      </p:sp>
      <p:pic>
        <p:nvPicPr>
          <p:cNvPr id="7" name="Image 0" descr="/home/claude/icons/search_3B6EF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606040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52144" y="2478024"/>
            <a:ext cx="47091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B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Query, Key, Value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1152144" y="2734056"/>
            <a:ext cx="4709160" cy="932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token produces Query (Q), Key (K) and Value (V) representations via learned projections.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548640" y="3703320"/>
            <a:ext cx="457200" cy="457200"/>
          </a:xfrm>
          <a:prstGeom prst="ellipse">
            <a:avLst/>
          </a:prstGeom>
          <a:solidFill>
            <a:srgbClr val="F5F7FC"/>
          </a:solidFill>
          <a:ln w="12700">
            <a:solidFill>
              <a:srgbClr val="E3E7F1"/>
            </a:solidFill>
            <a:prstDash val="solid"/>
          </a:ln>
        </p:spPr>
      </p:sp>
      <p:pic>
        <p:nvPicPr>
          <p:cNvPr id="11" name="Image 1" descr="/home/claude/icons/target_3B6EF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794760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152144" y="3666744"/>
            <a:ext cx="47091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B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scores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1152144" y="3922776"/>
            <a:ext cx="4709160" cy="932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estimate how strongly tokens should attend to one another based on Q–K similarity.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48640" y="4892040"/>
            <a:ext cx="457200" cy="457200"/>
          </a:xfrm>
          <a:prstGeom prst="ellipse">
            <a:avLst/>
          </a:prstGeom>
          <a:solidFill>
            <a:srgbClr val="F5F7FC"/>
          </a:solidFill>
          <a:ln w="12700">
            <a:solidFill>
              <a:srgbClr val="E3E7F1"/>
            </a:solidFill>
            <a:prstDash val="solid"/>
          </a:ln>
        </p:spPr>
      </p:sp>
      <p:pic>
        <p:nvPicPr>
          <p:cNvPr id="15" name="Image 2" descr="/home/claude/icons/divide_3B6EF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4983480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152144" y="4855464"/>
            <a:ext cx="47091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B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Scaled dot-product</a:t>
            </a:r>
            <a:endParaRPr lang="en-US" sz="1350" dirty="0"/>
          </a:p>
        </p:txBody>
      </p:sp>
      <p:sp>
        <p:nvSpPr>
          <p:cNvPr id="17" name="Text 12"/>
          <p:cNvSpPr/>
          <p:nvPr/>
        </p:nvSpPr>
        <p:spPr>
          <a:xfrm>
            <a:off x="1152144" y="5111496"/>
            <a:ext cx="4709160" cy="932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are scaled by √dₖ for stability, then softmax-normalized into attention weights.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6263640" y="2514600"/>
            <a:ext cx="457200" cy="457200"/>
          </a:xfrm>
          <a:prstGeom prst="ellipse">
            <a:avLst/>
          </a:prstGeom>
          <a:solidFill>
            <a:srgbClr val="F5F7FC"/>
          </a:solidFill>
          <a:ln w="12700">
            <a:solidFill>
              <a:srgbClr val="E3E7F1"/>
            </a:solidFill>
            <a:prstDash val="solid"/>
          </a:ln>
        </p:spPr>
      </p:sp>
      <p:pic>
        <p:nvPicPr>
          <p:cNvPr id="19" name="Image 3" descr="/home/claude/icons/layers_1B2559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5080" y="2606040"/>
            <a:ext cx="274320" cy="27432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867144" y="2478024"/>
            <a:ext cx="47091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B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Multi-head attention</a:t>
            </a:r>
            <a:endParaRPr lang="en-US" sz="1350" dirty="0"/>
          </a:p>
        </p:txBody>
      </p:sp>
      <p:sp>
        <p:nvSpPr>
          <p:cNvPr id="21" name="Text 15"/>
          <p:cNvSpPr/>
          <p:nvPr/>
        </p:nvSpPr>
        <p:spPr>
          <a:xfrm>
            <a:off x="6867144" y="2734056"/>
            <a:ext cx="4709160" cy="932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attention heads learn different relational patterns in parallel, then are combined.</a:t>
            </a:r>
            <a:endParaRPr lang="en-US" sz="1150" dirty="0"/>
          </a:p>
        </p:txBody>
      </p:sp>
      <p:sp>
        <p:nvSpPr>
          <p:cNvPr id="22" name="Shape 16"/>
          <p:cNvSpPr/>
          <p:nvPr/>
        </p:nvSpPr>
        <p:spPr>
          <a:xfrm>
            <a:off x="6263640" y="3703320"/>
            <a:ext cx="457200" cy="457200"/>
          </a:xfrm>
          <a:prstGeom prst="ellipse">
            <a:avLst/>
          </a:prstGeom>
          <a:solidFill>
            <a:srgbClr val="F5F7FC"/>
          </a:solidFill>
          <a:ln w="12700">
            <a:solidFill>
              <a:srgbClr val="E3E7F1"/>
            </a:solidFill>
            <a:prstDash val="solid"/>
          </a:ln>
        </p:spPr>
      </p:sp>
      <p:pic>
        <p:nvPicPr>
          <p:cNvPr id="23" name="Image 4" descr="/home/claude/icons/lock_1B2559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55080" y="3794760"/>
            <a:ext cx="274320" cy="27432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6867144" y="3666744"/>
            <a:ext cx="47091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B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Causal masking</a:t>
            </a:r>
            <a:endParaRPr lang="en-US" sz="1350" dirty="0"/>
          </a:p>
        </p:txBody>
      </p:sp>
      <p:sp>
        <p:nvSpPr>
          <p:cNvPr id="25" name="Text 18"/>
          <p:cNvSpPr/>
          <p:nvPr/>
        </p:nvSpPr>
        <p:spPr>
          <a:xfrm>
            <a:off x="6867144" y="3922776"/>
            <a:ext cx="4709160" cy="932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Masking prevents a decoder-only LLM from using future tokens while generating text.</a:t>
            </a:r>
            <a:endParaRPr lang="en-US" sz="1150" dirty="0"/>
          </a:p>
        </p:txBody>
      </p:sp>
      <p:sp>
        <p:nvSpPr>
          <p:cNvPr id="26" name="Text 19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  •  Faculty Development Program  •  7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4213D"/>
                </a:solidFill>
                <a:latin typeface="Aptos"/>
              </a:defRPr>
            </a:pPr>
            <a:r>
              <a:t>Self-Attention — Visual Walkthrough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1440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F6B7A"/>
                </a:solidFill>
                <a:latin typeface="Aptos"/>
              </a:defRPr>
            </a:pPr>
            <a:r>
              <a:t>Storyboard for an animation/GIF: how one token gathers context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4213D"/>
                </a:solidFill>
                <a:latin typeface="Aptos"/>
              </a:defRPr>
            </a:pPr>
            <a:r>
              <a:t>"The animal crossed the road because it was tired."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148840"/>
            <a:ext cx="960120" cy="5029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202733"/>
                </a:solidFill>
                <a:latin typeface="Aptos"/>
              </a:defRPr>
            </a:pPr>
            <a:r>
              <a:t>The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28800" y="2148840"/>
            <a:ext cx="960120" cy="5029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202733"/>
                </a:solidFill>
                <a:latin typeface="Aptos"/>
              </a:defRPr>
            </a:pPr>
            <a:r>
              <a:t>animal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154680" y="2148840"/>
            <a:ext cx="960120" cy="5029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202733"/>
                </a:solidFill>
                <a:latin typeface="Aptos"/>
              </a:defRPr>
            </a:pPr>
            <a:r>
              <a:t>crossed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2148840"/>
            <a:ext cx="960120" cy="5029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202733"/>
                </a:solidFill>
                <a:latin typeface="Aptos"/>
              </a:defRPr>
            </a:pPr>
            <a:r>
              <a:t>the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03520" y="2148840"/>
            <a:ext cx="960120" cy="5029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202733"/>
                </a:solidFill>
                <a:latin typeface="Aptos"/>
              </a:defRPr>
            </a:pPr>
            <a:r>
              <a:t>road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2148840"/>
            <a:ext cx="960120" cy="5029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202733"/>
                </a:solidFill>
                <a:latin typeface="Aptos"/>
              </a:defRPr>
            </a:pPr>
            <a:r>
              <a:t>because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09560" y="2148840"/>
            <a:ext cx="960120" cy="502920"/>
          </a:xfrm>
          <a:prstGeom prst="roundRect">
            <a:avLst/>
          </a:prstGeom>
          <a:solidFill>
            <a:srgbClr val="F8F1E0"/>
          </a:solidFill>
          <a:ln w="13970">
            <a:solidFill>
              <a:srgbClr val="C68F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202733"/>
                </a:solidFill>
                <a:latin typeface="Aptos"/>
              </a:defRPr>
            </a:pPr>
            <a:r>
              <a:t>it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15400" y="2148840"/>
            <a:ext cx="960120" cy="5029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202733"/>
                </a:solidFill>
                <a:latin typeface="Aptos"/>
              </a:defRPr>
            </a:pPr>
            <a:r>
              <a:t>was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921240" y="2148840"/>
            <a:ext cx="960120" cy="5029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202733"/>
                </a:solidFill>
                <a:latin typeface="Aptos"/>
              </a:defRPr>
            </a:pPr>
            <a:r>
              <a:t>tired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29260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F5D8C"/>
                </a:solidFill>
                <a:latin typeface="Aptos"/>
              </a:defRPr>
            </a:pPr>
            <a:r>
              <a:t>1. Focus on current token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749039" y="2788920"/>
            <a:ext cx="1051560" cy="685800"/>
          </a:xfrm>
          <a:prstGeom prst="roundRect">
            <a:avLst/>
          </a:prstGeom>
          <a:solidFill>
            <a:srgbClr val="F8F1E0"/>
          </a:solidFill>
          <a:ln w="13970">
            <a:solidFill>
              <a:srgbClr val="C68F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202733"/>
                </a:solidFill>
                <a:latin typeface="Aptos"/>
              </a:defRPr>
            </a:pPr>
            <a:r>
              <a:t>it</a:t>
            </a:r>
            <a:br/>
            <a:r>
              <a:t>Query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800600" y="3127248"/>
            <a:ext cx="685800" cy="0"/>
          </a:xfrm>
          <a:prstGeom prst="line">
            <a:avLst/>
          </a:prstGeom>
          <a:ln w="25400">
            <a:solidFill>
              <a:srgbClr val="C68F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486400" y="288036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202733"/>
                </a:solidFill>
                <a:latin typeface="Aptos"/>
              </a:defRPr>
            </a:pPr>
            <a:r>
              <a:t>2. Compare Query with Keys of all tokens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7947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F5D8C"/>
                </a:solidFill>
                <a:latin typeface="Aptos"/>
              </a:defRPr>
            </a:pPr>
            <a:r>
              <a:t>3. Attention / relevance scores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57600" y="4160520"/>
            <a:ext cx="960120" cy="39319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202733"/>
                </a:solidFill>
                <a:latin typeface="Aptos"/>
              </a:defRPr>
            </a:pPr>
            <a:r>
              <a:t>The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645152" y="4160520"/>
            <a:ext cx="960120" cy="393192"/>
          </a:xfrm>
          <a:prstGeom prst="roundRect">
            <a:avLst/>
          </a:prstGeom>
          <a:solidFill>
            <a:srgbClr val="E7F3F2"/>
          </a:solidFill>
          <a:ln w="13970">
            <a:solidFill>
              <a:srgbClr val="2A7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202733"/>
                </a:solidFill>
                <a:latin typeface="Aptos"/>
              </a:defRPr>
            </a:pPr>
            <a:r>
              <a:t>0.04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080760" y="4160520"/>
            <a:ext cx="960120" cy="39319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202733"/>
                </a:solidFill>
                <a:latin typeface="Aptos"/>
              </a:defRPr>
            </a:pPr>
            <a:r>
              <a:t>animal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068312" y="4160520"/>
            <a:ext cx="960120" cy="393192"/>
          </a:xfrm>
          <a:prstGeom prst="roundRect">
            <a:avLst/>
          </a:prstGeom>
          <a:solidFill>
            <a:srgbClr val="F8F1E0"/>
          </a:solidFill>
          <a:ln w="13970">
            <a:solidFill>
              <a:srgbClr val="C68F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202733"/>
                </a:solidFill>
                <a:latin typeface="Aptos"/>
              </a:defRPr>
            </a:pPr>
            <a:r>
              <a:t>0.62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503920" y="4160520"/>
            <a:ext cx="960120" cy="39319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202733"/>
                </a:solidFill>
                <a:latin typeface="Aptos"/>
              </a:defRPr>
            </a:pPr>
            <a:r>
              <a:t>crossed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491472" y="4160520"/>
            <a:ext cx="960120" cy="393192"/>
          </a:xfrm>
          <a:prstGeom prst="roundRect">
            <a:avLst/>
          </a:prstGeom>
          <a:solidFill>
            <a:srgbClr val="E7F3F2"/>
          </a:solidFill>
          <a:ln w="13970">
            <a:solidFill>
              <a:srgbClr val="2A7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202733"/>
                </a:solidFill>
                <a:latin typeface="Aptos"/>
              </a:defRPr>
            </a:pPr>
            <a:r>
              <a:t>0.06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657600" y="4818888"/>
            <a:ext cx="960120" cy="39319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202733"/>
                </a:solidFill>
                <a:latin typeface="Aptos"/>
              </a:defRPr>
            </a:pPr>
            <a:r>
              <a:t>road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645152" y="4818888"/>
            <a:ext cx="960120" cy="393192"/>
          </a:xfrm>
          <a:prstGeom prst="roundRect">
            <a:avLst/>
          </a:prstGeom>
          <a:solidFill>
            <a:srgbClr val="E7F3F2"/>
          </a:solidFill>
          <a:ln w="13970">
            <a:solidFill>
              <a:srgbClr val="2A7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202733"/>
                </a:solidFill>
                <a:latin typeface="Aptos"/>
              </a:defRPr>
            </a:pPr>
            <a:r>
              <a:t>0.05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080760" y="4818888"/>
            <a:ext cx="960120" cy="39319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202733"/>
                </a:solidFill>
                <a:latin typeface="Aptos"/>
              </a:defRPr>
            </a:pPr>
            <a:r>
              <a:t>because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068312" y="4818888"/>
            <a:ext cx="960120" cy="393192"/>
          </a:xfrm>
          <a:prstGeom prst="roundRect">
            <a:avLst/>
          </a:prstGeom>
          <a:solidFill>
            <a:srgbClr val="E7F3F2"/>
          </a:solidFill>
          <a:ln w="13970">
            <a:solidFill>
              <a:srgbClr val="2A7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202733"/>
                </a:solidFill>
                <a:latin typeface="Aptos"/>
              </a:defRPr>
            </a:pPr>
            <a:r>
              <a:t>0.09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503920" y="4818888"/>
            <a:ext cx="960120" cy="39319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202733"/>
                </a:solidFill>
                <a:latin typeface="Aptos"/>
              </a:defRPr>
            </a:pPr>
            <a:r>
              <a:t>tired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491472" y="4818888"/>
            <a:ext cx="960120" cy="393192"/>
          </a:xfrm>
          <a:prstGeom prst="roundRect">
            <a:avLst/>
          </a:prstGeom>
          <a:solidFill>
            <a:srgbClr val="E7F3F2"/>
          </a:solidFill>
          <a:ln w="13970">
            <a:solidFill>
              <a:srgbClr val="2A7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202733"/>
                </a:solidFill>
                <a:latin typeface="Aptos"/>
              </a:defRPr>
            </a:pPr>
            <a:r>
              <a:t>0.14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55778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F5D8C"/>
                </a:solidFill>
                <a:latin typeface="Aptos"/>
              </a:defRPr>
            </a:pPr>
            <a:r>
              <a:t>4. Weighted Values → output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657600" y="5440680"/>
            <a:ext cx="6766560" cy="640080"/>
          </a:xfrm>
          <a:prstGeom prst="roundRect">
            <a:avLst/>
          </a:prstGeom>
          <a:solidFill>
            <a:srgbClr val="E8EEF5"/>
          </a:solidFill>
          <a:ln w="13970">
            <a:solidFill>
              <a:srgbClr val="2F5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202733"/>
                </a:solidFill>
                <a:latin typeface="Aptos"/>
              </a:defRPr>
            </a:pPr>
            <a:r>
              <a:t>Attention weights × Value vectors  →  contextualized representation of “it”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509760" y="109728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F6B7A"/>
                </a:solidFill>
                <a:latin typeface="Aptos"/>
              </a:defRPr>
            </a:pPr>
            <a:r>
              <a:t>Animation storyboard</a:t>
            </a:r>
          </a:p>
        </p:txBody>
      </p:sp>
    </p:spTree>
    <p:extLst>
      <p:ext uri="{BB962C8B-B14F-4D97-AF65-F5344CB8AC3E}">
        <p14:creationId xmlns:p14="http://schemas.microsoft.com/office/powerpoint/2010/main" val="27711233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4213D"/>
                </a:solidFill>
                <a:latin typeface="Aptos"/>
              </a:defRPr>
            </a:pPr>
            <a:r>
              <a:t>Self-Attention — Q, K, V → Attention → Output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1440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F6B7A"/>
                </a:solidFill>
                <a:latin typeface="Aptos"/>
              </a:defRPr>
            </a:pPr>
            <a:r>
              <a:t>From learned projections to a contextualized token representation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1920240" cy="6400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/>
          <a:lstStyle/>
          <a:p>
            <a:pPr algn="ctr">
              <a:defRPr sz="1800" b="1">
                <a:solidFill>
                  <a:srgbClr val="202733"/>
                </a:solidFill>
                <a:latin typeface="Aptos"/>
              </a:defRPr>
            </a:pPr>
            <a:r>
              <a:rPr sz="1600"/>
              <a:t>Input embeddings</a:t>
            </a:r>
            <a:br>
              <a:rPr sz="1600" dirty="0"/>
            </a:br>
            <a:r>
              <a:rPr sz="1600"/>
              <a:t>X</a:t>
            </a:r>
            <a:endParaRPr lang="en-US" sz="1600"/>
          </a:p>
        </p:txBody>
      </p:sp>
      <p:cxnSp>
        <p:nvCxnSpPr>
          <p:cNvPr id="6" name="Connector 5"/>
          <p:cNvCxnSpPr/>
          <p:nvPr/>
        </p:nvCxnSpPr>
        <p:spPr>
          <a:xfrm>
            <a:off x="2606040" y="1737360"/>
            <a:ext cx="548640" cy="0"/>
          </a:xfrm>
          <a:prstGeom prst="line">
            <a:avLst/>
          </a:prstGeom>
          <a:ln w="25400">
            <a:solidFill>
              <a:srgbClr val="2F5D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3154680" y="1417320"/>
            <a:ext cx="1828800" cy="640080"/>
          </a:xfrm>
          <a:prstGeom prst="roundRect">
            <a:avLst/>
          </a:prstGeom>
          <a:solidFill>
            <a:srgbClr val="E8EEF5"/>
          </a:solidFill>
          <a:ln w="13970">
            <a:solidFill>
              <a:srgbClr val="2F5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202733"/>
                </a:solidFill>
                <a:latin typeface="Aptos"/>
              </a:defRPr>
            </a:pPr>
            <a:r>
              <a:t>Q = XWQ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94960" y="1417320"/>
            <a:ext cx="1828800" cy="640080"/>
          </a:xfrm>
          <a:prstGeom prst="roundRect">
            <a:avLst/>
          </a:prstGeom>
          <a:solidFill>
            <a:srgbClr val="E8EEF5"/>
          </a:solidFill>
          <a:ln w="13970">
            <a:solidFill>
              <a:srgbClr val="2F5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202733"/>
                </a:solidFill>
                <a:latin typeface="Aptos"/>
              </a:defRPr>
            </a:pPr>
            <a:r>
              <a:t>K = XWK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35240" y="1417320"/>
            <a:ext cx="1828800" cy="640080"/>
          </a:xfrm>
          <a:prstGeom prst="roundRect">
            <a:avLst/>
          </a:prstGeom>
          <a:solidFill>
            <a:srgbClr val="E7F3F2"/>
          </a:solidFill>
          <a:ln w="13970">
            <a:solidFill>
              <a:srgbClr val="2A7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202733"/>
                </a:solidFill>
                <a:latin typeface="Aptos"/>
              </a:defRPr>
            </a:pPr>
            <a:r>
              <a:t>V = XWV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2331720"/>
            <a:ext cx="6583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202733"/>
                </a:solidFill>
                <a:latin typeface="Aptos"/>
              </a:defRPr>
            </a:pPr>
            <a:r>
              <a:t>Q and K determine relevance; V carries the information to combine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560320" y="2971800"/>
            <a:ext cx="1920240" cy="640080"/>
          </a:xfrm>
          <a:prstGeom prst="roundRect">
            <a:avLst/>
          </a:prstGeom>
          <a:solidFill>
            <a:srgbClr val="F8F1E0"/>
          </a:solidFill>
          <a:ln w="13970">
            <a:solidFill>
              <a:srgbClr val="C68F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202733"/>
                </a:solidFill>
                <a:latin typeface="Aptos"/>
              </a:defRPr>
            </a:pPr>
            <a:r>
              <a:t>QKᵀ</a:t>
            </a:r>
            <a:br/>
            <a:r>
              <a:t>Similarity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480560" y="3291840"/>
            <a:ext cx="548640" cy="0"/>
          </a:xfrm>
          <a:prstGeom prst="line">
            <a:avLst/>
          </a:prstGeom>
          <a:ln w="25400">
            <a:solidFill>
              <a:srgbClr val="2F5D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029200" y="2971800"/>
            <a:ext cx="1554480" cy="6400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202733"/>
                </a:solidFill>
                <a:latin typeface="Aptos"/>
              </a:defRPr>
            </a:pPr>
            <a:r>
              <a:t>÷ √dk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583680" y="3291840"/>
            <a:ext cx="548640" cy="0"/>
          </a:xfrm>
          <a:prstGeom prst="line">
            <a:avLst/>
          </a:prstGeom>
          <a:ln w="25400">
            <a:solidFill>
              <a:srgbClr val="2F5D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7132320" y="2971800"/>
            <a:ext cx="1554480" cy="640080"/>
          </a:xfrm>
          <a:prstGeom prst="roundRect">
            <a:avLst/>
          </a:prstGeom>
          <a:solidFill>
            <a:srgbClr val="E7F3F2"/>
          </a:solidFill>
          <a:ln w="13970">
            <a:solidFill>
              <a:srgbClr val="2A7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202733"/>
                </a:solidFill>
                <a:latin typeface="Aptos"/>
              </a:defRPr>
            </a:pPr>
            <a:r>
              <a:t>Softmax</a:t>
            </a:r>
            <a:br/>
            <a:r>
              <a:t>Weights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686800" y="3291840"/>
            <a:ext cx="548640" cy="0"/>
          </a:xfrm>
          <a:prstGeom prst="line">
            <a:avLst/>
          </a:prstGeom>
          <a:ln w="25400">
            <a:solidFill>
              <a:srgbClr val="2F5D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9235440" y="2971800"/>
            <a:ext cx="1280160" cy="640080"/>
          </a:xfrm>
          <a:prstGeom prst="roundRect">
            <a:avLst/>
          </a:prstGeom>
          <a:solidFill>
            <a:srgbClr val="E8EEF5"/>
          </a:solidFill>
          <a:ln w="13970">
            <a:solidFill>
              <a:srgbClr val="2F5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202733"/>
                </a:solidFill>
                <a:latin typeface="Aptos"/>
              </a:defRPr>
            </a:pPr>
            <a:r>
              <a:t>× V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0515600" y="3611880"/>
            <a:ext cx="0" cy="457200"/>
          </a:xfrm>
          <a:prstGeom prst="line">
            <a:avLst/>
          </a:prstGeom>
          <a:ln w="25400">
            <a:solidFill>
              <a:srgbClr val="2F5D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8686800" y="4069080"/>
            <a:ext cx="3566160" cy="685800"/>
          </a:xfrm>
          <a:prstGeom prst="roundRect">
            <a:avLst/>
          </a:prstGeom>
          <a:solidFill>
            <a:srgbClr val="F8F1E0"/>
          </a:solidFill>
          <a:ln w="13970">
            <a:solidFill>
              <a:srgbClr val="C68F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202733"/>
                </a:solidFill>
                <a:latin typeface="Aptos"/>
              </a:defRPr>
            </a:pPr>
            <a:r>
              <a:t>Contextualized output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4251960"/>
            <a:ext cx="3200400" cy="14173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0">
                <a:solidFill>
                  <a:srgbClr val="202733"/>
                </a:solidFill>
                <a:latin typeface="Aptos"/>
              </a:defRPr>
            </a:pPr>
            <a:r>
              <a:t>Illustrative weights</a:t>
            </a:r>
            <a:br/>
            <a:r>
              <a:t>animal  0.60</a:t>
            </a:r>
            <a:br/>
            <a:r>
              <a:t>road    0.08</a:t>
            </a:r>
            <a:br/>
            <a:r>
              <a:t>tired   0.32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9120" y="434340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F5D8C"/>
                </a:solidFill>
                <a:latin typeface="Aptos"/>
              </a:defRPr>
            </a:pPr>
            <a:r>
              <a:t>Key idea: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20" y="4754880"/>
            <a:ext cx="3840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02733"/>
                </a:solidFill>
                <a:latin typeface="Aptos"/>
              </a:defRPr>
            </a:pPr>
            <a:r>
              <a:t>The model computes a weighted combination of information from multiple tokens.</a:t>
            </a:r>
          </a:p>
        </p:txBody>
      </p:sp>
    </p:spTree>
    <p:extLst>
      <p:ext uri="{BB962C8B-B14F-4D97-AF65-F5344CB8AC3E}">
        <p14:creationId xmlns:p14="http://schemas.microsoft.com/office/powerpoint/2010/main" val="23318661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3B6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FOUNDATIONS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5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Pretraining vs Instruction Tuning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72100" cy="3794760"/>
          </a:xfrm>
          <a:prstGeom prst="roundRect">
            <a:avLst>
              <a:gd name="adj" fmla="val 2410"/>
            </a:avLst>
          </a:prstGeom>
          <a:solidFill>
            <a:srgbClr val="F5F7FC"/>
          </a:solidFill>
          <a:ln w="12700">
            <a:solidFill>
              <a:srgbClr val="E3E7F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920240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3E7F1"/>
            </a:solidFill>
            <a:prstDash val="solid"/>
          </a:ln>
        </p:spPr>
      </p:sp>
      <p:pic>
        <p:nvPicPr>
          <p:cNvPr id="6" name="Image 0" descr="/home/claude/icons/book-open_3B6EF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2011680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2496312"/>
            <a:ext cx="49149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B25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Pretraining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77240" y="315468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B6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987552" y="3154680"/>
            <a:ext cx="46863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general language patterns from large, diverse corpora.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777240" y="3648456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B6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987552" y="3648456"/>
            <a:ext cx="46863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Typically trained with next-token prediction as the sole objective.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777240" y="4142232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B6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987552" y="4142232"/>
            <a:ext cx="46863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Produces broad, general-purpose representations — not task-specific behavior.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6240780" y="1691640"/>
            <a:ext cx="5372100" cy="3794760"/>
          </a:xfrm>
          <a:prstGeom prst="roundRect">
            <a:avLst>
              <a:gd name="adj" fmla="val 2410"/>
            </a:avLst>
          </a:prstGeom>
          <a:solidFill>
            <a:srgbClr val="1B2559"/>
          </a:solidFill>
          <a:ln w="12700">
            <a:solidFill>
              <a:srgbClr val="1B2559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469380" y="1920240"/>
            <a:ext cx="457200" cy="457200"/>
          </a:xfrm>
          <a:prstGeom prst="ellipse">
            <a:avLst/>
          </a:prstGeom>
          <a:solidFill>
            <a:srgbClr val="3B6EF0"/>
          </a:solidFill>
          <a:ln w="12700">
            <a:solidFill>
              <a:srgbClr val="3B6EF0"/>
            </a:solidFill>
            <a:prstDash val="solid"/>
          </a:ln>
        </p:spPr>
      </p:sp>
      <p:pic>
        <p:nvPicPr>
          <p:cNvPr id="16" name="Image 1" descr="/home/claude/icons/target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0820" y="2011680"/>
            <a:ext cx="274320" cy="27432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6469380" y="2496312"/>
            <a:ext cx="49149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Instruction Tuning</a:t>
            </a:r>
            <a:endParaRPr lang="en-US" sz="1500" dirty="0"/>
          </a:p>
        </p:txBody>
      </p:sp>
      <p:sp>
        <p:nvSpPr>
          <p:cNvPr id="18" name="Text 14"/>
          <p:cNvSpPr/>
          <p:nvPr/>
        </p:nvSpPr>
        <p:spPr>
          <a:xfrm>
            <a:off x="6469380" y="315468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6679692" y="3154680"/>
            <a:ext cx="46863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D8D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Adapts a pretrained model to follow human instructions.</a:t>
            </a:r>
            <a:endParaRPr lang="en-US" sz="1050" dirty="0"/>
          </a:p>
        </p:txBody>
      </p:sp>
      <p:sp>
        <p:nvSpPr>
          <p:cNvPr id="20" name="Text 16"/>
          <p:cNvSpPr/>
          <p:nvPr/>
        </p:nvSpPr>
        <p:spPr>
          <a:xfrm>
            <a:off x="6469380" y="3648456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6679692" y="3648456"/>
            <a:ext cx="46863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D8D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on curated instruction/response pairs to shape useful behavior.</a:t>
            </a:r>
            <a:endParaRPr lang="en-US" sz="1050" dirty="0"/>
          </a:p>
        </p:txBody>
      </p:sp>
      <p:sp>
        <p:nvSpPr>
          <p:cNvPr id="22" name="Text 18"/>
          <p:cNvSpPr/>
          <p:nvPr/>
        </p:nvSpPr>
        <p:spPr>
          <a:xfrm>
            <a:off x="6469380" y="4361688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23" name="Text 19"/>
          <p:cNvSpPr/>
          <p:nvPr/>
        </p:nvSpPr>
        <p:spPr>
          <a:xfrm>
            <a:off x="6679692" y="4361688"/>
            <a:ext cx="46863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D8D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Produces a model that responds helpfully rather than just completing text.</a:t>
            </a:r>
            <a:endParaRPr lang="en-US" sz="1050" dirty="0"/>
          </a:p>
        </p:txBody>
      </p:sp>
      <p:sp>
        <p:nvSpPr>
          <p:cNvPr id="24" name="Shape 20"/>
          <p:cNvSpPr/>
          <p:nvPr/>
        </p:nvSpPr>
        <p:spPr>
          <a:xfrm>
            <a:off x="548640" y="5715000"/>
            <a:ext cx="11064240" cy="502920"/>
          </a:xfrm>
          <a:prstGeom prst="roundRect">
            <a:avLst>
              <a:gd name="adj" fmla="val 14545"/>
            </a:avLst>
          </a:prstGeom>
          <a:solidFill>
            <a:srgbClr val="F5F7FC"/>
          </a:solidFill>
          <a:ln w="12700">
            <a:solidFill>
              <a:srgbClr val="E3E7F1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777240" y="5715000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1B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is an adaptation stage — not training an LLM from scratch. Different adaptation methods change different parts of the learning process.</a:t>
            </a:r>
            <a:endParaRPr lang="en-US" sz="1150" dirty="0"/>
          </a:p>
        </p:txBody>
      </p:sp>
      <p:sp>
        <p:nvSpPr>
          <p:cNvPr id="26" name="Text 2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  •  Faculty Development Program  •  8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3B6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5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Fine-Tuning?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57400"/>
            <a:ext cx="457200" cy="457200"/>
          </a:xfrm>
          <a:prstGeom prst="ellipse">
            <a:avLst/>
          </a:prstGeom>
          <a:solidFill>
            <a:srgbClr val="F5F7FC"/>
          </a:solidFill>
          <a:ln w="12700">
            <a:solidFill>
              <a:srgbClr val="E3E7F1"/>
            </a:solidFill>
            <a:prstDash val="solid"/>
          </a:ln>
        </p:spPr>
      </p:sp>
      <p:pic>
        <p:nvPicPr>
          <p:cNvPr id="5" name="Image 0" descr="/home/claude/icons/refresh-cw_3B6EF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148840"/>
            <a:ext cx="274320" cy="274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52144" y="2020824"/>
            <a:ext cx="102412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B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Continued training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1152144" y="2276856"/>
            <a:ext cx="10241280" cy="704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continues training from a pretrained model on a smaller, task- or domain-specific dataset.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548640" y="3017520"/>
            <a:ext cx="457200" cy="457200"/>
          </a:xfrm>
          <a:prstGeom prst="ellipse">
            <a:avLst/>
          </a:prstGeom>
          <a:solidFill>
            <a:srgbClr val="F5F7FC"/>
          </a:solidFill>
          <a:ln w="12700">
            <a:solidFill>
              <a:srgbClr val="E3E7F1"/>
            </a:solidFill>
            <a:prstDash val="solid"/>
          </a:ln>
        </p:spPr>
      </p:sp>
      <p:pic>
        <p:nvPicPr>
          <p:cNvPr id="9" name="Image 1" descr="/home/claude/icons/target_3B6EF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108960"/>
            <a:ext cx="274320" cy="2743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52144" y="2980944"/>
            <a:ext cx="102412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B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Adapts behavior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1152144" y="3236976"/>
            <a:ext cx="10241280" cy="704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objective is to adapt model behavior, task performance, style or domain response patterns.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548640" y="3977640"/>
            <a:ext cx="457200" cy="457200"/>
          </a:xfrm>
          <a:prstGeom prst="ellipse">
            <a:avLst/>
          </a:prstGeom>
          <a:solidFill>
            <a:srgbClr val="F5F7FC"/>
          </a:solidFill>
          <a:ln w="12700">
            <a:solidFill>
              <a:srgbClr val="E3E7F1"/>
            </a:solidFill>
            <a:prstDash val="solid"/>
          </a:ln>
        </p:spPr>
      </p:sp>
      <p:pic>
        <p:nvPicPr>
          <p:cNvPr id="13" name="Image 2" descr="/home/claude/icons/sliders_3B6EF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4069080"/>
            <a:ext cx="274320" cy="2743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152144" y="3941064"/>
            <a:ext cx="102412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B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or partial updates</a:t>
            </a:r>
            <a:endParaRPr lang="en-US" sz="1350" dirty="0"/>
          </a:p>
        </p:txBody>
      </p:sp>
      <p:sp>
        <p:nvSpPr>
          <p:cNvPr id="15" name="Text 10"/>
          <p:cNvSpPr/>
          <p:nvPr/>
        </p:nvSpPr>
        <p:spPr>
          <a:xfrm>
            <a:off x="1152144" y="4197096"/>
            <a:ext cx="10241280" cy="704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can update all parameters (full fine-tuning) or only a small trainable subset (PEFT).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548640" y="4937760"/>
            <a:ext cx="457200" cy="457200"/>
          </a:xfrm>
          <a:prstGeom prst="ellipse">
            <a:avLst/>
          </a:prstGeom>
          <a:solidFill>
            <a:srgbClr val="F5F7FC"/>
          </a:solidFill>
          <a:ln w="12700">
            <a:solidFill>
              <a:srgbClr val="E3E7F1"/>
            </a:solidFill>
            <a:prstDash val="solid"/>
          </a:ln>
        </p:spPr>
      </p:sp>
      <p:pic>
        <p:nvPicPr>
          <p:cNvPr id="17" name="Image 3" descr="/home/claude/icons/alert-triangle_3B6EF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5029200"/>
            <a:ext cx="274320" cy="27432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152144" y="4901184"/>
            <a:ext cx="102412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B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 depends on setup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1152144" y="5157216"/>
            <a:ext cx="10241280" cy="704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quality, learning rate, number of epochs and evaluation design strongly affect the outcome.</a:t>
            </a:r>
            <a:endParaRPr lang="en-US" sz="1150" dirty="0"/>
          </a:p>
        </p:txBody>
      </p:sp>
      <p:sp>
        <p:nvSpPr>
          <p:cNvPr id="20" name="Text 1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  •  Faculty Development Program  •  9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3B6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5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Fine-Tuning?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457200" cy="457200"/>
          </a:xfrm>
          <a:prstGeom prst="ellipse">
            <a:avLst/>
          </a:prstGeom>
          <a:solidFill>
            <a:srgbClr val="F5F7FC"/>
          </a:solidFill>
          <a:ln w="12700">
            <a:solidFill>
              <a:srgbClr val="E3E7F1"/>
            </a:solidFill>
            <a:prstDash val="solid"/>
          </a:ln>
        </p:spPr>
      </p:sp>
      <p:pic>
        <p:nvPicPr>
          <p:cNvPr id="5" name="Image 0" descr="/home/claude/icons/target_3B6EF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783080"/>
            <a:ext cx="274320" cy="274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52144" y="1655064"/>
            <a:ext cx="102412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B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Specialize a general model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1152144" y="1911096"/>
            <a:ext cx="1024128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 a general model to a specialized task or a specific response format.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548640" y="2606040"/>
            <a:ext cx="457200" cy="457200"/>
          </a:xfrm>
          <a:prstGeom prst="ellipse">
            <a:avLst/>
          </a:prstGeom>
          <a:solidFill>
            <a:srgbClr val="F5F7FC"/>
          </a:solidFill>
          <a:ln w="12700">
            <a:solidFill>
              <a:srgbClr val="E3E7F1"/>
            </a:solidFill>
            <a:prstDash val="solid"/>
          </a:ln>
        </p:spPr>
      </p:sp>
      <p:pic>
        <p:nvPicPr>
          <p:cNvPr id="9" name="Image 1" descr="/home/claude/icons/thumbs-up_3B6EF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2697480"/>
            <a:ext cx="274320" cy="2743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52144" y="2569464"/>
            <a:ext cx="102412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B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instruction following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1152144" y="2825496"/>
            <a:ext cx="1024128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instruction following and domain-specific behavior beyond what prompting alone achieves.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548640" y="3520440"/>
            <a:ext cx="457200" cy="457200"/>
          </a:xfrm>
          <a:prstGeom prst="ellipse">
            <a:avLst/>
          </a:prstGeom>
          <a:solidFill>
            <a:srgbClr val="F5F7FC"/>
          </a:solidFill>
          <a:ln w="12700">
            <a:solidFill>
              <a:srgbClr val="E3E7F1"/>
            </a:solidFill>
            <a:prstDash val="solid"/>
          </a:ln>
        </p:spPr>
      </p:sp>
      <p:pic>
        <p:nvPicPr>
          <p:cNvPr id="13" name="Image 2" descr="/home/claude/icons/list_3B6EF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3611880"/>
            <a:ext cx="274320" cy="2743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152144" y="3483864"/>
            <a:ext cx="102412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B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output style</a:t>
            </a:r>
            <a:endParaRPr lang="en-US" sz="1350" dirty="0"/>
          </a:p>
        </p:txBody>
      </p:sp>
      <p:sp>
        <p:nvSpPr>
          <p:cNvPr id="15" name="Text 10"/>
          <p:cNvSpPr/>
          <p:nvPr/>
        </p:nvSpPr>
        <p:spPr>
          <a:xfrm>
            <a:off x="1152144" y="3739896"/>
            <a:ext cx="1024128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consistent terminology, structure or output style across many requests.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548640" y="4434840"/>
            <a:ext cx="457200" cy="457200"/>
          </a:xfrm>
          <a:prstGeom prst="ellipse">
            <a:avLst/>
          </a:prstGeom>
          <a:solidFill>
            <a:srgbClr val="F5F7FC"/>
          </a:solidFill>
          <a:ln w="12700">
            <a:solidFill>
              <a:srgbClr val="E3E7F1"/>
            </a:solidFill>
            <a:prstDash val="solid"/>
          </a:ln>
        </p:spPr>
      </p:sp>
      <p:pic>
        <p:nvPicPr>
          <p:cNvPr id="17" name="Image 3" descr="/home/claude/icons/minimize_3B6EF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4526280"/>
            <a:ext cx="274320" cy="27432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152144" y="4398264"/>
            <a:ext cx="102412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B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Shorter prompts at inference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1152144" y="4654296"/>
            <a:ext cx="1024128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dependence on very long, repeated prompts for patterns the model has now internalized.</a:t>
            </a:r>
            <a:endParaRPr lang="en-US" sz="1150" dirty="0"/>
          </a:p>
        </p:txBody>
      </p:sp>
      <p:sp>
        <p:nvSpPr>
          <p:cNvPr id="20" name="Shape 14"/>
          <p:cNvSpPr/>
          <p:nvPr/>
        </p:nvSpPr>
        <p:spPr>
          <a:xfrm>
            <a:off x="548640" y="5349240"/>
            <a:ext cx="457200" cy="457200"/>
          </a:xfrm>
          <a:prstGeom prst="ellipse">
            <a:avLst/>
          </a:prstGeom>
          <a:solidFill>
            <a:srgbClr val="F5F7FC"/>
          </a:solidFill>
          <a:ln w="12700">
            <a:solidFill>
              <a:srgbClr val="E3E7F1"/>
            </a:solidFill>
            <a:prstDash val="solid"/>
          </a:ln>
        </p:spPr>
      </p:sp>
      <p:pic>
        <p:nvPicPr>
          <p:cNvPr id="21" name="Image 4" descr="/home/claude/icons/check-circle_3B6EF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80" y="5440680"/>
            <a:ext cx="274320" cy="27432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152144" y="5312664"/>
            <a:ext cx="102412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B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with strong examples</a:t>
            </a:r>
            <a:endParaRPr lang="en-US" sz="1350" dirty="0"/>
          </a:p>
        </p:txBody>
      </p:sp>
      <p:sp>
        <p:nvSpPr>
          <p:cNvPr id="23" name="Text 16"/>
          <p:cNvSpPr/>
          <p:nvPr/>
        </p:nvSpPr>
        <p:spPr>
          <a:xfrm>
            <a:off x="1152144" y="5568696"/>
            <a:ext cx="1024128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useful when the desired behavior can be represented clearly by high-quality training examples.</a:t>
            </a:r>
            <a:endParaRPr lang="en-US" sz="1150" dirty="0"/>
          </a:p>
        </p:txBody>
      </p:sp>
      <p:sp>
        <p:nvSpPr>
          <p:cNvPr id="24" name="Text 1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  •  Faculty Development Program  •  10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3B6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ADAPTATION METHODS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5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 Fine-Tuning vs Prompt Engineering vs Prompt Tuning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526030" cy="3794760"/>
          </a:xfrm>
          <a:prstGeom prst="roundRect">
            <a:avLst>
              <a:gd name="adj" fmla="val 3620"/>
            </a:avLst>
          </a:prstGeom>
          <a:solidFill>
            <a:srgbClr val="F5F7FC"/>
          </a:solidFill>
          <a:ln w="12700">
            <a:solidFill>
              <a:srgbClr val="E3E7F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920240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3E7F1"/>
            </a:solidFill>
            <a:prstDash val="solid"/>
          </a:ln>
        </p:spPr>
      </p:sp>
      <p:pic>
        <p:nvPicPr>
          <p:cNvPr id="6" name="Image 0" descr="/home/claude/icons/cpu_3B6EF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2011680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2496312"/>
            <a:ext cx="206883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B25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 Fine-Tuning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77240" y="315468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B6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987552" y="3154680"/>
            <a:ext cx="184023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Updates most or all model weights using task-specific data.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777240" y="3867912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B6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987552" y="3867912"/>
            <a:ext cx="184023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 flexibility; highest compute and storage cost.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3394710" y="1691640"/>
            <a:ext cx="2526030" cy="3794760"/>
          </a:xfrm>
          <a:prstGeom prst="roundRect">
            <a:avLst>
              <a:gd name="adj" fmla="val 3620"/>
            </a:avLst>
          </a:prstGeom>
          <a:solidFill>
            <a:srgbClr val="F5F7FC"/>
          </a:solidFill>
          <a:ln w="12700">
            <a:solidFill>
              <a:srgbClr val="E3E7F1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623310" y="1920240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3E7F1"/>
            </a:solidFill>
            <a:prstDash val="solid"/>
          </a:ln>
        </p:spPr>
      </p:sp>
      <p:pic>
        <p:nvPicPr>
          <p:cNvPr id="14" name="Image 1" descr="/home/claude/icons/message-square_3B6EF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14750" y="2011680"/>
            <a:ext cx="274320" cy="27432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623310" y="2496312"/>
            <a:ext cx="206883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B25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Prompt Engineering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3623310" y="315468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B6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3833622" y="3154680"/>
            <a:ext cx="184023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parameters fixed; improves instructions/context at inference.</a:t>
            </a:r>
            <a:endParaRPr lang="en-US" sz="1050" dirty="0"/>
          </a:p>
        </p:txBody>
      </p:sp>
      <p:sp>
        <p:nvSpPr>
          <p:cNvPr id="18" name="Text 14"/>
          <p:cNvSpPr/>
          <p:nvPr/>
        </p:nvSpPr>
        <p:spPr>
          <a:xfrm>
            <a:off x="3623310" y="3867912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B6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3833622" y="3867912"/>
            <a:ext cx="184023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training cost, but limited by context window.</a:t>
            </a:r>
            <a:endParaRPr lang="en-US" sz="1050" dirty="0"/>
          </a:p>
        </p:txBody>
      </p:sp>
      <p:sp>
        <p:nvSpPr>
          <p:cNvPr id="20" name="Shape 16"/>
          <p:cNvSpPr/>
          <p:nvPr/>
        </p:nvSpPr>
        <p:spPr>
          <a:xfrm>
            <a:off x="6240780" y="1691640"/>
            <a:ext cx="2526030" cy="3794760"/>
          </a:xfrm>
          <a:prstGeom prst="roundRect">
            <a:avLst>
              <a:gd name="adj" fmla="val 3620"/>
            </a:avLst>
          </a:prstGeom>
          <a:solidFill>
            <a:srgbClr val="F5F7FC"/>
          </a:solidFill>
          <a:ln w="12700">
            <a:solidFill>
              <a:srgbClr val="E3E7F1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6469380" y="1920240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3E7F1"/>
            </a:solidFill>
            <a:prstDash val="solid"/>
          </a:ln>
        </p:spPr>
      </p:sp>
      <p:pic>
        <p:nvPicPr>
          <p:cNvPr id="22" name="Image 2" descr="/home/claude/icons/sliders_3B6EF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60820" y="2011680"/>
            <a:ext cx="274320" cy="27432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469380" y="2496312"/>
            <a:ext cx="206883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B25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Prompt Tuning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69380" y="315468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B6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25" name="Text 20"/>
          <p:cNvSpPr/>
          <p:nvPr/>
        </p:nvSpPr>
        <p:spPr>
          <a:xfrm>
            <a:off x="6679692" y="3154680"/>
            <a:ext cx="184023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a small set of continuous prompt embeddings.</a:t>
            </a:r>
            <a:endParaRPr lang="en-US" sz="1050" dirty="0"/>
          </a:p>
        </p:txBody>
      </p:sp>
      <p:sp>
        <p:nvSpPr>
          <p:cNvPr id="26" name="Text 21"/>
          <p:cNvSpPr/>
          <p:nvPr/>
        </p:nvSpPr>
        <p:spPr>
          <a:xfrm>
            <a:off x="6469380" y="3648456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B6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27" name="Text 22"/>
          <p:cNvSpPr/>
          <p:nvPr/>
        </p:nvSpPr>
        <p:spPr>
          <a:xfrm>
            <a:off x="6679692" y="3648456"/>
            <a:ext cx="184023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model stays completely frozen.</a:t>
            </a:r>
            <a:endParaRPr lang="en-US" sz="1050" dirty="0"/>
          </a:p>
        </p:txBody>
      </p:sp>
      <p:sp>
        <p:nvSpPr>
          <p:cNvPr id="28" name="Shape 23"/>
          <p:cNvSpPr/>
          <p:nvPr/>
        </p:nvSpPr>
        <p:spPr>
          <a:xfrm>
            <a:off x="9086850" y="1691640"/>
            <a:ext cx="2526030" cy="3794760"/>
          </a:xfrm>
          <a:prstGeom prst="roundRect">
            <a:avLst>
              <a:gd name="adj" fmla="val 3620"/>
            </a:avLst>
          </a:prstGeom>
          <a:solidFill>
            <a:srgbClr val="1B2559"/>
          </a:solidFill>
          <a:ln w="12700">
            <a:solidFill>
              <a:srgbClr val="1B2559"/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9315450" y="1920240"/>
            <a:ext cx="457200" cy="457200"/>
          </a:xfrm>
          <a:prstGeom prst="ellipse">
            <a:avLst/>
          </a:prstGeom>
          <a:solidFill>
            <a:srgbClr val="3B6EF0"/>
          </a:solidFill>
          <a:ln w="12700">
            <a:solidFill>
              <a:srgbClr val="3B6EF0"/>
            </a:solidFill>
            <a:prstDash val="solid"/>
          </a:ln>
        </p:spPr>
      </p:sp>
      <p:pic>
        <p:nvPicPr>
          <p:cNvPr id="30" name="Image 3" descr="/home/claude/icons/zap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06890" y="2011680"/>
            <a:ext cx="274320" cy="274320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9315450" y="2496312"/>
            <a:ext cx="206883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LoRA / PEFT</a:t>
            </a:r>
            <a:endParaRPr lang="en-US" sz="1500" dirty="0"/>
          </a:p>
        </p:txBody>
      </p:sp>
      <p:sp>
        <p:nvSpPr>
          <p:cNvPr id="32" name="Text 26"/>
          <p:cNvSpPr/>
          <p:nvPr/>
        </p:nvSpPr>
        <p:spPr>
          <a:xfrm>
            <a:off x="9315450" y="315468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33" name="Text 27"/>
          <p:cNvSpPr/>
          <p:nvPr/>
        </p:nvSpPr>
        <p:spPr>
          <a:xfrm>
            <a:off x="9525762" y="3154680"/>
            <a:ext cx="184023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D8D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small trainable updates; pretrained weights frozen.</a:t>
            </a:r>
            <a:endParaRPr lang="en-US" sz="1050" dirty="0"/>
          </a:p>
        </p:txBody>
      </p:sp>
      <p:sp>
        <p:nvSpPr>
          <p:cNvPr id="34" name="Text 28"/>
          <p:cNvSpPr/>
          <p:nvPr/>
        </p:nvSpPr>
        <p:spPr>
          <a:xfrm>
            <a:off x="9315450" y="3867912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35" name="Text 29"/>
          <p:cNvSpPr/>
          <p:nvPr/>
        </p:nvSpPr>
        <p:spPr>
          <a:xfrm>
            <a:off x="9525762" y="3867912"/>
            <a:ext cx="184023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D8D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hands-on focus for Session 2.</a:t>
            </a:r>
            <a:endParaRPr lang="en-US" sz="1050" dirty="0"/>
          </a:p>
        </p:txBody>
      </p:sp>
      <p:sp>
        <p:nvSpPr>
          <p:cNvPr id="36" name="Shape 30"/>
          <p:cNvSpPr/>
          <p:nvPr/>
        </p:nvSpPr>
        <p:spPr>
          <a:xfrm>
            <a:off x="548640" y="5715000"/>
            <a:ext cx="11064240" cy="502920"/>
          </a:xfrm>
          <a:prstGeom prst="roundRect">
            <a:avLst>
              <a:gd name="adj" fmla="val 14545"/>
            </a:avLst>
          </a:prstGeom>
          <a:solidFill>
            <a:srgbClr val="F5F7FC"/>
          </a:solidFill>
          <a:ln w="12700">
            <a:solidFill>
              <a:srgbClr val="E3E7F1"/>
            </a:solidFill>
            <a:prstDash val="solid"/>
          </a:ln>
        </p:spPr>
      </p:sp>
      <p:sp>
        <p:nvSpPr>
          <p:cNvPr id="37" name="Text 31"/>
          <p:cNvSpPr/>
          <p:nvPr/>
        </p:nvSpPr>
        <p:spPr>
          <a:xfrm>
            <a:off x="777240" y="5715000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1B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Choice depends on task, data, compute budget, desired behavior and deployment constraints.</a:t>
            </a:r>
            <a:endParaRPr lang="en-US" sz="1150" dirty="0"/>
          </a:p>
        </p:txBody>
      </p:sp>
      <p:sp>
        <p:nvSpPr>
          <p:cNvPr id="38" name="Text 3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  •  Faculty Development Program  •  11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4213D"/>
                </a:solidFill>
                <a:latin typeface="Aptos"/>
              </a:defRPr>
            </a:pPr>
            <a:r>
              <a:t>Prompt Engineering — Change the Input, Not the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1440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F6B7A"/>
                </a:solidFill>
                <a:latin typeface="Aptos"/>
              </a:defRPr>
            </a:pPr>
            <a:r>
              <a:t>Same model parameters; different instructions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F5D8C"/>
                </a:solidFill>
                <a:latin typeface="Aptos"/>
              </a:defRPr>
            </a:pPr>
            <a:r>
              <a:t>WEAK PROMPT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737360"/>
            <a:ext cx="4663440" cy="7315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202733"/>
                </a:solidFill>
                <a:latin typeface="Aptos"/>
              </a:defRPr>
            </a:pPr>
            <a:r>
              <a:t>Explain backpropagation.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623560" y="2103120"/>
            <a:ext cx="777240" cy="0"/>
          </a:xfrm>
          <a:prstGeom prst="line">
            <a:avLst/>
          </a:prstGeom>
          <a:ln w="25400">
            <a:solidFill>
              <a:srgbClr val="2F5D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6400800" y="1737360"/>
            <a:ext cx="4800600" cy="731520"/>
          </a:xfrm>
          <a:prstGeom prst="roundRect">
            <a:avLst/>
          </a:prstGeom>
          <a:solidFill>
            <a:srgbClr val="F8F1E0"/>
          </a:solidFill>
          <a:ln w="13970">
            <a:solidFill>
              <a:srgbClr val="C68F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202733"/>
                </a:solidFill>
                <a:latin typeface="Aptos"/>
              </a:defRPr>
            </a:pPr>
            <a:r>
              <a:t>Generic / unconstrained answer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8346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A7A7A"/>
                </a:solidFill>
                <a:latin typeface="Aptos"/>
              </a:defRPr>
            </a:pPr>
            <a:r>
              <a:t>STRUCTURED PROMPT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3246120"/>
            <a:ext cx="4663440" cy="1508760"/>
          </a:xfrm>
          <a:prstGeom prst="roundRect">
            <a:avLst/>
          </a:prstGeom>
          <a:solidFill>
            <a:srgbClr val="E8EEF5"/>
          </a:solidFill>
          <a:ln w="13970">
            <a:solidFill>
              <a:srgbClr val="2F5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0">
                <a:solidFill>
                  <a:srgbClr val="202733"/>
                </a:solidFill>
                <a:latin typeface="Aptos"/>
              </a:defRPr>
            </a:pPr>
            <a:r>
              <a:t>You are a Deep Learning instructor.</a:t>
            </a:r>
            <a:br/>
            <a:r>
              <a:t>Explain backpropagation to a beginner.</a:t>
            </a:r>
            <a:br/>
            <a:r>
              <a:t>Use: definition → intuition → math → example → misconception → takeaway.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623560" y="3977639"/>
            <a:ext cx="777240" cy="0"/>
          </a:xfrm>
          <a:prstGeom prst="line">
            <a:avLst/>
          </a:prstGeom>
          <a:ln w="25400">
            <a:solidFill>
              <a:srgbClr val="2F5D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6400800" y="3246120"/>
            <a:ext cx="4800600" cy="1508760"/>
          </a:xfrm>
          <a:prstGeom prst="roundRect">
            <a:avLst/>
          </a:prstGeom>
          <a:solidFill>
            <a:srgbClr val="E7F3F2"/>
          </a:solidFill>
          <a:ln w="13970">
            <a:solidFill>
              <a:srgbClr val="2A7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202733"/>
                </a:solidFill>
                <a:latin typeface="Aptos"/>
              </a:defRPr>
            </a:pPr>
            <a:r>
              <a:t>Structured response</a:t>
            </a:r>
            <a:br/>
            <a:r>
              <a:t>1. Definition</a:t>
            </a:r>
            <a:br/>
            <a:r>
              <a:t>2. Intuition</a:t>
            </a:r>
            <a:br/>
            <a:r>
              <a:t>3. Mathematical idea</a:t>
            </a:r>
            <a:br/>
            <a:r>
              <a:t>4. Example</a:t>
            </a:r>
            <a:br/>
            <a:r>
              <a:t>5. Misconception</a:t>
            </a:r>
            <a:br/>
            <a:r>
              <a:t>6. Takeaway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011680" y="5623560"/>
            <a:ext cx="8138160" cy="548640"/>
          </a:xfrm>
          <a:prstGeom prst="roundRect">
            <a:avLst/>
          </a:prstGeom>
          <a:solidFill>
            <a:srgbClr val="F8F1E0"/>
          </a:solidFill>
          <a:ln w="13970">
            <a:solidFill>
              <a:srgbClr val="C68F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14213D"/>
                </a:solidFill>
                <a:latin typeface="Aptos"/>
              </a:defRPr>
            </a:pPr>
            <a:r>
              <a:t>Prompt engineering changes the INPUT. Model weights remain unchanged.</a:t>
            </a:r>
          </a:p>
        </p:txBody>
      </p:sp>
    </p:spTree>
    <p:extLst>
      <p:ext uri="{BB962C8B-B14F-4D97-AF65-F5344CB8AC3E}">
        <p14:creationId xmlns:p14="http://schemas.microsoft.com/office/powerpoint/2010/main" val="81068093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4213D"/>
                </a:solidFill>
                <a:latin typeface="Aptos"/>
              </a:defRPr>
            </a:pPr>
            <a:r>
              <a:t>Prompt Tuning — A Simple 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14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F6B7A"/>
                </a:solidFill>
                <a:latin typeface="Aptos"/>
              </a:defRPr>
            </a:pPr>
            <a:r>
              <a:t>Instead of learning words, we learn a few small vectors that steer a frozen model.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5331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F5D8C"/>
                </a:solidFill>
                <a:latin typeface="Aptos"/>
              </a:defRPr>
            </a:pPr>
            <a:r>
              <a:t>GOAL: Make a general LLM answer like a Deep Learning tutor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783080"/>
            <a:ext cx="2743200" cy="9601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202733"/>
                </a:solidFill>
                <a:latin typeface="Aptos"/>
              </a:defRPr>
            </a:pPr>
            <a:r>
              <a:t>Human prompt</a:t>
            </a:r>
            <a:br/>
            <a:br/>
            <a:r>
              <a:t>“What is backpropagation?”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794760" y="1627632"/>
            <a:ext cx="3886200" cy="1280160"/>
          </a:xfrm>
          <a:prstGeom prst="roundRect">
            <a:avLst/>
          </a:prstGeom>
          <a:solidFill>
            <a:srgbClr val="E7F3F2"/>
          </a:solidFill>
          <a:ln w="13970">
            <a:solidFill>
              <a:srgbClr val="2A7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202733"/>
                </a:solidFill>
                <a:latin typeface="Aptos"/>
              </a:defRPr>
            </a:pPr>
            <a:r>
              <a:t>Learnable soft prompt</a:t>
            </a:r>
            <a:br/>
            <a:br/>
            <a:r>
              <a:t>p₁ = [0.2, −0.4, 0.7]</a:t>
            </a:r>
            <a:br/>
            <a:r>
              <a:t>p₂ = [0.1,  0.6, 0.3]</a:t>
            </a:r>
            <a:br/>
            <a:r>
              <a:t>p₃ = [−0.5, 0.2, 0.8]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75320" y="1783080"/>
            <a:ext cx="3154680" cy="960120"/>
          </a:xfrm>
          <a:prstGeom prst="roundRect">
            <a:avLst/>
          </a:prstGeom>
          <a:solidFill>
            <a:srgbClr val="E8EEF5"/>
          </a:solidFill>
          <a:ln w="13970">
            <a:solidFill>
              <a:srgbClr val="2F5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202733"/>
                </a:solidFill>
                <a:latin typeface="Aptos"/>
              </a:defRPr>
            </a:pPr>
            <a:r>
              <a:t>Pretrained LLM</a:t>
            </a:r>
            <a:br/>
            <a:r>
              <a:t>FROZEN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93008" y="210312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2A7A7A"/>
                </a:solidFill>
                <a:latin typeface="Aptos"/>
              </a:defRPr>
            </a:pPr>
            <a:r>
              <a:t>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90688" y="210312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2A7A7A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246120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213D"/>
                </a:solidFill>
                <a:latin typeface="Aptos"/>
              </a:defRPr>
            </a:pPr>
            <a:r>
              <a:t>What enters the model?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657600"/>
            <a:ext cx="1965960" cy="685800"/>
          </a:xfrm>
          <a:prstGeom prst="roundRect">
            <a:avLst/>
          </a:prstGeom>
          <a:solidFill>
            <a:srgbClr val="F8F1E0"/>
          </a:solidFill>
          <a:ln w="13970">
            <a:solidFill>
              <a:srgbClr val="C68F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202733"/>
                </a:solidFill>
                <a:latin typeface="Aptos"/>
              </a:defRPr>
            </a:pPr>
            <a:r>
              <a:t>[ p₁ ] [ p₂ ] [ p₃ ]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971800" y="3657600"/>
            <a:ext cx="2011680" cy="6858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202733"/>
                </a:solidFill>
                <a:latin typeface="Aptos"/>
              </a:defRPr>
            </a:pPr>
            <a:r>
              <a:t>[ Explain ]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257800" y="3657600"/>
            <a:ext cx="1828800" cy="6858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202733"/>
                </a:solidFill>
                <a:latin typeface="Aptos"/>
              </a:defRPr>
            </a:pPr>
            <a:r>
              <a:t>[ back ]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0" y="3657600"/>
            <a:ext cx="2331720" cy="6858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202733"/>
                </a:solidFill>
                <a:latin typeface="Aptos"/>
              </a:defRPr>
            </a:pPr>
            <a:r>
              <a:t>[ propagation 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84080" y="3703320"/>
            <a:ext cx="1645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F5D8C"/>
                </a:solidFill>
                <a:latin typeface="Aptos"/>
              </a:defRPr>
            </a:pPr>
            <a:r>
              <a:t>→ Frozen LLM</a:t>
            </a:r>
            <a:br/>
            <a:r>
              <a:t>→ Answer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709160"/>
            <a:ext cx="3017520" cy="77724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202733"/>
                </a:solidFill>
                <a:latin typeface="Aptos"/>
              </a:defRPr>
            </a:pPr>
            <a:r>
              <a:t>Training example</a:t>
            </a:r>
            <a:br/>
            <a:r>
              <a:t>Question + desired answer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0" y="4864608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2A7A7A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34840" y="4709160"/>
            <a:ext cx="2971800" cy="777240"/>
          </a:xfrm>
          <a:prstGeom prst="roundRect">
            <a:avLst/>
          </a:prstGeom>
          <a:solidFill>
            <a:srgbClr val="F8F1E0"/>
          </a:solidFill>
          <a:ln w="13970">
            <a:solidFill>
              <a:srgbClr val="C68F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202733"/>
                </a:solidFill>
                <a:latin typeface="Aptos"/>
              </a:defRPr>
            </a:pPr>
            <a:r>
              <a:t>Loss</a:t>
            </a:r>
            <a:br/>
            <a:r>
              <a:t>“How good is the answer?”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52360" y="4864608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2A7A7A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46720" y="4709160"/>
            <a:ext cx="3337560" cy="777240"/>
          </a:xfrm>
          <a:prstGeom prst="roundRect">
            <a:avLst/>
          </a:prstGeom>
          <a:solidFill>
            <a:srgbClr val="E7F3F2"/>
          </a:solidFill>
          <a:ln w="13970">
            <a:solidFill>
              <a:srgbClr val="2A7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202733"/>
                </a:solidFill>
                <a:latin typeface="Aptos"/>
              </a:defRPr>
            </a:pPr>
            <a:r>
              <a:t>Update ONLY p₁, p₂, p₃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5806440"/>
            <a:ext cx="5212080" cy="5029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2F5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202733"/>
                </a:solidFill>
                <a:latin typeface="Aptos"/>
              </a:defRPr>
            </a:pPr>
            <a:r>
              <a:t>Prompt Engineering → human changes the words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63640" y="5806440"/>
            <a:ext cx="5212080" cy="502920"/>
          </a:xfrm>
          <a:prstGeom prst="roundRect">
            <a:avLst/>
          </a:prstGeom>
          <a:solidFill>
            <a:srgbClr val="F8F1E0"/>
          </a:solidFill>
          <a:ln w="13970">
            <a:solidFill>
              <a:srgbClr val="C68F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202733"/>
                </a:solidFill>
                <a:latin typeface="Aptos"/>
              </a:defRPr>
            </a:pPr>
            <a:r>
              <a:t>Prompt Tuning → training changes the vectors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6419088"/>
            <a:ext cx="9692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213D"/>
                </a:solidFill>
                <a:latin typeface="Aptos"/>
              </a:defRPr>
            </a:pPr>
            <a:r>
              <a:t>The base model weights never change.</a:t>
            </a:r>
          </a:p>
        </p:txBody>
      </p:sp>
    </p:spTree>
    <p:extLst>
      <p:ext uri="{BB962C8B-B14F-4D97-AF65-F5344CB8AC3E}">
        <p14:creationId xmlns:p14="http://schemas.microsoft.com/office/powerpoint/2010/main" val="300837502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4213D"/>
                </a:solidFill>
                <a:latin typeface="Aptos"/>
              </a:defRPr>
            </a:pPr>
            <a:r>
              <a:t>Prompt Tuning — Learning the Prompt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1440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F6B7A"/>
                </a:solidFill>
                <a:latin typeface="Aptos"/>
              </a:defRPr>
            </a:pPr>
            <a:r>
              <a:t>Human-written prompts vs learned soft prompts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3154680" cy="640080"/>
          </a:xfrm>
          <a:prstGeom prst="roundRect">
            <a:avLst/>
          </a:prstGeom>
          <a:solidFill>
            <a:srgbClr val="E8EEF5"/>
          </a:solidFill>
          <a:ln w="13970">
            <a:solidFill>
              <a:srgbClr val="2F5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202733"/>
                </a:solidFill>
                <a:latin typeface="Aptos"/>
              </a:defRPr>
            </a:pPr>
            <a:r>
              <a:t>Prompt Engineering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26280" y="1417320"/>
            <a:ext cx="3154680" cy="640080"/>
          </a:xfrm>
          <a:prstGeom prst="roundRect">
            <a:avLst/>
          </a:prstGeom>
          <a:solidFill>
            <a:srgbClr val="E7F3F2"/>
          </a:solidFill>
          <a:ln w="13970">
            <a:solidFill>
              <a:srgbClr val="2A7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202733"/>
                </a:solidFill>
                <a:latin typeface="Aptos"/>
              </a:defRPr>
            </a:pPr>
            <a:r>
              <a:t>Prompt Tuning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321040" y="1417320"/>
            <a:ext cx="3154680" cy="640080"/>
          </a:xfrm>
          <a:prstGeom prst="roundRect">
            <a:avLst/>
          </a:prstGeom>
          <a:solidFill>
            <a:srgbClr val="F8F1E0"/>
          </a:solidFill>
          <a:ln w="13970">
            <a:solidFill>
              <a:srgbClr val="C68F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202733"/>
                </a:solidFill>
                <a:latin typeface="Aptos"/>
              </a:defRPr>
            </a:pPr>
            <a:r>
              <a:t>LoRA / PEFT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F5D8C"/>
                </a:solidFill>
                <a:latin typeface="Aptos"/>
              </a:defRPr>
            </a:pPr>
            <a:r>
              <a:t>Human-written text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2697480"/>
            <a:ext cx="2743200" cy="7315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202733"/>
                </a:solidFill>
                <a:latin typeface="Aptos"/>
              </a:defRPr>
            </a:pPr>
            <a:r>
              <a:t>"Explain like a teacher"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09160" y="23317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A7A7A"/>
                </a:solidFill>
                <a:latin typeface="Aptos"/>
              </a:defRPr>
            </a:pPr>
            <a:r>
              <a:t>Learned continuous vectors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09160" y="2697480"/>
            <a:ext cx="2743200" cy="7315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202733"/>
                </a:solidFill>
                <a:latin typeface="Aptos"/>
              </a:defRPr>
            </a:pPr>
            <a:r>
              <a:t>[p₁ p₂ p₃ … pₘ]</a:t>
            </a:r>
            <a:br/>
            <a:r>
              <a:t>optimized during training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23317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C68F30"/>
                </a:solidFill>
                <a:latin typeface="Aptos"/>
              </a:defRPr>
            </a:pPr>
            <a:r>
              <a:t>Learned weight update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03920" y="2697480"/>
            <a:ext cx="2743200" cy="7315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202733"/>
                </a:solidFill>
                <a:latin typeface="Aptos"/>
              </a:defRPr>
            </a:pPr>
            <a:r>
              <a:t>ΔW = BA</a:t>
            </a:r>
            <a:br/>
            <a:r>
              <a:t>base weights frozen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794760" y="3063240"/>
            <a:ext cx="685800" cy="0"/>
          </a:xfrm>
          <a:prstGeom prst="line">
            <a:avLst/>
          </a:prstGeom>
          <a:ln w="25400">
            <a:solidFill>
              <a:srgbClr val="2F5D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589520" y="3063240"/>
            <a:ext cx="731520" cy="0"/>
          </a:xfrm>
          <a:prstGeom prst="line">
            <a:avLst/>
          </a:prstGeom>
          <a:ln w="25400">
            <a:solidFill>
              <a:srgbClr val="2F5D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914400" y="4114800"/>
            <a:ext cx="10332720" cy="1143000"/>
          </a:xfrm>
          <a:prstGeom prst="roundRect">
            <a:avLst/>
          </a:prstGeom>
          <a:solidFill>
            <a:srgbClr val="F8F1E0"/>
          </a:solidFill>
          <a:ln w="13970">
            <a:solidFill>
              <a:srgbClr val="C68F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0">
                <a:solidFill>
                  <a:srgbClr val="202733"/>
                </a:solidFill>
                <a:latin typeface="Aptos"/>
              </a:defRPr>
            </a:pPr>
            <a:r>
              <a:t>Prompt Engineering: no training; human designs the text prompt.</a:t>
            </a:r>
            <a:br/>
            <a:r>
              <a:t>Prompt Tuning: model is frozen; a small set of learnable prompt embeddings is optimized.</a:t>
            </a:r>
            <a:br/>
            <a:r>
              <a:t>LoRA: model is frozen; a small set of adapter parameters is optimized.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057400" y="5623560"/>
            <a:ext cx="8046720" cy="502920"/>
          </a:xfrm>
          <a:prstGeom prst="roundRect">
            <a:avLst/>
          </a:prstGeom>
          <a:solidFill>
            <a:srgbClr val="E8EEF5"/>
          </a:solidFill>
          <a:ln w="13970">
            <a:solidFill>
              <a:srgbClr val="2F5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202733"/>
                </a:solidFill>
                <a:latin typeface="Aptos"/>
              </a:defRPr>
            </a:pPr>
            <a:r>
              <a:t>Question: Where is the adaptation stored?</a:t>
            </a:r>
          </a:p>
        </p:txBody>
      </p:sp>
    </p:spTree>
    <p:extLst>
      <p:ext uri="{BB962C8B-B14F-4D97-AF65-F5344CB8AC3E}">
        <p14:creationId xmlns:p14="http://schemas.microsoft.com/office/powerpoint/2010/main" val="427551507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3B6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FINE-TUNING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5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 Fine-Tuning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457200" cy="457200"/>
          </a:xfrm>
          <a:prstGeom prst="ellipse">
            <a:avLst/>
          </a:prstGeom>
          <a:solidFill>
            <a:srgbClr val="F5F7FC"/>
          </a:solidFill>
          <a:ln w="12700">
            <a:solidFill>
              <a:srgbClr val="E3E7F1"/>
            </a:solidFill>
            <a:prstDash val="solid"/>
          </a:ln>
        </p:spPr>
      </p:sp>
      <p:pic>
        <p:nvPicPr>
          <p:cNvPr id="5" name="Image 0" descr="/home/claude/icons/play_3B6EF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783080"/>
            <a:ext cx="274320" cy="274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52144" y="1655064"/>
            <a:ext cx="102412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B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from pretrained weights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1152144" y="1911096"/>
            <a:ext cx="1024128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 every model parameter directly on the target dataset.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548640" y="2606040"/>
            <a:ext cx="457200" cy="457200"/>
          </a:xfrm>
          <a:prstGeom prst="ellipse">
            <a:avLst/>
          </a:prstGeom>
          <a:solidFill>
            <a:srgbClr val="F5F7FC"/>
          </a:solidFill>
          <a:ln w="12700">
            <a:solidFill>
              <a:srgbClr val="E3E7F1"/>
            </a:solidFill>
            <a:prstDash val="solid"/>
          </a:ln>
        </p:spPr>
      </p:sp>
      <p:pic>
        <p:nvPicPr>
          <p:cNvPr id="9" name="Image 1" descr="/home/claude/icons/server_3B6EF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2697480"/>
            <a:ext cx="274320" cy="2743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52144" y="2569464"/>
            <a:ext cx="102412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B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Expensive at scale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1152144" y="2825496"/>
            <a:ext cx="1024128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 flexibility, but optimizer states, gradients and parameter storage can be very costly.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548640" y="3520440"/>
            <a:ext cx="457200" cy="457200"/>
          </a:xfrm>
          <a:prstGeom prst="ellipse">
            <a:avLst/>
          </a:prstGeom>
          <a:solidFill>
            <a:srgbClr val="F5F7FC"/>
          </a:solidFill>
          <a:ln w="12700">
            <a:solidFill>
              <a:srgbClr val="E3E7F1"/>
            </a:solidFill>
            <a:prstDash val="solid"/>
          </a:ln>
        </p:spPr>
      </p:sp>
      <p:pic>
        <p:nvPicPr>
          <p:cNvPr id="13" name="Image 2" descr="/home/claude/icons/cpu_3B6EF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3611880"/>
            <a:ext cx="274320" cy="2743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152144" y="3483864"/>
            <a:ext cx="102412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B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Substantial GPU demand</a:t>
            </a:r>
            <a:endParaRPr lang="en-US" sz="1350" dirty="0"/>
          </a:p>
        </p:txBody>
      </p:sp>
      <p:sp>
        <p:nvSpPr>
          <p:cNvPr id="15" name="Text 10"/>
          <p:cNvSpPr/>
          <p:nvPr/>
        </p:nvSpPr>
        <p:spPr>
          <a:xfrm>
            <a:off x="1152144" y="3739896"/>
            <a:ext cx="1024128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require large GPU memory and careful hyperparameter tuning to train stably.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548640" y="4434840"/>
            <a:ext cx="457200" cy="457200"/>
          </a:xfrm>
          <a:prstGeom prst="ellipse">
            <a:avLst/>
          </a:prstGeom>
          <a:solidFill>
            <a:srgbClr val="F5F7FC"/>
          </a:solidFill>
          <a:ln w="12700">
            <a:solidFill>
              <a:srgbClr val="E3E7F1"/>
            </a:solidFill>
            <a:prstDash val="solid"/>
          </a:ln>
        </p:spPr>
      </p:sp>
      <p:pic>
        <p:nvPicPr>
          <p:cNvPr id="17" name="Image 3" descr="/home/claude/icons/alert-triangle_3B6EF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4526280"/>
            <a:ext cx="274320" cy="27432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152144" y="4398264"/>
            <a:ext cx="102412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B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Forgetting risk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1152144" y="4654296"/>
            <a:ext cx="1024128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of catastrophic forgetting or overfitting increases with small or narrow datasets.</a:t>
            </a:r>
            <a:endParaRPr lang="en-US" sz="1150" dirty="0"/>
          </a:p>
        </p:txBody>
      </p:sp>
      <p:sp>
        <p:nvSpPr>
          <p:cNvPr id="20" name="Shape 14"/>
          <p:cNvSpPr/>
          <p:nvPr/>
        </p:nvSpPr>
        <p:spPr>
          <a:xfrm>
            <a:off x="548640" y="5349240"/>
            <a:ext cx="457200" cy="457200"/>
          </a:xfrm>
          <a:prstGeom prst="ellipse">
            <a:avLst/>
          </a:prstGeom>
          <a:solidFill>
            <a:srgbClr val="F5F7FC"/>
          </a:solidFill>
          <a:ln w="12700">
            <a:solidFill>
              <a:srgbClr val="E3E7F1"/>
            </a:solidFill>
            <a:prstDash val="solid"/>
          </a:ln>
        </p:spPr>
      </p:sp>
      <p:pic>
        <p:nvPicPr>
          <p:cNvPr id="21" name="Image 4" descr="/home/claude/icons/check-circle_3B6EF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80" y="5440680"/>
            <a:ext cx="274320" cy="27432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152144" y="5312664"/>
            <a:ext cx="102412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B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it is justified</a:t>
            </a:r>
            <a:endParaRPr lang="en-US" sz="1350" dirty="0"/>
          </a:p>
        </p:txBody>
      </p:sp>
      <p:sp>
        <p:nvSpPr>
          <p:cNvPr id="23" name="Text 16"/>
          <p:cNvSpPr/>
          <p:nvPr/>
        </p:nvSpPr>
        <p:spPr>
          <a:xfrm>
            <a:off x="1152144" y="5568696"/>
            <a:ext cx="1024128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Useful when sufficient compute/data are available and deep adaptation is genuinely required.</a:t>
            </a:r>
            <a:endParaRPr lang="en-US" sz="1150" dirty="0"/>
          </a:p>
        </p:txBody>
      </p:sp>
      <p:sp>
        <p:nvSpPr>
          <p:cNvPr id="24" name="Text 1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  •  Faculty Development Program  •  12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3B6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PEFT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5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Parameter-Efficient Fine-Tuning (PEFT)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57400"/>
            <a:ext cx="457200" cy="457200"/>
          </a:xfrm>
          <a:prstGeom prst="ellipse">
            <a:avLst/>
          </a:prstGeom>
          <a:solidFill>
            <a:srgbClr val="F5F7FC"/>
          </a:solidFill>
          <a:ln w="12700">
            <a:solidFill>
              <a:srgbClr val="E3E7F1"/>
            </a:solidFill>
            <a:prstDash val="solid"/>
          </a:ln>
        </p:spPr>
      </p:sp>
      <p:pic>
        <p:nvPicPr>
          <p:cNvPr id="5" name="Image 0" descr="/home/claude/icons/lock_3B6EF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148840"/>
            <a:ext cx="274320" cy="274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52144" y="2020824"/>
            <a:ext cx="102412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B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Freeze most parameters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1152144" y="2276856"/>
            <a:ext cx="10241280" cy="704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PEFT freezes most pretrained parameters and trains only a small number of additional or modified parameters.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548640" y="3017520"/>
            <a:ext cx="457200" cy="457200"/>
          </a:xfrm>
          <a:prstGeom prst="ellipse">
            <a:avLst/>
          </a:prstGeom>
          <a:solidFill>
            <a:srgbClr val="F5F7FC"/>
          </a:solidFill>
          <a:ln w="12700">
            <a:solidFill>
              <a:srgbClr val="E3E7F1"/>
            </a:solidFill>
            <a:prstDash val="solid"/>
          </a:ln>
        </p:spPr>
      </p:sp>
      <p:pic>
        <p:nvPicPr>
          <p:cNvPr id="9" name="Image 1" descr="/home/claude/icons/zap_3B6EF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108960"/>
            <a:ext cx="274320" cy="2743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52144" y="2980944"/>
            <a:ext cx="102412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B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benefits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1152144" y="3236976"/>
            <a:ext cx="10241280" cy="704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memory use, faster experimentation, and much smaller task-specific artifacts to store and share.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548640" y="3977640"/>
            <a:ext cx="457200" cy="457200"/>
          </a:xfrm>
          <a:prstGeom prst="ellipse">
            <a:avLst/>
          </a:prstGeom>
          <a:solidFill>
            <a:srgbClr val="F5F7FC"/>
          </a:solidFill>
          <a:ln w="12700">
            <a:solidFill>
              <a:srgbClr val="E3E7F1"/>
            </a:solidFill>
            <a:prstDash val="solid"/>
          </a:ln>
        </p:spPr>
      </p:sp>
      <p:pic>
        <p:nvPicPr>
          <p:cNvPr id="13" name="Image 2" descr="/home/claude/icons/grid_3B6EF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4069080"/>
            <a:ext cx="274320" cy="2743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152144" y="3941064"/>
            <a:ext cx="102412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B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approaches</a:t>
            </a:r>
            <a:endParaRPr lang="en-US" sz="1350" dirty="0"/>
          </a:p>
        </p:txBody>
      </p:sp>
      <p:sp>
        <p:nvSpPr>
          <p:cNvPr id="15" name="Text 10"/>
          <p:cNvSpPr/>
          <p:nvPr/>
        </p:nvSpPr>
        <p:spPr>
          <a:xfrm>
            <a:off x="1152144" y="4197096"/>
            <a:ext cx="10241280" cy="704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LoRA, adapters, and prompt-based methods are the most widely used PEFT techniques.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548640" y="4937760"/>
            <a:ext cx="457200" cy="457200"/>
          </a:xfrm>
          <a:prstGeom prst="ellipse">
            <a:avLst/>
          </a:prstGeom>
          <a:solidFill>
            <a:srgbClr val="F5F7FC"/>
          </a:solidFill>
          <a:ln w="12700">
            <a:solidFill>
              <a:srgbClr val="E3E7F1"/>
            </a:solidFill>
            <a:prstDash val="solid"/>
          </a:ln>
        </p:spPr>
      </p:sp>
      <p:pic>
        <p:nvPicPr>
          <p:cNvPr id="17" name="Image 3" descr="/home/claude/icons/alert-triangle_3B6EF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5029200"/>
            <a:ext cx="274320" cy="27432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152144" y="4901184"/>
            <a:ext cx="102412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B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needs rigor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1152144" y="5157216"/>
            <a:ext cx="10241280" cy="704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PEFT does not remove the need for good data and rigorous evaluation — it only reduces compute cost.</a:t>
            </a:r>
            <a:endParaRPr lang="en-US" sz="1150" dirty="0"/>
          </a:p>
        </p:txBody>
      </p:sp>
      <p:sp>
        <p:nvSpPr>
          <p:cNvPr id="20" name="Text 1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  •  Faculty Development Program  •  13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3B6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5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LoRA — Low-Rank Adaptation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64240" cy="658368"/>
          </a:xfrm>
          <a:prstGeom prst="roundRect">
            <a:avLst>
              <a:gd name="adj" fmla="val 11111"/>
            </a:avLst>
          </a:prstGeom>
          <a:solidFill>
            <a:srgbClr val="1B2559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554480"/>
            <a:ext cx="10515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W' = W + BA        (ΔW ≈ B·A, W frozen)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514600"/>
            <a:ext cx="457200" cy="457200"/>
          </a:xfrm>
          <a:prstGeom prst="ellipse">
            <a:avLst/>
          </a:prstGeom>
          <a:solidFill>
            <a:srgbClr val="F5F7FC"/>
          </a:solidFill>
          <a:ln w="12700">
            <a:solidFill>
              <a:srgbClr val="E3E7F1"/>
            </a:solidFill>
            <a:prstDash val="solid"/>
          </a:ln>
        </p:spPr>
      </p:sp>
      <p:pic>
        <p:nvPicPr>
          <p:cNvPr id="7" name="Image 0" descr="/home/claude/icons/divide_3B6EF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606040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52144" y="2478024"/>
            <a:ext cx="47091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B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Low-rank approximation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1152144" y="2734056"/>
            <a:ext cx="4709160" cy="932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learning a full weight update ΔW, LoRA approximates it as the product of two small matrices, B·A.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548640" y="3703320"/>
            <a:ext cx="457200" cy="457200"/>
          </a:xfrm>
          <a:prstGeom prst="ellipse">
            <a:avLst/>
          </a:prstGeom>
          <a:solidFill>
            <a:srgbClr val="F5F7FC"/>
          </a:solidFill>
          <a:ln w="12700">
            <a:solidFill>
              <a:srgbClr val="E3E7F1"/>
            </a:solidFill>
            <a:prstDash val="solid"/>
          </a:ln>
        </p:spPr>
      </p:sp>
      <p:pic>
        <p:nvPicPr>
          <p:cNvPr id="11" name="Image 1" descr="/home/claude/icons/lock_3B6EF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794760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152144" y="3666744"/>
            <a:ext cx="47091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B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Frozen base weights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1152144" y="3922776"/>
            <a:ext cx="4709160" cy="932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 is frozen; only the small A and B matrices are trainable, drastically cutting parameter count.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48640" y="4892040"/>
            <a:ext cx="457200" cy="457200"/>
          </a:xfrm>
          <a:prstGeom prst="ellipse">
            <a:avLst/>
          </a:prstGeom>
          <a:solidFill>
            <a:srgbClr val="F5F7FC"/>
          </a:solidFill>
          <a:ln w="12700">
            <a:solidFill>
              <a:srgbClr val="E3E7F1"/>
            </a:solidFill>
            <a:prstDash val="solid"/>
          </a:ln>
        </p:spPr>
      </p:sp>
      <p:pic>
        <p:nvPicPr>
          <p:cNvPr id="15" name="Image 2" descr="/home/claude/icons/sliders_3B6EF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4983480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152144" y="4855464"/>
            <a:ext cx="47091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B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controls capacity</a:t>
            </a:r>
            <a:endParaRPr lang="en-US" sz="1350" dirty="0"/>
          </a:p>
        </p:txBody>
      </p:sp>
      <p:sp>
        <p:nvSpPr>
          <p:cNvPr id="17" name="Text 12"/>
          <p:cNvSpPr/>
          <p:nvPr/>
        </p:nvSpPr>
        <p:spPr>
          <a:xfrm>
            <a:off x="1152144" y="5111496"/>
            <a:ext cx="4709160" cy="932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r controls the dimensionality — and therefore the capacity — of the low-rank update.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6263640" y="2514600"/>
            <a:ext cx="457200" cy="457200"/>
          </a:xfrm>
          <a:prstGeom prst="ellipse">
            <a:avLst/>
          </a:prstGeom>
          <a:solidFill>
            <a:srgbClr val="F5F7FC"/>
          </a:solidFill>
          <a:ln w="12700">
            <a:solidFill>
              <a:srgbClr val="E3E7F1"/>
            </a:solidFill>
            <a:prstDash val="solid"/>
          </a:ln>
        </p:spPr>
      </p:sp>
      <p:pic>
        <p:nvPicPr>
          <p:cNvPr id="19" name="Image 3" descr="/home/claude/icons/target_1B2559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5080" y="2606040"/>
            <a:ext cx="274320" cy="27432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867144" y="2478024"/>
            <a:ext cx="47091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B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it's inserted</a:t>
            </a:r>
            <a:endParaRPr lang="en-US" sz="1350" dirty="0"/>
          </a:p>
        </p:txBody>
      </p:sp>
      <p:sp>
        <p:nvSpPr>
          <p:cNvPr id="21" name="Text 15"/>
          <p:cNvSpPr/>
          <p:nvPr/>
        </p:nvSpPr>
        <p:spPr>
          <a:xfrm>
            <a:off x="6867144" y="2734056"/>
            <a:ext cx="4709160" cy="932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Commonly inserted into attention projection layers such as q_proj, k_proj, v_proj and o_proj.</a:t>
            </a:r>
            <a:endParaRPr lang="en-US" sz="1150" dirty="0"/>
          </a:p>
        </p:txBody>
      </p:sp>
      <p:sp>
        <p:nvSpPr>
          <p:cNvPr id="22" name="Shape 16"/>
          <p:cNvSpPr/>
          <p:nvPr/>
        </p:nvSpPr>
        <p:spPr>
          <a:xfrm>
            <a:off x="6263640" y="3703320"/>
            <a:ext cx="457200" cy="457200"/>
          </a:xfrm>
          <a:prstGeom prst="ellipse">
            <a:avLst/>
          </a:prstGeom>
          <a:solidFill>
            <a:srgbClr val="F5F7FC"/>
          </a:solidFill>
          <a:ln w="12700">
            <a:solidFill>
              <a:srgbClr val="E3E7F1"/>
            </a:solidFill>
            <a:prstDash val="solid"/>
          </a:ln>
        </p:spPr>
      </p:sp>
      <p:pic>
        <p:nvPicPr>
          <p:cNvPr id="23" name="Image 4" descr="/home/claude/icons/save_1B2559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55080" y="3794760"/>
            <a:ext cx="274320" cy="27432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6867144" y="3666744"/>
            <a:ext cx="47091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B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Portable adapters</a:t>
            </a:r>
            <a:endParaRPr lang="en-US" sz="1350" dirty="0"/>
          </a:p>
        </p:txBody>
      </p:sp>
      <p:sp>
        <p:nvSpPr>
          <p:cNvPr id="25" name="Text 18"/>
          <p:cNvSpPr/>
          <p:nvPr/>
        </p:nvSpPr>
        <p:spPr>
          <a:xfrm>
            <a:off x="6867144" y="3922776"/>
            <a:ext cx="4709160" cy="932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Adapters can be stored separately from the base model — small files, easy to share and swap.</a:t>
            </a:r>
            <a:endParaRPr lang="en-US" sz="1150" dirty="0"/>
          </a:p>
        </p:txBody>
      </p:sp>
      <p:sp>
        <p:nvSpPr>
          <p:cNvPr id="26" name="Text 19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  •  Faculty Development Program  •  14</a:t>
            </a:r>
            <a:endParaRPr lang="en-US" sz="8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900" b="1">
                <a:solidFill>
                  <a:srgbClr val="14213D"/>
                </a:solidFill>
                <a:latin typeface="Aptos"/>
              </a:defRPr>
            </a:pPr>
            <a:r>
              <a:t>LoRA: What Does  B × A  Actually Mean?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F6B7A"/>
                </a:solidFill>
                <a:latin typeface="Aptos"/>
              </a:defRPr>
            </a:pPr>
            <a:r>
              <a:t>The low-rank update uses fewer trainable parameters than the full weight update.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794760" y="1417320"/>
            <a:ext cx="4572000" cy="713232"/>
          </a:xfrm>
          <a:prstGeom prst="roundRect">
            <a:avLst/>
          </a:prstGeom>
          <a:solidFill>
            <a:srgbClr val="F8F1E0"/>
          </a:solidFill>
          <a:ln w="15240">
            <a:solidFill>
              <a:srgbClr val="C68F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100" b="1">
                <a:solidFill>
                  <a:srgbClr val="14213D"/>
                </a:solidFill>
                <a:latin typeface="Aptos"/>
              </a:defRPr>
            </a:pPr>
            <a:r>
              <a:t>W′ = W + ΔW     where     ΔW = B 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395728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F5D8C"/>
                </a:solidFill>
                <a:latin typeface="Aptos"/>
              </a:defRPr>
            </a:pPr>
            <a:r>
              <a:t>FULL FINE-TUNING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" y="2788920"/>
            <a:ext cx="4160520" cy="1143000"/>
          </a:xfrm>
          <a:prstGeom prst="roundRect">
            <a:avLst/>
          </a:prstGeom>
          <a:solidFill>
            <a:srgbClr val="F8EAEA"/>
          </a:solidFill>
          <a:ln w="15240">
            <a:solidFill>
              <a:srgbClr val="B049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202733"/>
                </a:solidFill>
                <a:latin typeface="Aptos"/>
              </a:defRPr>
            </a:pPr>
            <a:r>
              <a:t>ΔW</a:t>
            </a:r>
            <a:br/>
            <a:r>
              <a:t>1000 × 1000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069080"/>
            <a:ext cx="4160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B04949"/>
                </a:solidFill>
                <a:latin typeface="Aptos"/>
              </a:defRPr>
            </a:pPr>
            <a:r>
              <a:t>1,000,000 trainable values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395728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A7A7A"/>
                </a:solidFill>
                <a:latin typeface="Aptos"/>
              </a:defRPr>
            </a:pPr>
            <a:r>
              <a:t>LoRA — RANK r = 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2788920"/>
            <a:ext cx="1600200" cy="1143000"/>
          </a:xfrm>
          <a:prstGeom prst="roundRect">
            <a:avLst/>
          </a:prstGeom>
          <a:solidFill>
            <a:srgbClr val="E7F3F2"/>
          </a:solidFill>
          <a:ln w="15240">
            <a:solidFill>
              <a:srgbClr val="2A7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900" b="1">
                <a:solidFill>
                  <a:srgbClr val="202733"/>
                </a:solidFill>
                <a:latin typeface="Aptos"/>
              </a:defRPr>
            </a:pPr>
            <a:r>
              <a:t>B</a:t>
            </a:r>
            <a:br/>
            <a:r>
              <a:t>1000 × 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41080" y="2788920"/>
            <a:ext cx="1600200" cy="1143000"/>
          </a:xfrm>
          <a:prstGeom prst="roundRect">
            <a:avLst/>
          </a:prstGeom>
          <a:solidFill>
            <a:srgbClr val="E7F3F2"/>
          </a:solidFill>
          <a:ln w="15240">
            <a:solidFill>
              <a:srgbClr val="2A7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900" b="1">
                <a:solidFill>
                  <a:srgbClr val="202733"/>
                </a:solidFill>
                <a:latin typeface="Aptos"/>
              </a:defRPr>
            </a:pPr>
            <a:r>
              <a:t>A</a:t>
            </a:r>
            <a:br/>
            <a:r>
              <a:t>8 × 1000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469880" y="2788920"/>
            <a:ext cx="1097280" cy="1143000"/>
          </a:xfrm>
          <a:prstGeom prst="roundRect">
            <a:avLst/>
          </a:prstGeom>
          <a:solidFill>
            <a:srgbClr val="F8F1E0"/>
          </a:solidFill>
          <a:ln w="15240">
            <a:solidFill>
              <a:srgbClr val="C68F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202733"/>
                </a:solidFill>
                <a:latin typeface="Aptos"/>
              </a:defRPr>
            </a:pPr>
            <a:r>
              <a:t>BA</a:t>
            </a:r>
            <a:br/>
            <a:r>
              <a:t>1000 × 1000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001000" y="3355848"/>
            <a:ext cx="640080" cy="0"/>
          </a:xfrm>
          <a:prstGeom prst="line">
            <a:avLst/>
          </a:prstGeom>
          <a:ln w="25400">
            <a:solidFill>
              <a:srgbClr val="2A7A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0241280" y="3355848"/>
            <a:ext cx="228600" cy="0"/>
          </a:xfrm>
          <a:prstGeom prst="line">
            <a:avLst/>
          </a:prstGeom>
          <a:ln w="25400">
            <a:solidFill>
              <a:srgbClr val="2A7A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400800" y="4069080"/>
            <a:ext cx="5166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A7A7A"/>
                </a:solidFill>
                <a:latin typeface="Aptos"/>
              </a:defRPr>
            </a:pPr>
            <a:r>
              <a:t>8,000 + 8,000 = 16,000 trainable values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61772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F5D8C"/>
                </a:solidFill>
                <a:latin typeface="Aptos"/>
              </a:defRPr>
            </a:pPr>
            <a:r>
              <a:t>Small numerical example — choose r = 1 so the parameter reduction is visible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4983480"/>
            <a:ext cx="2148840" cy="914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A7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0">
                <a:solidFill>
                  <a:srgbClr val="202733"/>
                </a:solidFill>
                <a:latin typeface="Aptos"/>
              </a:defRPr>
            </a:pPr>
            <a:r>
              <a:t>B =</a:t>
            </a:r>
            <a:br/>
            <a:r>
              <a:t>[ 2 ]</a:t>
            </a:r>
            <a:br/>
            <a:r>
              <a:t>[ 3 ]</a:t>
            </a:r>
            <a:br/>
            <a:r>
              <a:t>[ 1 ]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0" y="4983480"/>
            <a:ext cx="2331720" cy="914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A7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0">
                <a:solidFill>
                  <a:srgbClr val="202733"/>
                </a:solidFill>
                <a:latin typeface="Aptos"/>
              </a:defRPr>
            </a:pPr>
            <a:r>
              <a:t>A =</a:t>
            </a:r>
            <a:br/>
            <a:r>
              <a:t>[ 1  4  2 ]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72200" y="521208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14213D"/>
                </a:solidFill>
                <a:latin typeface="Aptos"/>
              </a:defRPr>
            </a:pPr>
            <a:r>
              <a:t>×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903720" y="4983480"/>
            <a:ext cx="3337560" cy="914400"/>
          </a:xfrm>
          <a:prstGeom prst="roundRect">
            <a:avLst/>
          </a:prstGeom>
          <a:solidFill>
            <a:srgbClr val="F8F1E0"/>
          </a:solidFill>
          <a:ln w="15240">
            <a:solidFill>
              <a:srgbClr val="C68F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202733"/>
                </a:solidFill>
                <a:latin typeface="Aptos"/>
              </a:defRPr>
            </a:pPr>
            <a:r>
              <a:t>BA =</a:t>
            </a:r>
            <a:br/>
            <a:r>
              <a:t>[ 2  8  4 ]</a:t>
            </a:r>
            <a:br/>
            <a:r>
              <a:t>[ 3  12  6 ]</a:t>
            </a:r>
            <a:br/>
            <a:r>
              <a:t>[ 1  4  2 ]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69880" y="5010912"/>
            <a:ext cx="10972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F5D8C"/>
                </a:solidFill>
                <a:latin typeface="Aptos"/>
              </a:defRPr>
            </a:pPr>
            <a:r>
              <a:t>B: 3×1</a:t>
            </a:r>
            <a:br/>
            <a:r>
              <a:t>A: 1×3</a:t>
            </a:r>
            <a:br/>
            <a:r>
              <a:t>= 6 params</a:t>
            </a:r>
            <a:br/>
            <a:br/>
            <a:r>
              <a:t>BA: 3×3</a:t>
            </a:r>
            <a:br/>
            <a:r>
              <a:t>= 9 values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6144768"/>
            <a:ext cx="10744200" cy="411480"/>
          </a:xfrm>
          <a:prstGeom prst="roundRect">
            <a:avLst/>
          </a:prstGeom>
          <a:solidFill>
            <a:srgbClr val="E8EEF5"/>
          </a:solidFill>
          <a:ln w="15240">
            <a:solidFill>
              <a:srgbClr val="2F5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14213D"/>
                </a:solidFill>
                <a:latin typeface="Aptos"/>
              </a:defRPr>
            </a:pPr>
            <a:r>
              <a:t>KEY IDEA: 3×3 full update = 9 params; rank-1 LoRA uses 3+3 = 6 trainable params.</a:t>
            </a:r>
          </a:p>
        </p:txBody>
      </p:sp>
    </p:spTree>
    <p:extLst>
      <p:ext uri="{BB962C8B-B14F-4D97-AF65-F5344CB8AC3E}">
        <p14:creationId xmlns:p14="http://schemas.microsoft.com/office/powerpoint/2010/main" val="99931512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3B6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5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LoRA: What the Rank Means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569464"/>
            <a:ext cx="5372100" cy="960120"/>
          </a:xfrm>
          <a:prstGeom prst="roundRect">
            <a:avLst>
              <a:gd name="adj" fmla="val 8571"/>
            </a:avLst>
          </a:prstGeom>
          <a:solidFill>
            <a:srgbClr val="F5F7FC"/>
          </a:solidFill>
          <a:ln w="12700">
            <a:solidFill>
              <a:srgbClr val="E3E7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2660904"/>
            <a:ext cx="515264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B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Rank (r ↓)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58368" y="3145536"/>
            <a:ext cx="5152644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trainable params</a:t>
            </a:r>
            <a:endParaRPr lang="en-US" sz="950" dirty="0"/>
          </a:p>
        </p:txBody>
      </p:sp>
      <p:pic>
        <p:nvPicPr>
          <p:cNvPr id="7" name="Image 0" descr="/home/claude/icons/arrow-right_3B6EF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8172" y="2930652"/>
            <a:ext cx="256032" cy="23774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240780" y="2569464"/>
            <a:ext cx="5372100" cy="960120"/>
          </a:xfrm>
          <a:prstGeom prst="roundRect">
            <a:avLst>
              <a:gd name="adj" fmla="val 8571"/>
            </a:avLst>
          </a:prstGeom>
          <a:solidFill>
            <a:srgbClr val="1B2559"/>
          </a:solidFill>
          <a:ln w="12700">
            <a:solidFill>
              <a:srgbClr val="1B255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350508" y="2660904"/>
            <a:ext cx="515264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Rank (r ↑)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6350508" y="3145536"/>
            <a:ext cx="5152644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capacity, more memory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548640" y="3986784"/>
            <a:ext cx="109728" cy="109728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2" name="Text 9"/>
          <p:cNvSpPr/>
          <p:nvPr/>
        </p:nvSpPr>
        <p:spPr>
          <a:xfrm>
            <a:off x="804672" y="3877056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r controls the dimensionality of the low-rank update — the core LoRA hyperparameter.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48640" y="4370832"/>
            <a:ext cx="109728" cy="109728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4" name="Text 11"/>
          <p:cNvSpPr/>
          <p:nvPr/>
        </p:nvSpPr>
        <p:spPr>
          <a:xfrm>
            <a:off x="804672" y="4261104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rank → fewer trainable parameters and lower adaptation capacity, but faster and lighter.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48640" y="4754880"/>
            <a:ext cx="109728" cy="109728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6" name="Text 13"/>
          <p:cNvSpPr/>
          <p:nvPr/>
        </p:nvSpPr>
        <p:spPr>
          <a:xfrm>
            <a:off x="804672" y="4645152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rank → more capacity, but greater memory/storage cost and potentially higher overfitting risk.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548640" y="5138928"/>
            <a:ext cx="109728" cy="109728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8" name="Text 15"/>
          <p:cNvSpPr/>
          <p:nvPr/>
        </p:nvSpPr>
        <p:spPr>
          <a:xfrm>
            <a:off x="804672" y="502920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 alpha scales the contribution of the adapter; LoRA dropout adds further regularization.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  •  Faculty Development Program  •  15</a:t>
            </a:r>
            <a:endParaRPr lang="en-US" sz="8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3B6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QLORA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5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QLoRA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457200" cy="457200"/>
          </a:xfrm>
          <a:prstGeom prst="ellipse">
            <a:avLst/>
          </a:prstGeom>
          <a:solidFill>
            <a:srgbClr val="F5F7FC"/>
          </a:solidFill>
          <a:ln w="12700">
            <a:solidFill>
              <a:srgbClr val="E3E7F1"/>
            </a:solidFill>
            <a:prstDash val="solid"/>
          </a:ln>
        </p:spPr>
      </p:sp>
      <p:pic>
        <p:nvPicPr>
          <p:cNvPr id="5" name="Image 0" descr="/home/claude/icons/layers_3B6EF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783080"/>
            <a:ext cx="274320" cy="274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52144" y="1655064"/>
            <a:ext cx="102412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B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Quantized base + LoRA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1152144" y="1911096"/>
            <a:ext cx="1024128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QLoRA combines quantized base-model weights (often 4-bit) with trainable LoRA adapters on top.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548640" y="2606040"/>
            <a:ext cx="457200" cy="457200"/>
          </a:xfrm>
          <a:prstGeom prst="ellipse">
            <a:avLst/>
          </a:prstGeom>
          <a:solidFill>
            <a:srgbClr val="F5F7FC"/>
          </a:solidFill>
          <a:ln w="12700">
            <a:solidFill>
              <a:srgbClr val="E3E7F1"/>
            </a:solidFill>
            <a:prstDash val="solid"/>
          </a:ln>
        </p:spPr>
      </p:sp>
      <p:pic>
        <p:nvPicPr>
          <p:cNvPr id="9" name="Image 1" descr="/home/claude/icons/cpu_3B6EF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2697480"/>
            <a:ext cx="274320" cy="2743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52144" y="2569464"/>
            <a:ext cx="102412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B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Lower-precision backbone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1152144" y="2825496"/>
            <a:ext cx="1024128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base model is kept in a lower-precision representation while only the LoRA parameters are trained in higher precision.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548640" y="3520440"/>
            <a:ext cx="457200" cy="457200"/>
          </a:xfrm>
          <a:prstGeom prst="ellipse">
            <a:avLst/>
          </a:prstGeom>
          <a:solidFill>
            <a:srgbClr val="F5F7FC"/>
          </a:solidFill>
          <a:ln w="12700">
            <a:solidFill>
              <a:srgbClr val="E3E7F1"/>
            </a:solidFill>
            <a:prstDash val="solid"/>
          </a:ln>
        </p:spPr>
      </p:sp>
      <p:pic>
        <p:nvPicPr>
          <p:cNvPr id="13" name="Image 2" descr="/home/claude/icons/server_3B6EF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3611880"/>
            <a:ext cx="274320" cy="2743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152144" y="3483864"/>
            <a:ext cx="102412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B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memory footprint</a:t>
            </a:r>
            <a:endParaRPr lang="en-US" sz="1350" dirty="0"/>
          </a:p>
        </p:txBody>
      </p:sp>
      <p:sp>
        <p:nvSpPr>
          <p:cNvPr id="15" name="Text 10"/>
          <p:cNvSpPr/>
          <p:nvPr/>
        </p:nvSpPr>
        <p:spPr>
          <a:xfrm>
            <a:off x="1152144" y="3739896"/>
            <a:ext cx="1024128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reduces memory requirements substantially, making larger models accessible on constrained GPUs.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548640" y="4434840"/>
            <a:ext cx="457200" cy="457200"/>
          </a:xfrm>
          <a:prstGeom prst="ellipse">
            <a:avLst/>
          </a:prstGeom>
          <a:solidFill>
            <a:srgbClr val="F5F7FC"/>
          </a:solidFill>
          <a:ln w="12700">
            <a:solidFill>
              <a:srgbClr val="E3E7F1"/>
            </a:solidFill>
            <a:prstDash val="solid"/>
          </a:ln>
        </p:spPr>
      </p:sp>
      <p:pic>
        <p:nvPicPr>
          <p:cNvPr id="17" name="Image 3" descr="/home/claude/icons/grid_3B6EF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4526280"/>
            <a:ext cx="274320" cy="27432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152144" y="4398264"/>
            <a:ext cx="102412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B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moving parts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1152144" y="4654296"/>
            <a:ext cx="1024128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components: low-bit quantization, LoRA adapters, and standard supervised fine-tuning on top.</a:t>
            </a:r>
            <a:endParaRPr lang="en-US" sz="1150" dirty="0"/>
          </a:p>
        </p:txBody>
      </p:sp>
      <p:sp>
        <p:nvSpPr>
          <p:cNvPr id="20" name="Shape 14"/>
          <p:cNvSpPr/>
          <p:nvPr/>
        </p:nvSpPr>
        <p:spPr>
          <a:xfrm>
            <a:off x="548640" y="5349240"/>
            <a:ext cx="457200" cy="457200"/>
          </a:xfrm>
          <a:prstGeom prst="ellipse">
            <a:avLst/>
          </a:prstGeom>
          <a:solidFill>
            <a:srgbClr val="F5F7FC"/>
          </a:solidFill>
          <a:ln w="12700">
            <a:solidFill>
              <a:srgbClr val="E3E7F1"/>
            </a:solidFill>
            <a:prstDash val="solid"/>
          </a:ln>
        </p:spPr>
      </p:sp>
      <p:pic>
        <p:nvPicPr>
          <p:cNvPr id="21" name="Image 4" descr="/home/claude/icons/check-circle_3B6EF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80" y="5440680"/>
            <a:ext cx="274320" cy="27432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152144" y="5312664"/>
            <a:ext cx="102412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B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reach for it</a:t>
            </a:r>
            <a:endParaRPr lang="en-US" sz="1350" dirty="0"/>
          </a:p>
        </p:txBody>
      </p:sp>
      <p:sp>
        <p:nvSpPr>
          <p:cNvPr id="23" name="Text 16"/>
          <p:cNvSpPr/>
          <p:nvPr/>
        </p:nvSpPr>
        <p:spPr>
          <a:xfrm>
            <a:off x="1152144" y="5568696"/>
            <a:ext cx="1024128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Especially useful when full-precision loading of the base model is too memory-intensive for your hardware.</a:t>
            </a:r>
            <a:endParaRPr lang="en-US" sz="1150" dirty="0"/>
          </a:p>
        </p:txBody>
      </p:sp>
      <p:sp>
        <p:nvSpPr>
          <p:cNvPr id="24" name="Text 1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  •  Faculty Development Program  •  16</a:t>
            </a:r>
            <a:endParaRPr lang="en-US" sz="8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3B6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5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Supervised Fine-Tuning (SFT)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457200" cy="457200"/>
          </a:xfrm>
          <a:prstGeom prst="ellipse">
            <a:avLst/>
          </a:prstGeom>
          <a:solidFill>
            <a:srgbClr val="F5F7FC"/>
          </a:solidFill>
          <a:ln w="12700">
            <a:solidFill>
              <a:srgbClr val="E3E7F1"/>
            </a:solidFill>
            <a:prstDash val="solid"/>
          </a:ln>
        </p:spPr>
      </p:sp>
      <p:pic>
        <p:nvPicPr>
          <p:cNvPr id="5" name="Image 0" descr="/home/claude/icons/target_3B6EF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783080"/>
            <a:ext cx="274320" cy="274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52144" y="1655064"/>
            <a:ext cx="102412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B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input/output pairs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1152144" y="1911096"/>
            <a:ext cx="1024128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SFT trains the model on input/target examples where the desired assistant response is already known.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548640" y="2606040"/>
            <a:ext cx="457200" cy="457200"/>
          </a:xfrm>
          <a:prstGeom prst="ellipse">
            <a:avLst/>
          </a:prstGeom>
          <a:solidFill>
            <a:srgbClr val="F5F7FC"/>
          </a:solidFill>
          <a:ln w="12700">
            <a:solidFill>
              <a:srgbClr val="E3E7F1"/>
            </a:solidFill>
            <a:prstDash val="solid"/>
          </a:ln>
        </p:spPr>
      </p:sp>
      <p:pic>
        <p:nvPicPr>
          <p:cNvPr id="9" name="Image 1" descr="/home/claude/icons/message-square_3B6EF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2697480"/>
            <a:ext cx="274320" cy="2743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52144" y="2569464"/>
            <a:ext cx="102412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B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Role-structured examples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1152144" y="2825496"/>
            <a:ext cx="1024128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conversational datasets, examples commonly contain system, user and assistant roles.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548640" y="3520440"/>
            <a:ext cx="457200" cy="457200"/>
          </a:xfrm>
          <a:prstGeom prst="ellipse">
            <a:avLst/>
          </a:prstGeom>
          <a:solidFill>
            <a:srgbClr val="F5F7FC"/>
          </a:solidFill>
          <a:ln w="12700">
            <a:solidFill>
              <a:srgbClr val="E3E7F1"/>
            </a:solidFill>
            <a:prstDash val="solid"/>
          </a:ln>
        </p:spPr>
      </p:sp>
      <p:pic>
        <p:nvPicPr>
          <p:cNvPr id="13" name="Image 2" descr="/home/claude/icons/bar-chart_3B6EF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3611880"/>
            <a:ext cx="274320" cy="2743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152144" y="3483864"/>
            <a:ext cx="102412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B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High-probability targets</a:t>
            </a:r>
            <a:endParaRPr lang="en-US" sz="1350" dirty="0"/>
          </a:p>
        </p:txBody>
      </p:sp>
      <p:sp>
        <p:nvSpPr>
          <p:cNvPr id="15" name="Text 10"/>
          <p:cNvSpPr/>
          <p:nvPr/>
        </p:nvSpPr>
        <p:spPr>
          <a:xfrm>
            <a:off x="1152144" y="3739896"/>
            <a:ext cx="1024128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learns to assign high probability to the target response tokens given the conversation context.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548640" y="4434840"/>
            <a:ext cx="457200" cy="457200"/>
          </a:xfrm>
          <a:prstGeom prst="ellipse">
            <a:avLst/>
          </a:prstGeom>
          <a:solidFill>
            <a:srgbClr val="F5F7FC"/>
          </a:solidFill>
          <a:ln w="12700">
            <a:solidFill>
              <a:srgbClr val="E3E7F1"/>
            </a:solidFill>
            <a:prstDash val="solid"/>
          </a:ln>
        </p:spPr>
      </p:sp>
      <p:pic>
        <p:nvPicPr>
          <p:cNvPr id="17" name="Image 3" descr="/home/claude/icons/refresh-cw_3B6EF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4526280"/>
            <a:ext cx="274320" cy="27432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152144" y="4398264"/>
            <a:ext cx="102412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B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drives updates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1152144" y="4654296"/>
            <a:ext cx="1024128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is computed from token-level predictions and backpropagated through the trainable parameters.</a:t>
            </a:r>
            <a:endParaRPr lang="en-US" sz="1150" dirty="0"/>
          </a:p>
        </p:txBody>
      </p:sp>
      <p:sp>
        <p:nvSpPr>
          <p:cNvPr id="20" name="Shape 14"/>
          <p:cNvSpPr/>
          <p:nvPr/>
        </p:nvSpPr>
        <p:spPr>
          <a:xfrm>
            <a:off x="548640" y="5349240"/>
            <a:ext cx="457200" cy="457200"/>
          </a:xfrm>
          <a:prstGeom prst="ellipse">
            <a:avLst/>
          </a:prstGeom>
          <a:solidFill>
            <a:srgbClr val="F5F7FC"/>
          </a:solidFill>
          <a:ln w="12700">
            <a:solidFill>
              <a:srgbClr val="E3E7F1"/>
            </a:solidFill>
            <a:prstDash val="solid"/>
          </a:ln>
        </p:spPr>
      </p:sp>
      <p:pic>
        <p:nvPicPr>
          <p:cNvPr id="21" name="Image 4" descr="/home/claude/icons/lock_3B6EF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80" y="5440680"/>
            <a:ext cx="274320" cy="27432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152144" y="5312664"/>
            <a:ext cx="102412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B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Compatible with LoRA</a:t>
            </a:r>
            <a:endParaRPr lang="en-US" sz="1350" dirty="0"/>
          </a:p>
        </p:txBody>
      </p:sp>
      <p:sp>
        <p:nvSpPr>
          <p:cNvPr id="23" name="Text 16"/>
          <p:cNvSpPr/>
          <p:nvPr/>
        </p:nvSpPr>
        <p:spPr>
          <a:xfrm>
            <a:off x="1152144" y="5568696"/>
            <a:ext cx="1024128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LoRA, the base model stays frozen while only the adapter parameters receive updates.</a:t>
            </a:r>
            <a:endParaRPr lang="en-US" sz="1150" dirty="0"/>
          </a:p>
        </p:txBody>
      </p:sp>
      <p:sp>
        <p:nvSpPr>
          <p:cNvPr id="24" name="Text 1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  •  Faculty Development Program  •  17</a:t>
            </a:r>
            <a:endParaRPr lang="en-US" sz="8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3B6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5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SFT Data Flow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953512"/>
            <a:ext cx="2526030" cy="960120"/>
          </a:xfrm>
          <a:prstGeom prst="roundRect">
            <a:avLst>
              <a:gd name="adj" fmla="val 8571"/>
            </a:avLst>
          </a:prstGeom>
          <a:solidFill>
            <a:srgbClr val="F5F7FC"/>
          </a:solidFill>
          <a:ln w="12700">
            <a:solidFill>
              <a:srgbClr val="E3E7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3044952"/>
            <a:ext cx="230657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B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Dataset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58368" y="3529584"/>
            <a:ext cx="2306574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/ val split</a:t>
            </a:r>
            <a:endParaRPr lang="en-US" sz="950" dirty="0"/>
          </a:p>
        </p:txBody>
      </p:sp>
      <p:pic>
        <p:nvPicPr>
          <p:cNvPr id="7" name="Image 0" descr="/home/claude/icons/arrow-right_3B6EF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2102" y="3314700"/>
            <a:ext cx="256032" cy="23774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3394710" y="2953512"/>
            <a:ext cx="2526030" cy="960120"/>
          </a:xfrm>
          <a:prstGeom prst="roundRect">
            <a:avLst>
              <a:gd name="adj" fmla="val 8571"/>
            </a:avLst>
          </a:prstGeom>
          <a:solidFill>
            <a:srgbClr val="F5F7FC"/>
          </a:solidFill>
          <a:ln w="12700">
            <a:solidFill>
              <a:srgbClr val="E3E7F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504438" y="3044952"/>
            <a:ext cx="230657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B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Tokenizer + Template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3504438" y="3529584"/>
            <a:ext cx="2306574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→ token IDs</a:t>
            </a:r>
            <a:endParaRPr lang="en-US" sz="950" dirty="0"/>
          </a:p>
        </p:txBody>
      </p:sp>
      <p:pic>
        <p:nvPicPr>
          <p:cNvPr id="11" name="Image 1" descr="/home/claude/icons/arrow-right_3B6EF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8172" y="3314700"/>
            <a:ext cx="256032" cy="237744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6240780" y="2953512"/>
            <a:ext cx="2526030" cy="960120"/>
          </a:xfrm>
          <a:prstGeom prst="roundRect">
            <a:avLst>
              <a:gd name="adj" fmla="val 8571"/>
            </a:avLst>
          </a:prstGeom>
          <a:solidFill>
            <a:srgbClr val="1B2559"/>
          </a:solidFill>
          <a:ln w="12700">
            <a:solidFill>
              <a:srgbClr val="1B2559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6350508" y="3044952"/>
            <a:ext cx="230657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Pass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6350508" y="3529584"/>
            <a:ext cx="2306574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logits per token</a:t>
            </a:r>
            <a:endParaRPr lang="en-US" sz="950" dirty="0"/>
          </a:p>
        </p:txBody>
      </p:sp>
      <p:pic>
        <p:nvPicPr>
          <p:cNvPr id="15" name="Image 2" descr="/home/claude/icons/arrow-right_3B6EF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94242" y="3314700"/>
            <a:ext cx="256032" cy="237744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9086850" y="2953512"/>
            <a:ext cx="2526030" cy="960120"/>
          </a:xfrm>
          <a:prstGeom prst="roundRect">
            <a:avLst>
              <a:gd name="adj" fmla="val 8571"/>
            </a:avLst>
          </a:prstGeom>
          <a:solidFill>
            <a:srgbClr val="F5F7FC"/>
          </a:solidFill>
          <a:ln w="12700">
            <a:solidFill>
              <a:srgbClr val="E3E7F1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9196578" y="3044952"/>
            <a:ext cx="230657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B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9196578" y="3529584"/>
            <a:ext cx="2306574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target tokens</a:t>
            </a:r>
            <a:endParaRPr lang="en-US" sz="950" dirty="0"/>
          </a:p>
        </p:txBody>
      </p:sp>
      <p:sp>
        <p:nvSpPr>
          <p:cNvPr id="19" name="Shape 14"/>
          <p:cNvSpPr/>
          <p:nvPr/>
        </p:nvSpPr>
        <p:spPr>
          <a:xfrm>
            <a:off x="548640" y="4370832"/>
            <a:ext cx="109728" cy="109728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20" name="Text 15"/>
          <p:cNvSpPr/>
          <p:nvPr/>
        </p:nvSpPr>
        <p:spPr>
          <a:xfrm>
            <a:off x="804672" y="4261104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Backpropagation calculates gradients for every trainable parameter from that loss.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548640" y="4754880"/>
            <a:ext cx="109728" cy="109728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22" name="Text 17"/>
          <p:cNvSpPr/>
          <p:nvPr/>
        </p:nvSpPr>
        <p:spPr>
          <a:xfrm>
            <a:off x="804672" y="4645152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optimizer then updates the trainable weights; validation data monitors generalization along the way.</a:t>
            </a:r>
            <a:endParaRPr lang="en-US" sz="1200" dirty="0"/>
          </a:p>
        </p:txBody>
      </p:sp>
      <p:sp>
        <p:nvSpPr>
          <p:cNvPr id="23" name="Text 1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  •  Faculty Development Program  •  18</a:t>
            </a:r>
            <a:endParaRPr lang="en-US" sz="8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3B6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MECHANICS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5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Training Mechanics: Forward Pass → Loss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761488"/>
            <a:ext cx="2526030" cy="960120"/>
          </a:xfrm>
          <a:prstGeom prst="roundRect">
            <a:avLst>
              <a:gd name="adj" fmla="val 8571"/>
            </a:avLst>
          </a:prstGeom>
          <a:solidFill>
            <a:srgbClr val="F5F7FC"/>
          </a:solidFill>
          <a:ln w="12700">
            <a:solidFill>
              <a:srgbClr val="E3E7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2852928"/>
            <a:ext cx="230657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B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Tokens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58368" y="3337560"/>
            <a:ext cx="2306574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window</a:t>
            </a:r>
            <a:endParaRPr lang="en-US" sz="950" dirty="0"/>
          </a:p>
        </p:txBody>
      </p:sp>
      <p:pic>
        <p:nvPicPr>
          <p:cNvPr id="7" name="Image 0" descr="/home/claude/icons/arrow-right_3B6EF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2102" y="3122676"/>
            <a:ext cx="256032" cy="23774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3394710" y="2761488"/>
            <a:ext cx="2526030" cy="960120"/>
          </a:xfrm>
          <a:prstGeom prst="roundRect">
            <a:avLst>
              <a:gd name="adj" fmla="val 8571"/>
            </a:avLst>
          </a:prstGeom>
          <a:solidFill>
            <a:srgbClr val="F5F7FC"/>
          </a:solidFill>
          <a:ln w="12700">
            <a:solidFill>
              <a:srgbClr val="E3E7F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504438" y="2852928"/>
            <a:ext cx="230657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B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Logits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3504438" y="3337560"/>
            <a:ext cx="2306574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over vocab</a:t>
            </a:r>
            <a:endParaRPr lang="en-US" sz="950" dirty="0"/>
          </a:p>
        </p:txBody>
      </p:sp>
      <p:pic>
        <p:nvPicPr>
          <p:cNvPr id="11" name="Image 1" descr="/home/claude/icons/arrow-right_3B6EF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8172" y="3122676"/>
            <a:ext cx="256032" cy="237744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6240780" y="2761488"/>
            <a:ext cx="2526030" cy="960120"/>
          </a:xfrm>
          <a:prstGeom prst="roundRect">
            <a:avLst>
              <a:gd name="adj" fmla="val 8571"/>
            </a:avLst>
          </a:prstGeom>
          <a:solidFill>
            <a:srgbClr val="1B2559"/>
          </a:solidFill>
          <a:ln w="12700">
            <a:solidFill>
              <a:srgbClr val="1B2559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6350508" y="2852928"/>
            <a:ext cx="230657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Softmax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6350508" y="3337560"/>
            <a:ext cx="2306574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probabilities</a:t>
            </a:r>
            <a:endParaRPr lang="en-US" sz="950" dirty="0"/>
          </a:p>
        </p:txBody>
      </p:sp>
      <p:pic>
        <p:nvPicPr>
          <p:cNvPr id="15" name="Image 2" descr="/home/claude/icons/arrow-right_3B6EF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94242" y="3122676"/>
            <a:ext cx="256032" cy="237744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9086850" y="2761488"/>
            <a:ext cx="2526030" cy="960120"/>
          </a:xfrm>
          <a:prstGeom prst="roundRect">
            <a:avLst>
              <a:gd name="adj" fmla="val 8571"/>
            </a:avLst>
          </a:prstGeom>
          <a:solidFill>
            <a:srgbClr val="F5F7FC"/>
          </a:solidFill>
          <a:ln w="12700">
            <a:solidFill>
              <a:srgbClr val="E3E7F1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9196578" y="2852928"/>
            <a:ext cx="230657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B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Cross-Entropy Loss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9196578" y="3337560"/>
            <a:ext cx="2306574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target token</a:t>
            </a:r>
            <a:endParaRPr lang="en-US" sz="950" dirty="0"/>
          </a:p>
        </p:txBody>
      </p:sp>
      <p:sp>
        <p:nvSpPr>
          <p:cNvPr id="19" name="Shape 14"/>
          <p:cNvSpPr/>
          <p:nvPr/>
        </p:nvSpPr>
        <p:spPr>
          <a:xfrm>
            <a:off x="548640" y="4178808"/>
            <a:ext cx="109728" cy="109728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20" name="Text 15"/>
          <p:cNvSpPr/>
          <p:nvPr/>
        </p:nvSpPr>
        <p:spPr>
          <a:xfrm>
            <a:off x="804672" y="406908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Cross-entropy / negative log-likelihood measures disagreement with the target tokens.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548640" y="4562856"/>
            <a:ext cx="109728" cy="109728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22" name="Text 17"/>
          <p:cNvSpPr/>
          <p:nvPr/>
        </p:nvSpPr>
        <p:spPr>
          <a:xfrm>
            <a:off x="804672" y="4453128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loss means the model assigns higher probability to the observed target sequence.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548640" y="4946904"/>
            <a:ext cx="109728" cy="109728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24" name="Text 19"/>
          <p:cNvSpPr/>
          <p:nvPr/>
        </p:nvSpPr>
        <p:spPr>
          <a:xfrm>
            <a:off x="804672" y="4837176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is a training signal — not a complete measure of real-world usefulness.</a:t>
            </a:r>
            <a:endParaRPr lang="en-US" sz="1200" dirty="0"/>
          </a:p>
        </p:txBody>
      </p:sp>
      <p:sp>
        <p:nvSpPr>
          <p:cNvPr id="25" name="Text 2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  •  Faculty Development Program  •  19</a:t>
            </a:r>
            <a:endParaRPr lang="en-US" sz="8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3B6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MECHANICS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5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Backpropagation &amp; Gradient Descent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569464"/>
            <a:ext cx="2526030" cy="960120"/>
          </a:xfrm>
          <a:prstGeom prst="roundRect">
            <a:avLst>
              <a:gd name="adj" fmla="val 8571"/>
            </a:avLst>
          </a:prstGeom>
          <a:solidFill>
            <a:srgbClr val="F5F7FC"/>
          </a:solidFill>
          <a:ln w="12700">
            <a:solidFill>
              <a:srgbClr val="E3E7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2660904"/>
            <a:ext cx="230657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B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58368" y="3145536"/>
            <a:ext cx="2306574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scalar error signal</a:t>
            </a:r>
            <a:endParaRPr lang="en-US" sz="950" dirty="0"/>
          </a:p>
        </p:txBody>
      </p:sp>
      <p:pic>
        <p:nvPicPr>
          <p:cNvPr id="7" name="Image 0" descr="/home/claude/icons/arrow-right_3B6EF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2102" y="2930652"/>
            <a:ext cx="256032" cy="23774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3394710" y="2569464"/>
            <a:ext cx="2526030" cy="960120"/>
          </a:xfrm>
          <a:prstGeom prst="roundRect">
            <a:avLst>
              <a:gd name="adj" fmla="val 8571"/>
            </a:avLst>
          </a:prstGeom>
          <a:solidFill>
            <a:srgbClr val="1B2559"/>
          </a:solidFill>
          <a:ln w="12700">
            <a:solidFill>
              <a:srgbClr val="1B255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504438" y="2660904"/>
            <a:ext cx="230657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Backpropagation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3504438" y="3145536"/>
            <a:ext cx="2306574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rule</a:t>
            </a:r>
            <a:endParaRPr lang="en-US" sz="950" dirty="0"/>
          </a:p>
        </p:txBody>
      </p:sp>
      <p:pic>
        <p:nvPicPr>
          <p:cNvPr id="11" name="Image 1" descr="/home/claude/icons/arrow-right_3B6EF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8172" y="2930652"/>
            <a:ext cx="256032" cy="237744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6240780" y="2569464"/>
            <a:ext cx="2526030" cy="960120"/>
          </a:xfrm>
          <a:prstGeom prst="roundRect">
            <a:avLst>
              <a:gd name="adj" fmla="val 8571"/>
            </a:avLst>
          </a:prstGeom>
          <a:solidFill>
            <a:srgbClr val="F5F7FC"/>
          </a:solidFill>
          <a:ln w="12700">
            <a:solidFill>
              <a:srgbClr val="E3E7F1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6350508" y="2660904"/>
            <a:ext cx="230657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B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Gradients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6350508" y="3145536"/>
            <a:ext cx="2306574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parameter</a:t>
            </a:r>
            <a:endParaRPr lang="en-US" sz="950" dirty="0"/>
          </a:p>
        </p:txBody>
      </p:sp>
      <p:pic>
        <p:nvPicPr>
          <p:cNvPr id="15" name="Image 2" descr="/home/claude/icons/arrow-right_3B6EF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94242" y="2930652"/>
            <a:ext cx="256032" cy="237744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9086850" y="2569464"/>
            <a:ext cx="2526030" cy="960120"/>
          </a:xfrm>
          <a:prstGeom prst="roundRect">
            <a:avLst>
              <a:gd name="adj" fmla="val 8571"/>
            </a:avLst>
          </a:prstGeom>
          <a:solidFill>
            <a:srgbClr val="F5F7FC"/>
          </a:solidFill>
          <a:ln w="12700">
            <a:solidFill>
              <a:srgbClr val="E3E7F1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9196578" y="2660904"/>
            <a:ext cx="230657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B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Optimizer Step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9196578" y="3145536"/>
            <a:ext cx="2306574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weights</a:t>
            </a:r>
            <a:endParaRPr lang="en-US" sz="950" dirty="0"/>
          </a:p>
        </p:txBody>
      </p:sp>
      <p:sp>
        <p:nvSpPr>
          <p:cNvPr id="19" name="Shape 14"/>
          <p:cNvSpPr/>
          <p:nvPr/>
        </p:nvSpPr>
        <p:spPr>
          <a:xfrm>
            <a:off x="548640" y="3986784"/>
            <a:ext cx="109728" cy="109728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20" name="Text 15"/>
          <p:cNvSpPr/>
          <p:nvPr/>
        </p:nvSpPr>
        <p:spPr>
          <a:xfrm>
            <a:off x="804672" y="3877056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Backpropagation applies the chain rule to compute gradients of the loss with respect to every trainable parameter.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548640" y="4370832"/>
            <a:ext cx="109728" cy="109728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22" name="Text 17"/>
          <p:cNvSpPr/>
          <p:nvPr/>
        </p:nvSpPr>
        <p:spPr>
          <a:xfrm>
            <a:off x="804672" y="4261104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Gradients indicate how a small parameter change would affect the loss; the optimizer uses them to update parameters.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548640" y="4754880"/>
            <a:ext cx="109728" cy="109728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24" name="Text 19"/>
          <p:cNvSpPr/>
          <p:nvPr/>
        </p:nvSpPr>
        <p:spPr>
          <a:xfrm>
            <a:off x="804672" y="4645152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LoRA, gradients update only the adapter parameters — the base weights remain frozen throughout.</a:t>
            </a:r>
            <a:endParaRPr lang="en-US" sz="1200" dirty="0"/>
          </a:p>
        </p:txBody>
      </p:sp>
      <p:sp>
        <p:nvSpPr>
          <p:cNvPr id="25" name="Shape 20"/>
          <p:cNvSpPr/>
          <p:nvPr/>
        </p:nvSpPr>
        <p:spPr>
          <a:xfrm>
            <a:off x="548640" y="5138928"/>
            <a:ext cx="109728" cy="109728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26" name="Text 21"/>
          <p:cNvSpPr/>
          <p:nvPr/>
        </p:nvSpPr>
        <p:spPr>
          <a:xfrm>
            <a:off x="804672" y="502920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rate controls the scale of each optimizer update — too high overshoots, too low stalls training.</a:t>
            </a:r>
            <a:endParaRPr lang="en-US" sz="1200" dirty="0"/>
          </a:p>
        </p:txBody>
      </p:sp>
      <p:sp>
        <p:nvSpPr>
          <p:cNvPr id="27" name="Text 2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  •  Faculty Development Program  •  20</a:t>
            </a:r>
            <a:endParaRPr lang="en-US" sz="8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3B6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MECHANICS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5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Training Hyperparameters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457200" cy="457200"/>
          </a:xfrm>
          <a:prstGeom prst="ellipse">
            <a:avLst/>
          </a:prstGeom>
          <a:solidFill>
            <a:srgbClr val="F5F7FC"/>
          </a:solidFill>
          <a:ln w="12700">
            <a:solidFill>
              <a:srgbClr val="E3E7F1"/>
            </a:solidFill>
            <a:prstDash val="solid"/>
          </a:ln>
        </p:spPr>
      </p:sp>
      <p:pic>
        <p:nvPicPr>
          <p:cNvPr id="5" name="Image 0" descr="/home/claude/icons/trending-up_3B6EF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286000"/>
            <a:ext cx="274320" cy="274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52144" y="2157984"/>
            <a:ext cx="47091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B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rate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1152144" y="2414016"/>
            <a:ext cx="4709160" cy="932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 the magnitude of each parameter update — the single most sensitive hyperparameter.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548640" y="3383280"/>
            <a:ext cx="457200" cy="457200"/>
          </a:xfrm>
          <a:prstGeom prst="ellipse">
            <a:avLst/>
          </a:prstGeom>
          <a:solidFill>
            <a:srgbClr val="F5F7FC"/>
          </a:solidFill>
          <a:ln w="12700">
            <a:solidFill>
              <a:srgbClr val="E3E7F1"/>
            </a:solidFill>
            <a:prstDash val="solid"/>
          </a:ln>
        </p:spPr>
      </p:sp>
      <p:pic>
        <p:nvPicPr>
          <p:cNvPr id="9" name="Image 1" descr="/home/claude/icons/layers_3B6EF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474720"/>
            <a:ext cx="274320" cy="2743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52144" y="3346704"/>
            <a:ext cx="47091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B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size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1152144" y="3602736"/>
            <a:ext cx="4709160" cy="932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examples processed per forward/backward pass before an update.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548640" y="4572000"/>
            <a:ext cx="457200" cy="457200"/>
          </a:xfrm>
          <a:prstGeom prst="ellipse">
            <a:avLst/>
          </a:prstGeom>
          <a:solidFill>
            <a:srgbClr val="F5F7FC"/>
          </a:solidFill>
          <a:ln w="12700">
            <a:solidFill>
              <a:srgbClr val="E3E7F1"/>
            </a:solidFill>
            <a:prstDash val="solid"/>
          </a:ln>
        </p:spPr>
      </p:sp>
      <p:pic>
        <p:nvPicPr>
          <p:cNvPr id="13" name="Image 2" descr="/home/claude/icons/refresh-cw_3B6EF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4663440"/>
            <a:ext cx="274320" cy="2743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152144" y="4535424"/>
            <a:ext cx="47091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B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accumulation</a:t>
            </a:r>
            <a:endParaRPr lang="en-US" sz="1350" dirty="0"/>
          </a:p>
        </p:txBody>
      </p:sp>
      <p:sp>
        <p:nvSpPr>
          <p:cNvPr id="15" name="Text 10"/>
          <p:cNvSpPr/>
          <p:nvPr/>
        </p:nvSpPr>
        <p:spPr>
          <a:xfrm>
            <a:off x="1152144" y="4791456"/>
            <a:ext cx="4709160" cy="932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Simulates a larger effective batch using several smaller, memory-friendly batches.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6263640" y="2194560"/>
            <a:ext cx="457200" cy="457200"/>
          </a:xfrm>
          <a:prstGeom prst="ellipse">
            <a:avLst/>
          </a:prstGeom>
          <a:solidFill>
            <a:srgbClr val="F5F7FC"/>
          </a:solidFill>
          <a:ln w="12700">
            <a:solidFill>
              <a:srgbClr val="E3E7F1"/>
            </a:solidFill>
            <a:prstDash val="solid"/>
          </a:ln>
        </p:spPr>
      </p:sp>
      <p:pic>
        <p:nvPicPr>
          <p:cNvPr id="17" name="Image 3" descr="/home/claude/icons/clock_1B2559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5080" y="2286000"/>
            <a:ext cx="274320" cy="27432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867144" y="2157984"/>
            <a:ext cx="47091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B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Epochs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6867144" y="2414016"/>
            <a:ext cx="4709160" cy="932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complete passes through the training data.</a:t>
            </a:r>
            <a:endParaRPr lang="en-US" sz="1150" dirty="0"/>
          </a:p>
        </p:txBody>
      </p:sp>
      <p:sp>
        <p:nvSpPr>
          <p:cNvPr id="20" name="Shape 14"/>
          <p:cNvSpPr/>
          <p:nvPr/>
        </p:nvSpPr>
        <p:spPr>
          <a:xfrm>
            <a:off x="6263640" y="3383280"/>
            <a:ext cx="457200" cy="457200"/>
          </a:xfrm>
          <a:prstGeom prst="ellipse">
            <a:avLst/>
          </a:prstGeom>
          <a:solidFill>
            <a:srgbClr val="F5F7FC"/>
          </a:solidFill>
          <a:ln w="12700">
            <a:solidFill>
              <a:srgbClr val="E3E7F1"/>
            </a:solidFill>
            <a:prstDash val="solid"/>
          </a:ln>
        </p:spPr>
      </p:sp>
      <p:pic>
        <p:nvPicPr>
          <p:cNvPr id="21" name="Image 4" descr="/home/claude/icons/sliders_1B2559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55080" y="3474720"/>
            <a:ext cx="274320" cy="27432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6867144" y="3346704"/>
            <a:ext cx="47091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B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 rank, alpha, dropout</a:t>
            </a:r>
            <a:endParaRPr lang="en-US" sz="1350" dirty="0"/>
          </a:p>
        </p:txBody>
      </p:sp>
      <p:sp>
        <p:nvSpPr>
          <p:cNvPr id="23" name="Text 16"/>
          <p:cNvSpPr/>
          <p:nvPr/>
        </p:nvSpPr>
        <p:spPr>
          <a:xfrm>
            <a:off x="6867144" y="3602736"/>
            <a:ext cx="4709160" cy="932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adapter capacity and regularization strength.</a:t>
            </a:r>
            <a:endParaRPr lang="en-US" sz="1150" dirty="0"/>
          </a:p>
        </p:txBody>
      </p:sp>
      <p:sp>
        <p:nvSpPr>
          <p:cNvPr id="24" name="Shape 17"/>
          <p:cNvSpPr/>
          <p:nvPr/>
        </p:nvSpPr>
        <p:spPr>
          <a:xfrm>
            <a:off x="6263640" y="4572000"/>
            <a:ext cx="457200" cy="457200"/>
          </a:xfrm>
          <a:prstGeom prst="ellipse">
            <a:avLst/>
          </a:prstGeom>
          <a:solidFill>
            <a:srgbClr val="F5F7FC"/>
          </a:solidFill>
          <a:ln w="12700">
            <a:solidFill>
              <a:srgbClr val="E3E7F1"/>
            </a:solidFill>
            <a:prstDash val="solid"/>
          </a:ln>
        </p:spPr>
      </p:sp>
      <p:pic>
        <p:nvPicPr>
          <p:cNvPr id="25" name="Image 5" descr="/home/claude/icons/hash_1B2559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55080" y="4663440"/>
            <a:ext cx="274320" cy="27432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6867144" y="4535424"/>
            <a:ext cx="47091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B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 length</a:t>
            </a:r>
            <a:endParaRPr lang="en-US" sz="1350" dirty="0"/>
          </a:p>
        </p:txBody>
      </p:sp>
      <p:sp>
        <p:nvSpPr>
          <p:cNvPr id="27" name="Text 19"/>
          <p:cNvSpPr/>
          <p:nvPr/>
        </p:nvSpPr>
        <p:spPr>
          <a:xfrm>
            <a:off x="6867144" y="4791456"/>
            <a:ext cx="4709160" cy="932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Affects compute and memory consumption for every batch.</a:t>
            </a:r>
            <a:endParaRPr lang="en-US" sz="1150" dirty="0"/>
          </a:p>
        </p:txBody>
      </p:sp>
      <p:sp>
        <p:nvSpPr>
          <p:cNvPr id="28" name="Text 2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  •  Faculty Development Program  •  21</a:t>
            </a:r>
            <a:endParaRPr lang="en-US" sz="8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3B6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5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Training vs Validation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72100" cy="3794760"/>
          </a:xfrm>
          <a:prstGeom prst="roundRect">
            <a:avLst>
              <a:gd name="adj" fmla="val 2410"/>
            </a:avLst>
          </a:prstGeom>
          <a:solidFill>
            <a:srgbClr val="F5F7FC"/>
          </a:solidFill>
          <a:ln w="12700">
            <a:solidFill>
              <a:srgbClr val="E3E7F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920240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3E7F1"/>
            </a:solidFill>
            <a:prstDash val="solid"/>
          </a:ln>
        </p:spPr>
      </p:sp>
      <p:pic>
        <p:nvPicPr>
          <p:cNvPr id="6" name="Image 0" descr="/home/claude/icons/trending-down_3B6EF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2011680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2496312"/>
            <a:ext cx="49149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B25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Healthy Pattern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77240" y="315468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B6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987552" y="3154680"/>
            <a:ext cx="46863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loss decreases as parameters update.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777240" y="3648456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B6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987552" y="3648456"/>
            <a:ext cx="46863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data contributes directly to updates.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777240" y="4142232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B6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987552" y="4142232"/>
            <a:ext cx="46863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↓ + validation ↓ is generally encouraging.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6240780" y="1691640"/>
            <a:ext cx="5372100" cy="3794760"/>
          </a:xfrm>
          <a:prstGeom prst="roundRect">
            <a:avLst>
              <a:gd name="adj" fmla="val 2410"/>
            </a:avLst>
          </a:prstGeom>
          <a:solidFill>
            <a:srgbClr val="1B2559"/>
          </a:solidFill>
          <a:ln w="12700">
            <a:solidFill>
              <a:srgbClr val="1B2559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469380" y="1920240"/>
            <a:ext cx="457200" cy="457200"/>
          </a:xfrm>
          <a:prstGeom prst="ellipse">
            <a:avLst/>
          </a:prstGeom>
          <a:solidFill>
            <a:srgbClr val="3B6EF0"/>
          </a:solidFill>
          <a:ln w="12700">
            <a:solidFill>
              <a:srgbClr val="3B6EF0"/>
            </a:solidFill>
            <a:prstDash val="solid"/>
          </a:ln>
        </p:spPr>
      </p:sp>
      <p:pic>
        <p:nvPicPr>
          <p:cNvPr id="16" name="Image 1" descr="/home/claude/icons/alert-triangle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0820" y="2011680"/>
            <a:ext cx="274320" cy="27432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6469380" y="2496312"/>
            <a:ext cx="49149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Overfitting Pattern</a:t>
            </a:r>
            <a:endParaRPr lang="en-US" sz="1500" dirty="0"/>
          </a:p>
        </p:txBody>
      </p:sp>
      <p:sp>
        <p:nvSpPr>
          <p:cNvPr id="18" name="Text 14"/>
          <p:cNvSpPr/>
          <p:nvPr/>
        </p:nvSpPr>
        <p:spPr>
          <a:xfrm>
            <a:off x="6469380" y="315468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6679692" y="3154680"/>
            <a:ext cx="46863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D8D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data never contributes to updates — it only measures generalization.</a:t>
            </a:r>
            <a:endParaRPr lang="en-US" sz="1050" dirty="0"/>
          </a:p>
        </p:txBody>
      </p:sp>
      <p:sp>
        <p:nvSpPr>
          <p:cNvPr id="20" name="Text 16"/>
          <p:cNvSpPr/>
          <p:nvPr/>
        </p:nvSpPr>
        <p:spPr>
          <a:xfrm>
            <a:off x="6469380" y="3867912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6679692" y="3867912"/>
            <a:ext cx="46863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D8D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loss stops improving or starts rising.</a:t>
            </a:r>
            <a:endParaRPr lang="en-US" sz="1050" dirty="0"/>
          </a:p>
        </p:txBody>
      </p:sp>
      <p:sp>
        <p:nvSpPr>
          <p:cNvPr id="22" name="Text 18"/>
          <p:cNvSpPr/>
          <p:nvPr/>
        </p:nvSpPr>
        <p:spPr>
          <a:xfrm>
            <a:off x="6469380" y="4361688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23" name="Text 19"/>
          <p:cNvSpPr/>
          <p:nvPr/>
        </p:nvSpPr>
        <p:spPr>
          <a:xfrm>
            <a:off x="6679692" y="4361688"/>
            <a:ext cx="46863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D8D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↓ + validation ↑ can indicate overfitting.</a:t>
            </a:r>
            <a:endParaRPr lang="en-US" sz="1050" dirty="0"/>
          </a:p>
        </p:txBody>
      </p:sp>
      <p:sp>
        <p:nvSpPr>
          <p:cNvPr id="24" name="Shape 20"/>
          <p:cNvSpPr/>
          <p:nvPr/>
        </p:nvSpPr>
        <p:spPr>
          <a:xfrm>
            <a:off x="548640" y="5715000"/>
            <a:ext cx="11064240" cy="502920"/>
          </a:xfrm>
          <a:prstGeom prst="roundRect">
            <a:avLst>
              <a:gd name="adj" fmla="val 14545"/>
            </a:avLst>
          </a:prstGeom>
          <a:solidFill>
            <a:srgbClr val="F5F7FC"/>
          </a:solidFill>
          <a:ln w="12700">
            <a:solidFill>
              <a:srgbClr val="E3E7F1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777240" y="5715000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1B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performance should always be interpreted together with task-specific output quality — not loss numbers alone.</a:t>
            </a:r>
            <a:endParaRPr lang="en-US" sz="1150" dirty="0"/>
          </a:p>
        </p:txBody>
      </p:sp>
      <p:sp>
        <p:nvSpPr>
          <p:cNvPr id="26" name="Text 2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  •  Faculty Development Program  •  22</a:t>
            </a:r>
            <a:endParaRPr lang="en-US" sz="8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3B6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5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Evaluating a Fine-Tuned LLM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457200" cy="457200"/>
          </a:xfrm>
          <a:prstGeom prst="ellipse">
            <a:avLst/>
          </a:prstGeom>
          <a:solidFill>
            <a:srgbClr val="F5F7FC"/>
          </a:solidFill>
          <a:ln w="12700">
            <a:solidFill>
              <a:srgbClr val="E3E7F1"/>
            </a:solidFill>
            <a:prstDash val="solid"/>
          </a:ln>
        </p:spPr>
      </p:sp>
      <p:pic>
        <p:nvPicPr>
          <p:cNvPr id="5" name="Image 0" descr="/home/claude/icons/bar-chart_3B6EF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783080"/>
            <a:ext cx="274320" cy="274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52144" y="1655064"/>
            <a:ext cx="102412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B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Intrinsic metrics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1152144" y="1911096"/>
            <a:ext cx="1024128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loss, validation loss and perplexity — fast, automatic, but indirect signals.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548640" y="2606040"/>
            <a:ext cx="457200" cy="457200"/>
          </a:xfrm>
          <a:prstGeom prst="ellipse">
            <a:avLst/>
          </a:prstGeom>
          <a:solidFill>
            <a:srgbClr val="F5F7FC"/>
          </a:solidFill>
          <a:ln w="12700">
            <a:solidFill>
              <a:srgbClr val="E3E7F1"/>
            </a:solidFill>
            <a:prstDash val="solid"/>
          </a:ln>
        </p:spPr>
      </p:sp>
      <p:pic>
        <p:nvPicPr>
          <p:cNvPr id="9" name="Image 1" descr="/home/claude/icons/target_3B6EF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2697480"/>
            <a:ext cx="274320" cy="2743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52144" y="2569464"/>
            <a:ext cx="102412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B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metrics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1152144" y="2825496"/>
            <a:ext cx="1024128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Accuracy, F1, exact match or other task-specific measures where ground truth is well-defined.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548640" y="3520440"/>
            <a:ext cx="457200" cy="457200"/>
          </a:xfrm>
          <a:prstGeom prst="ellipse">
            <a:avLst/>
          </a:prstGeom>
          <a:solidFill>
            <a:srgbClr val="F5F7FC"/>
          </a:solidFill>
          <a:ln w="12700">
            <a:solidFill>
              <a:srgbClr val="E3E7F1"/>
            </a:solidFill>
            <a:prstDash val="solid"/>
          </a:ln>
        </p:spPr>
      </p:sp>
      <p:pic>
        <p:nvPicPr>
          <p:cNvPr id="13" name="Image 2" descr="/home/claude/icons/eye_3B6EF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3611880"/>
            <a:ext cx="274320" cy="2743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152144" y="3483864"/>
            <a:ext cx="102412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B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Qualitative evaluation</a:t>
            </a:r>
            <a:endParaRPr lang="en-US" sz="1350" dirty="0"/>
          </a:p>
        </p:txBody>
      </p:sp>
      <p:sp>
        <p:nvSpPr>
          <p:cNvPr id="15" name="Text 10"/>
          <p:cNvSpPr/>
          <p:nvPr/>
        </p:nvSpPr>
        <p:spPr>
          <a:xfrm>
            <a:off x="1152144" y="3739896"/>
            <a:ext cx="1024128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Correctness, relevance, clarity, consistency and style — read the outputs, not just the numbers.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548640" y="4434840"/>
            <a:ext cx="457200" cy="457200"/>
          </a:xfrm>
          <a:prstGeom prst="ellipse">
            <a:avLst/>
          </a:prstGeom>
          <a:solidFill>
            <a:srgbClr val="F5F7FC"/>
          </a:solidFill>
          <a:ln w="12700">
            <a:solidFill>
              <a:srgbClr val="E3E7F1"/>
            </a:solidFill>
            <a:prstDash val="solid"/>
          </a:ln>
        </p:spPr>
      </p:sp>
      <p:pic>
        <p:nvPicPr>
          <p:cNvPr id="17" name="Image 3" descr="/home/claude/icons/users_3B6EF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4526280"/>
            <a:ext cx="274320" cy="27432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152144" y="4398264"/>
            <a:ext cx="102412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B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evaluation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1152144" y="4654296"/>
            <a:ext cx="1024128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Especially valuable for open-ended generation where there is no single correct answer.</a:t>
            </a:r>
            <a:endParaRPr lang="en-US" sz="1150" dirty="0"/>
          </a:p>
        </p:txBody>
      </p:sp>
      <p:sp>
        <p:nvSpPr>
          <p:cNvPr id="20" name="Shape 14"/>
          <p:cNvSpPr/>
          <p:nvPr/>
        </p:nvSpPr>
        <p:spPr>
          <a:xfrm>
            <a:off x="548640" y="5349240"/>
            <a:ext cx="457200" cy="457200"/>
          </a:xfrm>
          <a:prstGeom prst="ellipse">
            <a:avLst/>
          </a:prstGeom>
          <a:solidFill>
            <a:srgbClr val="F5F7FC"/>
          </a:solidFill>
          <a:ln w="12700">
            <a:solidFill>
              <a:srgbClr val="E3E7F1"/>
            </a:solidFill>
            <a:prstDash val="solid"/>
          </a:ln>
        </p:spPr>
      </p:sp>
      <p:pic>
        <p:nvPicPr>
          <p:cNvPr id="21" name="Image 4" descr="/home/claude/icons/search_3B6EF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80" y="5440680"/>
            <a:ext cx="274320" cy="27432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152144" y="5312664"/>
            <a:ext cx="102412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B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LLM-as-a-judge</a:t>
            </a:r>
            <a:endParaRPr lang="en-US" sz="1350" dirty="0"/>
          </a:p>
        </p:txBody>
      </p:sp>
      <p:sp>
        <p:nvSpPr>
          <p:cNvPr id="23" name="Text 16"/>
          <p:cNvSpPr/>
          <p:nvPr/>
        </p:nvSpPr>
        <p:spPr>
          <a:xfrm>
            <a:off x="1152144" y="5568696"/>
            <a:ext cx="1024128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scale evaluation efficiently, but introduces its own biases and should be validated against humans.</a:t>
            </a:r>
            <a:endParaRPr lang="en-US" sz="1150" dirty="0"/>
          </a:p>
        </p:txBody>
      </p:sp>
      <p:sp>
        <p:nvSpPr>
          <p:cNvPr id="24" name="Text 1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  •  Faculty Development Program  •  23</a:t>
            </a:r>
            <a:endParaRPr lang="en-US" sz="8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3B6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DECISIONS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5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Fine-Tuning vs RAG vs Prompting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474720" cy="3794760"/>
          </a:xfrm>
          <a:prstGeom prst="roundRect">
            <a:avLst>
              <a:gd name="adj" fmla="val 2632"/>
            </a:avLst>
          </a:prstGeom>
          <a:solidFill>
            <a:srgbClr val="F5F7FC"/>
          </a:solidFill>
          <a:ln w="12700">
            <a:solidFill>
              <a:srgbClr val="E3E7F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920240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3E7F1"/>
            </a:solidFill>
            <a:prstDash val="solid"/>
          </a:ln>
        </p:spPr>
      </p:sp>
      <p:pic>
        <p:nvPicPr>
          <p:cNvPr id="6" name="Image 0" descr="/home/claude/icons/message-square_3B6EF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2011680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2496312"/>
            <a:ext cx="30175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B25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Prompt Engineering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77240" y="315468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B6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987552" y="3154680"/>
            <a:ext cx="27889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instructions/context without any training.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777240" y="3648456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B6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987552" y="3648456"/>
            <a:ext cx="27889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Fastest to iterate; limited by context window.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343400" y="1691640"/>
            <a:ext cx="3474720" cy="3794760"/>
          </a:xfrm>
          <a:prstGeom prst="roundRect">
            <a:avLst>
              <a:gd name="adj" fmla="val 2632"/>
            </a:avLst>
          </a:prstGeom>
          <a:solidFill>
            <a:srgbClr val="F5F7FC"/>
          </a:solidFill>
          <a:ln w="12700">
            <a:solidFill>
              <a:srgbClr val="E3E7F1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572000" y="1920240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3E7F1"/>
            </a:solidFill>
            <a:prstDash val="solid"/>
          </a:ln>
        </p:spPr>
      </p:sp>
      <p:pic>
        <p:nvPicPr>
          <p:cNvPr id="14" name="Image 1" descr="/home/claude/icons/database_3B6EF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2011680"/>
            <a:ext cx="274320" cy="27432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572000" y="2496312"/>
            <a:ext cx="30175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B25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RAG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4572000" y="315468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B6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4782312" y="3154680"/>
            <a:ext cx="27889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 external knowledge, feed it to the model at inference time.</a:t>
            </a:r>
            <a:endParaRPr lang="en-US" sz="1050" dirty="0"/>
          </a:p>
        </p:txBody>
      </p:sp>
      <p:sp>
        <p:nvSpPr>
          <p:cNvPr id="18" name="Text 14"/>
          <p:cNvSpPr/>
          <p:nvPr/>
        </p:nvSpPr>
        <p:spPr>
          <a:xfrm>
            <a:off x="4572000" y="3648456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B6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4782312" y="3648456"/>
            <a:ext cx="27889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 fast-changing or proprietary knowledge.</a:t>
            </a:r>
            <a:endParaRPr lang="en-US" sz="1050" dirty="0"/>
          </a:p>
        </p:txBody>
      </p:sp>
      <p:sp>
        <p:nvSpPr>
          <p:cNvPr id="20" name="Shape 16"/>
          <p:cNvSpPr/>
          <p:nvPr/>
        </p:nvSpPr>
        <p:spPr>
          <a:xfrm>
            <a:off x="8138160" y="1691640"/>
            <a:ext cx="3474720" cy="3794760"/>
          </a:xfrm>
          <a:prstGeom prst="roundRect">
            <a:avLst>
              <a:gd name="adj" fmla="val 2632"/>
            </a:avLst>
          </a:prstGeom>
          <a:solidFill>
            <a:srgbClr val="1B2559"/>
          </a:solidFill>
          <a:ln w="12700">
            <a:solidFill>
              <a:srgbClr val="1B2559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8366760" y="1920240"/>
            <a:ext cx="457200" cy="457200"/>
          </a:xfrm>
          <a:prstGeom prst="ellipse">
            <a:avLst/>
          </a:prstGeom>
          <a:solidFill>
            <a:srgbClr val="3B6EF0"/>
          </a:solidFill>
          <a:ln w="12700">
            <a:solidFill>
              <a:srgbClr val="3B6EF0"/>
            </a:solidFill>
            <a:prstDash val="solid"/>
          </a:ln>
        </p:spPr>
      </p:sp>
      <p:pic>
        <p:nvPicPr>
          <p:cNvPr id="22" name="Image 2" descr="/home/claude/icons/zap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58200" y="2011680"/>
            <a:ext cx="274320" cy="27432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8366760" y="2496312"/>
            <a:ext cx="30175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Fine-Tuning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8366760" y="315468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25" name="Text 20"/>
          <p:cNvSpPr/>
          <p:nvPr/>
        </p:nvSpPr>
        <p:spPr>
          <a:xfrm>
            <a:off x="8577072" y="3154680"/>
            <a:ext cx="27889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D8D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 behavior, task execution or response style through training.</a:t>
            </a:r>
            <a:endParaRPr lang="en-US" sz="1050" dirty="0"/>
          </a:p>
        </p:txBody>
      </p:sp>
      <p:sp>
        <p:nvSpPr>
          <p:cNvPr id="26" name="Text 21"/>
          <p:cNvSpPr/>
          <p:nvPr/>
        </p:nvSpPr>
        <p:spPr>
          <a:xfrm>
            <a:off x="8366760" y="3648456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27" name="Text 22"/>
          <p:cNvSpPr/>
          <p:nvPr/>
        </p:nvSpPr>
        <p:spPr>
          <a:xfrm>
            <a:off x="8577072" y="3648456"/>
            <a:ext cx="27889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D8D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 consistent style, format or specialized skill.</a:t>
            </a:r>
            <a:endParaRPr lang="en-US" sz="1050" dirty="0"/>
          </a:p>
        </p:txBody>
      </p:sp>
      <p:sp>
        <p:nvSpPr>
          <p:cNvPr id="28" name="Shape 23"/>
          <p:cNvSpPr/>
          <p:nvPr/>
        </p:nvSpPr>
        <p:spPr>
          <a:xfrm>
            <a:off x="548640" y="5715000"/>
            <a:ext cx="11064240" cy="502920"/>
          </a:xfrm>
          <a:prstGeom prst="roundRect">
            <a:avLst>
              <a:gd name="adj" fmla="val 14545"/>
            </a:avLst>
          </a:prstGeom>
          <a:solidFill>
            <a:srgbClr val="F5F7FC"/>
          </a:solidFill>
          <a:ln w="12700">
            <a:solidFill>
              <a:srgbClr val="E3E7F1"/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777240" y="5715000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1B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and fine-tuning can be combined for systems needing both reliable external knowledge and specialized behavior. Choose the simplest approach that reliably solves the problem.</a:t>
            </a:r>
            <a:endParaRPr lang="en-US" sz="1150" dirty="0"/>
          </a:p>
        </p:txBody>
      </p:sp>
      <p:sp>
        <p:nvSpPr>
          <p:cNvPr id="30" name="Text 2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  •  Faculty Development Program  •  24</a:t>
            </a:r>
            <a:endParaRPr lang="en-US" sz="8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3B6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5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Session 1 — Key Takeaways</a:t>
            </a:r>
            <a:endParaRPr lang="en-US" sz="3000" dirty="0"/>
          </a:p>
        </p:txBody>
      </p:sp>
      <p:pic>
        <p:nvPicPr>
          <p:cNvPr id="4" name="Image 0" descr="/home/claude/icons/check-circle_3B6EF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487168"/>
            <a:ext cx="237744" cy="23774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96112" y="2414016"/>
            <a:ext cx="49834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B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are pretrained general-purpose models that can be adapted for specialized behavior.</a:t>
            </a:r>
            <a:endParaRPr lang="en-US" sz="1250" dirty="0"/>
          </a:p>
        </p:txBody>
      </p:sp>
      <p:pic>
        <p:nvPicPr>
          <p:cNvPr id="6" name="Image 1" descr="/home/claude/icons/check-circle_3B6EF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264408"/>
            <a:ext cx="237744" cy="23774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96112" y="3191256"/>
            <a:ext cx="49834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B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is fundamentally different from prompting and prompt tuning.</a:t>
            </a:r>
            <a:endParaRPr lang="en-US" sz="1250" dirty="0"/>
          </a:p>
        </p:txBody>
      </p:sp>
      <p:pic>
        <p:nvPicPr>
          <p:cNvPr id="8" name="Image 2" descr="/home/claude/icons/check-circle_3B6EF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041648"/>
            <a:ext cx="237744" cy="237744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896112" y="3968496"/>
            <a:ext cx="49834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B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LoRA/QLoRA make adaptation substantially more practical under limited compute.</a:t>
            </a:r>
            <a:endParaRPr lang="en-US" sz="1250" dirty="0"/>
          </a:p>
        </p:txBody>
      </p:sp>
      <p:pic>
        <p:nvPicPr>
          <p:cNvPr id="10" name="Image 3" descr="/home/claude/icons/check-circle_3B6EF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2487168"/>
            <a:ext cx="237744" cy="237744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611112" y="2414016"/>
            <a:ext cx="49834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B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SFT connects supervised input/output examples to the language-model training objective.</a:t>
            </a:r>
            <a:endParaRPr lang="en-US" sz="1250" dirty="0"/>
          </a:p>
        </p:txBody>
      </p:sp>
      <p:pic>
        <p:nvPicPr>
          <p:cNvPr id="12" name="Image 4" descr="/home/claude/icons/check-circle_3B6EF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3264408"/>
            <a:ext cx="237744" cy="237744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6611112" y="3191256"/>
            <a:ext cx="49834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B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metrics are useful, but final evaluation must measure the behavior we actually care about.</a:t>
            </a:r>
            <a:endParaRPr lang="en-US" sz="1250" dirty="0"/>
          </a:p>
        </p:txBody>
      </p:sp>
      <p:pic>
        <p:nvPicPr>
          <p:cNvPr id="14" name="Image 5" descr="/home/claude/icons/check-circle_3B6EF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4041648"/>
            <a:ext cx="237744" cy="237744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6611112" y="3968496"/>
            <a:ext cx="49834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B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next session turns these concepts into a complete, hands-on Colab workflow.</a:t>
            </a:r>
            <a:endParaRPr lang="en-US" sz="1250" dirty="0"/>
          </a:p>
        </p:txBody>
      </p:sp>
      <p:sp>
        <p:nvSpPr>
          <p:cNvPr id="16" name="Shape 8"/>
          <p:cNvSpPr/>
          <p:nvPr/>
        </p:nvSpPr>
        <p:spPr>
          <a:xfrm>
            <a:off x="548640" y="5806440"/>
            <a:ext cx="11064240" cy="685800"/>
          </a:xfrm>
          <a:prstGeom prst="roundRect">
            <a:avLst>
              <a:gd name="adj" fmla="val 13333"/>
            </a:avLst>
          </a:prstGeom>
          <a:solidFill>
            <a:srgbClr val="1B2559"/>
          </a:solidFill>
          <a:ln/>
        </p:spPr>
      </p:sp>
      <p:pic>
        <p:nvPicPr>
          <p:cNvPr id="17" name="Image 6" descr="/home/claude/icons/award_F5A62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6007608"/>
            <a:ext cx="292608" cy="292608"/>
          </a:xfrm>
          <a:prstGeom prst="rect">
            <a:avLst/>
          </a:prstGeom>
        </p:spPr>
      </p:pic>
      <p:sp>
        <p:nvSpPr>
          <p:cNvPr id="18" name="Text 9"/>
          <p:cNvSpPr/>
          <p:nvPr/>
        </p:nvSpPr>
        <p:spPr>
          <a:xfrm>
            <a:off x="1234440" y="5806440"/>
            <a:ext cx="10149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next: from theory to practice — building a real LoRA fine-tuning pipeline end to end.</a:t>
            </a:r>
            <a:endParaRPr lang="en-US" sz="1250" dirty="0"/>
          </a:p>
        </p:txBody>
      </p:sp>
      <p:sp>
        <p:nvSpPr>
          <p:cNvPr id="19" name="Text 1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  •  Faculty Development Program  •  25</a:t>
            </a:r>
            <a:endParaRPr lang="en-US" sz="8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B25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1005840"/>
            <a:ext cx="914400" cy="0"/>
          </a:xfrm>
          <a:prstGeom prst="line">
            <a:avLst/>
          </a:prstGeom>
          <a:noFill/>
          <a:ln w="12700">
            <a:solidFill>
              <a:srgbClr val="3A469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07040" y="731520"/>
            <a:ext cx="640080" cy="731520"/>
          </a:xfrm>
          <a:prstGeom prst="line">
            <a:avLst/>
          </a:prstGeom>
          <a:noFill/>
          <a:ln w="12700">
            <a:solidFill>
              <a:srgbClr val="3A469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247120" y="1463040"/>
            <a:ext cx="0" cy="457200"/>
          </a:xfrm>
          <a:prstGeom prst="line">
            <a:avLst/>
          </a:prstGeom>
          <a:noFill/>
          <a:ln w="12700">
            <a:solidFill>
              <a:srgbClr val="3A469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241280" y="1920240"/>
            <a:ext cx="0" cy="274320"/>
          </a:xfrm>
          <a:prstGeom prst="line">
            <a:avLst/>
          </a:prstGeom>
          <a:noFill/>
          <a:ln w="12700">
            <a:solidFill>
              <a:srgbClr val="3A469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418320" y="2194560"/>
            <a:ext cx="2011680" cy="182880"/>
          </a:xfrm>
          <a:prstGeom prst="line">
            <a:avLst/>
          </a:prstGeom>
          <a:noFill/>
          <a:ln w="12700">
            <a:solidFill>
              <a:srgbClr val="3A469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430000" y="2377440"/>
            <a:ext cx="0" cy="548640"/>
          </a:xfrm>
          <a:prstGeom prst="line">
            <a:avLst/>
          </a:prstGeom>
          <a:noFill/>
          <a:ln w="12700">
            <a:solidFill>
              <a:srgbClr val="3A469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646920" y="960120"/>
            <a:ext cx="91440" cy="9144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9" name="Shape 7"/>
          <p:cNvSpPr/>
          <p:nvPr/>
        </p:nvSpPr>
        <p:spPr>
          <a:xfrm>
            <a:off x="10561320" y="685800"/>
            <a:ext cx="91440" cy="91440"/>
          </a:xfrm>
          <a:prstGeom prst="ellipse">
            <a:avLst/>
          </a:prstGeom>
          <a:solidFill>
            <a:srgbClr val="3B6EF0"/>
          </a:solidFill>
          <a:ln/>
        </p:spPr>
      </p:sp>
      <p:sp>
        <p:nvSpPr>
          <p:cNvPr id="10" name="Shape 8"/>
          <p:cNvSpPr/>
          <p:nvPr/>
        </p:nvSpPr>
        <p:spPr>
          <a:xfrm>
            <a:off x="11201400" y="1417320"/>
            <a:ext cx="91440" cy="91440"/>
          </a:xfrm>
          <a:prstGeom prst="ellipse">
            <a:avLst/>
          </a:prstGeom>
          <a:solidFill>
            <a:srgbClr val="3B6EF0"/>
          </a:solidFill>
          <a:ln/>
        </p:spPr>
      </p:sp>
      <p:sp>
        <p:nvSpPr>
          <p:cNvPr id="11" name="Shape 9"/>
          <p:cNvSpPr/>
          <p:nvPr/>
        </p:nvSpPr>
        <p:spPr>
          <a:xfrm>
            <a:off x="10195560" y="1874520"/>
            <a:ext cx="91440" cy="9144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2" name="Shape 10"/>
          <p:cNvSpPr/>
          <p:nvPr/>
        </p:nvSpPr>
        <p:spPr>
          <a:xfrm>
            <a:off x="9372600" y="2148840"/>
            <a:ext cx="91440" cy="91440"/>
          </a:xfrm>
          <a:prstGeom prst="ellipse">
            <a:avLst/>
          </a:prstGeom>
          <a:solidFill>
            <a:srgbClr val="3B6EF0"/>
          </a:solidFill>
          <a:ln/>
        </p:spPr>
      </p:sp>
      <p:sp>
        <p:nvSpPr>
          <p:cNvPr id="13" name="Shape 11"/>
          <p:cNvSpPr/>
          <p:nvPr/>
        </p:nvSpPr>
        <p:spPr>
          <a:xfrm>
            <a:off x="11384280" y="2331720"/>
            <a:ext cx="91440" cy="91440"/>
          </a:xfrm>
          <a:prstGeom prst="ellipse">
            <a:avLst/>
          </a:prstGeom>
          <a:solidFill>
            <a:srgbClr val="3B6EF0"/>
          </a:solidFill>
          <a:ln/>
        </p:spPr>
      </p:sp>
      <p:sp>
        <p:nvSpPr>
          <p:cNvPr id="14" name="Shape 12"/>
          <p:cNvSpPr/>
          <p:nvPr/>
        </p:nvSpPr>
        <p:spPr>
          <a:xfrm>
            <a:off x="10652760" y="2880360"/>
            <a:ext cx="91440" cy="9144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21488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DEVELOPMENT PROGRAM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22960" y="2487168"/>
            <a:ext cx="9875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Hands-on LLM Fine-Tuning with LoRA</a:t>
            </a:r>
            <a:endParaRPr lang="en-US" sz="4000" dirty="0"/>
          </a:p>
        </p:txBody>
      </p:sp>
      <p:sp>
        <p:nvSpPr>
          <p:cNvPr id="17" name="Text 15"/>
          <p:cNvSpPr/>
          <p:nvPr/>
        </p:nvSpPr>
        <p:spPr>
          <a:xfrm>
            <a:off x="822960" y="3703320"/>
            <a:ext cx="8961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dataset preparation to model evaluation using Google Colab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22960" y="4526280"/>
            <a:ext cx="1828800" cy="0"/>
          </a:xfrm>
          <a:prstGeom prst="line">
            <a:avLst/>
          </a:prstGeom>
          <a:noFill/>
          <a:ln w="25400">
            <a:solidFill>
              <a:srgbClr val="3B6E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47091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A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  |  90-minute hands-on workshop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22960" y="63093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48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  •  Faculty Development Program  •  26</a:t>
            </a:r>
            <a:endParaRPr lang="en-US" sz="9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3B6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5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Hands-on Roadmap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674620"/>
            <a:ext cx="3474720" cy="960120"/>
          </a:xfrm>
          <a:prstGeom prst="roundRect">
            <a:avLst>
              <a:gd name="adj" fmla="val 8571"/>
            </a:avLst>
          </a:prstGeom>
          <a:solidFill>
            <a:srgbClr val="F5F7FC"/>
          </a:solidFill>
          <a:ln w="12700">
            <a:solidFill>
              <a:srgbClr val="E3E7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2766060"/>
            <a:ext cx="325526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B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Setup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58368" y="3250692"/>
            <a:ext cx="3255264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+ libraries</a:t>
            </a:r>
            <a:endParaRPr lang="en-US" sz="950" dirty="0"/>
          </a:p>
        </p:txBody>
      </p:sp>
      <p:pic>
        <p:nvPicPr>
          <p:cNvPr id="7" name="Image 0" descr="/home/claude/icons/arrow-right_3B6EF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50792" y="3035808"/>
            <a:ext cx="256032" cy="23774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343400" y="2674620"/>
            <a:ext cx="3474720" cy="960120"/>
          </a:xfrm>
          <a:prstGeom prst="roundRect">
            <a:avLst>
              <a:gd name="adj" fmla="val 8571"/>
            </a:avLst>
          </a:prstGeom>
          <a:solidFill>
            <a:srgbClr val="F5F7FC"/>
          </a:solidFill>
          <a:ln w="12700">
            <a:solidFill>
              <a:srgbClr val="E3E7F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453128" y="2766060"/>
            <a:ext cx="325526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B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Prep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4453128" y="3250692"/>
            <a:ext cx="3255264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train/val split</a:t>
            </a:r>
            <a:endParaRPr lang="en-US" sz="950" dirty="0"/>
          </a:p>
        </p:txBody>
      </p:sp>
      <p:pic>
        <p:nvPicPr>
          <p:cNvPr id="11" name="Image 1" descr="/home/claude/icons/arrow-right_3B6EF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45552" y="3035808"/>
            <a:ext cx="256032" cy="237744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8138160" y="2674620"/>
            <a:ext cx="3474720" cy="960120"/>
          </a:xfrm>
          <a:prstGeom prst="roundRect">
            <a:avLst>
              <a:gd name="adj" fmla="val 8571"/>
            </a:avLst>
          </a:prstGeom>
          <a:solidFill>
            <a:srgbClr val="F5F7FC"/>
          </a:solidFill>
          <a:ln w="12700">
            <a:solidFill>
              <a:srgbClr val="E3E7F1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8247888" y="2766060"/>
            <a:ext cx="325526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B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Tokenizer + Template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8247888" y="3250692"/>
            <a:ext cx="3255264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inference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548640" y="4320540"/>
            <a:ext cx="3474720" cy="960120"/>
          </a:xfrm>
          <a:prstGeom prst="roundRect">
            <a:avLst>
              <a:gd name="adj" fmla="val 8571"/>
            </a:avLst>
          </a:prstGeom>
          <a:solidFill>
            <a:srgbClr val="1B2559"/>
          </a:solidFill>
          <a:ln w="12700">
            <a:solidFill>
              <a:srgbClr val="1B2559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658368" y="4411980"/>
            <a:ext cx="325526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 Config</a:t>
            </a:r>
            <a:endParaRPr lang="en-US" sz="1250" dirty="0"/>
          </a:p>
        </p:txBody>
      </p:sp>
      <p:sp>
        <p:nvSpPr>
          <p:cNvPr id="17" name="Text 13"/>
          <p:cNvSpPr/>
          <p:nvPr/>
        </p:nvSpPr>
        <p:spPr>
          <a:xfrm>
            <a:off x="658368" y="4896612"/>
            <a:ext cx="3255264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fine-tuning</a:t>
            </a:r>
            <a:endParaRPr lang="en-US" sz="950" dirty="0"/>
          </a:p>
        </p:txBody>
      </p:sp>
      <p:pic>
        <p:nvPicPr>
          <p:cNvPr id="18" name="Image 2" descr="/home/claude/icons/arrow-right_3B6EF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50792" y="4681728"/>
            <a:ext cx="256032" cy="237744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4343400" y="4320540"/>
            <a:ext cx="3474720" cy="960120"/>
          </a:xfrm>
          <a:prstGeom prst="roundRect">
            <a:avLst>
              <a:gd name="adj" fmla="val 8571"/>
            </a:avLst>
          </a:prstGeom>
          <a:solidFill>
            <a:srgbClr val="F5F7FC"/>
          </a:solidFill>
          <a:ln w="12700">
            <a:solidFill>
              <a:srgbClr val="E3E7F1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4453128" y="4411980"/>
            <a:ext cx="325526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B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/ Load Adapter</a:t>
            </a:r>
            <a:endParaRPr lang="en-US" sz="1250" dirty="0"/>
          </a:p>
        </p:txBody>
      </p:sp>
      <p:sp>
        <p:nvSpPr>
          <p:cNvPr id="21" name="Text 16"/>
          <p:cNvSpPr/>
          <p:nvPr/>
        </p:nvSpPr>
        <p:spPr>
          <a:xfrm>
            <a:off x="4453128" y="4896612"/>
            <a:ext cx="3255264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fine-tuned inference</a:t>
            </a:r>
            <a:endParaRPr lang="en-US" sz="950" dirty="0"/>
          </a:p>
        </p:txBody>
      </p:sp>
      <p:pic>
        <p:nvPicPr>
          <p:cNvPr id="22" name="Image 3" descr="/home/claude/icons/arrow-right_3B6EF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45552" y="4681728"/>
            <a:ext cx="256032" cy="237744"/>
          </a:xfrm>
          <a:prstGeom prst="rect">
            <a:avLst/>
          </a:prstGeom>
        </p:spPr>
      </p:pic>
      <p:sp>
        <p:nvSpPr>
          <p:cNvPr id="23" name="Shape 17"/>
          <p:cNvSpPr/>
          <p:nvPr/>
        </p:nvSpPr>
        <p:spPr>
          <a:xfrm>
            <a:off x="8138160" y="4320540"/>
            <a:ext cx="3474720" cy="960120"/>
          </a:xfrm>
          <a:prstGeom prst="roundRect">
            <a:avLst>
              <a:gd name="adj" fmla="val 8571"/>
            </a:avLst>
          </a:prstGeom>
          <a:solidFill>
            <a:srgbClr val="F5F7FC"/>
          </a:solidFill>
          <a:ln w="12700">
            <a:solidFill>
              <a:srgbClr val="E3E7F1"/>
            </a:solidFill>
            <a:prstDash val="solid"/>
          </a:ln>
        </p:spPr>
      </p:sp>
      <p:sp>
        <p:nvSpPr>
          <p:cNvPr id="24" name="Text 18"/>
          <p:cNvSpPr/>
          <p:nvPr/>
        </p:nvSpPr>
        <p:spPr>
          <a:xfrm>
            <a:off x="8247888" y="4411980"/>
            <a:ext cx="325526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B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&amp; Evaluate</a:t>
            </a:r>
            <a:endParaRPr lang="en-US" sz="1250" dirty="0"/>
          </a:p>
        </p:txBody>
      </p:sp>
      <p:sp>
        <p:nvSpPr>
          <p:cNvPr id="25" name="Text 19"/>
          <p:cNvSpPr/>
          <p:nvPr/>
        </p:nvSpPr>
        <p:spPr>
          <a:xfrm>
            <a:off x="8247888" y="4896612"/>
            <a:ext cx="3255264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considerations</a:t>
            </a:r>
            <a:endParaRPr lang="en-US" sz="950" dirty="0"/>
          </a:p>
        </p:txBody>
      </p:sp>
      <p:sp>
        <p:nvSpPr>
          <p:cNvPr id="26" name="Text 2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  •  Faculty Development Program  •  27</a:t>
            </a:r>
            <a:endParaRPr lang="en-US" sz="8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3B6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5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Outcomes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139696"/>
            <a:ext cx="384048" cy="384048"/>
          </a:xfrm>
          <a:prstGeom prst="ellipse">
            <a:avLst/>
          </a:prstGeom>
          <a:solidFill>
            <a:srgbClr val="1B2559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13055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78992" y="2084832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B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a GPU-based LLM fine-tuning environment in Google Colab.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78992" y="2450592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hardware and install the core stack.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3035808"/>
            <a:ext cx="384048" cy="384048"/>
          </a:xfrm>
          <a:prstGeom prst="ellipse">
            <a:avLst/>
          </a:prstGeom>
          <a:solidFill>
            <a:srgbClr val="1B2559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302666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78992" y="2980944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B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 and validate a supervised fine-tuning dataset.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78992" y="3346704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 structure, size and quality.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3931920"/>
            <a:ext cx="384048" cy="384048"/>
          </a:xfrm>
          <a:prstGeom prst="ellipse">
            <a:avLst/>
          </a:prstGeom>
          <a:solidFill>
            <a:srgbClr val="1B2559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92277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78992" y="3877056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B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tokenization and chat templates.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78992" y="4242816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conversations into model-ready inputs.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4828032"/>
            <a:ext cx="384048" cy="384048"/>
          </a:xfrm>
          <a:prstGeom prst="ellipse">
            <a:avLst/>
          </a:prstGeom>
          <a:solidFill>
            <a:srgbClr val="1B2559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481888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78992" y="4773168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B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a baseline response from a pretrained LLM.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78992" y="5138928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 a fair before/after comparison.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309360" y="2139696"/>
            <a:ext cx="384048" cy="384048"/>
          </a:xfrm>
          <a:prstGeom prst="ellipse">
            <a:avLst/>
          </a:prstGeom>
          <a:solidFill>
            <a:srgbClr val="3B6EF0"/>
          </a:solidFill>
          <a:ln/>
        </p:spPr>
      </p:sp>
      <p:sp>
        <p:nvSpPr>
          <p:cNvPr id="21" name="Text 19"/>
          <p:cNvSpPr/>
          <p:nvPr/>
        </p:nvSpPr>
        <p:spPr>
          <a:xfrm>
            <a:off x="6309360" y="213055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839712" y="2084832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B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LoRA and perform supervised fine-tuning.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839712" y="2450592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 adapters and run the training loop.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309360" y="3035808"/>
            <a:ext cx="384048" cy="384048"/>
          </a:xfrm>
          <a:prstGeom prst="ellipse">
            <a:avLst/>
          </a:prstGeom>
          <a:solidFill>
            <a:srgbClr val="3B6EF0"/>
          </a:solidFill>
          <a:ln/>
        </p:spPr>
      </p:sp>
      <p:sp>
        <p:nvSpPr>
          <p:cNvPr id="25" name="Text 23"/>
          <p:cNvSpPr/>
          <p:nvPr/>
        </p:nvSpPr>
        <p:spPr>
          <a:xfrm>
            <a:off x="6309360" y="302666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839712" y="2980944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B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Save/reload a LoRA adapter and compare base vs fine-tuned outputs.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839712" y="3346704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Reproduce results reliably.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309360" y="3931920"/>
            <a:ext cx="384048" cy="384048"/>
          </a:xfrm>
          <a:prstGeom prst="ellipse">
            <a:avLst/>
          </a:prstGeom>
          <a:solidFill>
            <a:srgbClr val="3B6EF0"/>
          </a:solidFill>
          <a:ln/>
        </p:spPr>
      </p:sp>
      <p:sp>
        <p:nvSpPr>
          <p:cNvPr id="29" name="Text 27"/>
          <p:cNvSpPr/>
          <p:nvPr/>
        </p:nvSpPr>
        <p:spPr>
          <a:xfrm>
            <a:off x="6309360" y="392277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839712" y="3877056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B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how dataset quality and evaluation affect conclusions.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839712" y="4242816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over-trusting a single metric.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  •  Faculty Development Program  •  28</a:t>
            </a:r>
            <a:endParaRPr lang="en-US" sz="8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3B6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5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Hands-on Architecture: What Are We Building?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674620"/>
            <a:ext cx="3474720" cy="960120"/>
          </a:xfrm>
          <a:prstGeom prst="roundRect">
            <a:avLst>
              <a:gd name="adj" fmla="val 8571"/>
            </a:avLst>
          </a:prstGeom>
          <a:solidFill>
            <a:srgbClr val="F5F7FC"/>
          </a:solidFill>
          <a:ln w="12700">
            <a:solidFill>
              <a:srgbClr val="E3E7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2766060"/>
            <a:ext cx="325526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B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58368" y="3250692"/>
            <a:ext cx="3255264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train/val split</a:t>
            </a:r>
            <a:endParaRPr lang="en-US" sz="950" dirty="0"/>
          </a:p>
        </p:txBody>
      </p:sp>
      <p:pic>
        <p:nvPicPr>
          <p:cNvPr id="7" name="Image 0" descr="/home/claude/icons/arrow-right_3B6EF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50792" y="3035808"/>
            <a:ext cx="256032" cy="23774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343400" y="2674620"/>
            <a:ext cx="3474720" cy="960120"/>
          </a:xfrm>
          <a:prstGeom prst="roundRect">
            <a:avLst>
              <a:gd name="adj" fmla="val 8571"/>
            </a:avLst>
          </a:prstGeom>
          <a:solidFill>
            <a:srgbClr val="F5F7FC"/>
          </a:solidFill>
          <a:ln w="12700">
            <a:solidFill>
              <a:srgbClr val="E3E7F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453128" y="2766060"/>
            <a:ext cx="325526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B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Tokenizer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4453128" y="3250692"/>
            <a:ext cx="3255264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chat template</a:t>
            </a:r>
            <a:endParaRPr lang="en-US" sz="950" dirty="0"/>
          </a:p>
        </p:txBody>
      </p:sp>
      <p:pic>
        <p:nvPicPr>
          <p:cNvPr id="11" name="Image 1" descr="/home/claude/icons/arrow-right_3B6EF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45552" y="3035808"/>
            <a:ext cx="256032" cy="237744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8138160" y="2674620"/>
            <a:ext cx="3474720" cy="960120"/>
          </a:xfrm>
          <a:prstGeom prst="roundRect">
            <a:avLst>
              <a:gd name="adj" fmla="val 8571"/>
            </a:avLst>
          </a:prstGeom>
          <a:solidFill>
            <a:srgbClr val="F5F7FC"/>
          </a:solidFill>
          <a:ln w="12700">
            <a:solidFill>
              <a:srgbClr val="E3E7F1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8247888" y="2766060"/>
            <a:ext cx="325526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B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LLM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8247888" y="3250692"/>
            <a:ext cx="3255264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inference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548640" y="4320540"/>
            <a:ext cx="3474720" cy="960120"/>
          </a:xfrm>
          <a:prstGeom prst="roundRect">
            <a:avLst>
              <a:gd name="adj" fmla="val 8571"/>
            </a:avLst>
          </a:prstGeom>
          <a:solidFill>
            <a:srgbClr val="1B2559"/>
          </a:solidFill>
          <a:ln w="12700">
            <a:solidFill>
              <a:srgbClr val="1B2559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658368" y="4411980"/>
            <a:ext cx="325526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 Adapter</a:t>
            </a:r>
            <a:endParaRPr lang="en-US" sz="1250" dirty="0"/>
          </a:p>
        </p:txBody>
      </p:sp>
      <p:sp>
        <p:nvSpPr>
          <p:cNvPr id="17" name="Text 13"/>
          <p:cNvSpPr/>
          <p:nvPr/>
        </p:nvSpPr>
        <p:spPr>
          <a:xfrm>
            <a:off x="658368" y="4896612"/>
            <a:ext cx="3255264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SFT training</a:t>
            </a:r>
            <a:endParaRPr lang="en-US" sz="950" dirty="0"/>
          </a:p>
        </p:txBody>
      </p:sp>
      <p:pic>
        <p:nvPicPr>
          <p:cNvPr id="18" name="Image 2" descr="/home/claude/icons/arrow-right_3B6EF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50792" y="4681728"/>
            <a:ext cx="256032" cy="237744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4343400" y="4320540"/>
            <a:ext cx="3474720" cy="960120"/>
          </a:xfrm>
          <a:prstGeom prst="roundRect">
            <a:avLst>
              <a:gd name="adj" fmla="val 8571"/>
            </a:avLst>
          </a:prstGeom>
          <a:solidFill>
            <a:srgbClr val="F5F7FC"/>
          </a:solidFill>
          <a:ln w="12700">
            <a:solidFill>
              <a:srgbClr val="E3E7F1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4453128" y="4411980"/>
            <a:ext cx="325526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B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+ Reload</a:t>
            </a:r>
            <a:endParaRPr lang="en-US" sz="1250" dirty="0"/>
          </a:p>
        </p:txBody>
      </p:sp>
      <p:sp>
        <p:nvSpPr>
          <p:cNvPr id="21" name="Text 16"/>
          <p:cNvSpPr/>
          <p:nvPr/>
        </p:nvSpPr>
        <p:spPr>
          <a:xfrm>
            <a:off x="4453128" y="4896612"/>
            <a:ext cx="3255264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+ adapter</a:t>
            </a:r>
            <a:endParaRPr lang="en-US" sz="950" dirty="0"/>
          </a:p>
        </p:txBody>
      </p:sp>
      <p:pic>
        <p:nvPicPr>
          <p:cNvPr id="22" name="Image 3" descr="/home/claude/icons/arrow-right_3B6EF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45552" y="4681728"/>
            <a:ext cx="256032" cy="237744"/>
          </a:xfrm>
          <a:prstGeom prst="rect">
            <a:avLst/>
          </a:prstGeom>
        </p:spPr>
      </p:pic>
      <p:sp>
        <p:nvSpPr>
          <p:cNvPr id="23" name="Shape 17"/>
          <p:cNvSpPr/>
          <p:nvPr/>
        </p:nvSpPr>
        <p:spPr>
          <a:xfrm>
            <a:off x="8138160" y="4320540"/>
            <a:ext cx="3474720" cy="960120"/>
          </a:xfrm>
          <a:prstGeom prst="roundRect">
            <a:avLst>
              <a:gd name="adj" fmla="val 8571"/>
            </a:avLst>
          </a:prstGeom>
          <a:solidFill>
            <a:srgbClr val="F5F7FC"/>
          </a:solidFill>
          <a:ln w="12700">
            <a:solidFill>
              <a:srgbClr val="E3E7F1"/>
            </a:solidFill>
            <a:prstDash val="solid"/>
          </a:ln>
        </p:spPr>
      </p:sp>
      <p:sp>
        <p:nvSpPr>
          <p:cNvPr id="24" name="Text 18"/>
          <p:cNvSpPr/>
          <p:nvPr/>
        </p:nvSpPr>
        <p:spPr>
          <a:xfrm>
            <a:off x="8247888" y="4411980"/>
            <a:ext cx="325526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B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Outputs</a:t>
            </a:r>
            <a:endParaRPr lang="en-US" sz="1250" dirty="0"/>
          </a:p>
        </p:txBody>
      </p:sp>
      <p:sp>
        <p:nvSpPr>
          <p:cNvPr id="25" name="Text 19"/>
          <p:cNvSpPr/>
          <p:nvPr/>
        </p:nvSpPr>
        <p:spPr>
          <a:xfrm>
            <a:off x="8247888" y="4896612"/>
            <a:ext cx="3255264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criteria</a:t>
            </a:r>
            <a:endParaRPr lang="en-US" sz="950" dirty="0"/>
          </a:p>
        </p:txBody>
      </p:sp>
      <p:sp>
        <p:nvSpPr>
          <p:cNvPr id="26" name="Text 2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  •  Faculty Development Program  •  29</a:t>
            </a:r>
            <a:endParaRPr lang="en-US" sz="8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3B6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5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Google Colab &amp; GPU Environment Setup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28016" cy="128016"/>
          </a:xfrm>
          <a:prstGeom prst="ellipse">
            <a:avLst/>
          </a:prstGeom>
          <a:solidFill>
            <a:srgbClr val="3B6EF0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636776"/>
            <a:ext cx="4160520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B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Platform: Google Colab with an available NVIDIA GPU runtime.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2542032"/>
            <a:ext cx="128016" cy="128016"/>
          </a:xfrm>
          <a:prstGeom prst="ellipse">
            <a:avLst/>
          </a:prstGeom>
          <a:solidFill>
            <a:srgbClr val="3B6EF0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441448"/>
            <a:ext cx="4160520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B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stack: PyTorch, Hugging Face Transformers, Datasets, PEFT, TRL and Accelerate.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3346704"/>
            <a:ext cx="128016" cy="128016"/>
          </a:xfrm>
          <a:prstGeom prst="ellipse">
            <a:avLst/>
          </a:prstGeom>
          <a:solidFill>
            <a:srgbClr val="3B6EF0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3246120"/>
            <a:ext cx="4160520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B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CUDA availability and GPU name before loading the model.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4151376"/>
            <a:ext cx="128016" cy="128016"/>
          </a:xfrm>
          <a:prstGeom prst="ellipse">
            <a:avLst/>
          </a:prstGeom>
          <a:solidFill>
            <a:srgbClr val="3B6EF0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4050792"/>
            <a:ext cx="4160520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B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compatible library versions and keep the environment reproducible.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4956048"/>
            <a:ext cx="128016" cy="128016"/>
          </a:xfrm>
          <a:prstGeom prst="ellipse">
            <a:avLst/>
          </a:prstGeom>
          <a:solidFill>
            <a:srgbClr val="3B6EF0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4855464"/>
            <a:ext cx="4160520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B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load the tokenizer and the base instruction-tuned LLM.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349240" y="1691640"/>
            <a:ext cx="6293815" cy="4572000"/>
          </a:xfrm>
          <a:prstGeom prst="roundRect">
            <a:avLst>
              <a:gd name="adj" fmla="val 2000"/>
            </a:avLst>
          </a:prstGeom>
          <a:solidFill>
            <a:srgbClr val="1B2559"/>
          </a:solidFill>
          <a:ln/>
        </p:spPr>
      </p:sp>
      <p:sp>
        <p:nvSpPr>
          <p:cNvPr id="15" name="Shape 13"/>
          <p:cNvSpPr/>
          <p:nvPr/>
        </p:nvSpPr>
        <p:spPr>
          <a:xfrm>
            <a:off x="5577840" y="1892808"/>
            <a:ext cx="128016" cy="128016"/>
          </a:xfrm>
          <a:prstGeom prst="ellipse">
            <a:avLst/>
          </a:prstGeom>
          <a:solidFill>
            <a:srgbClr val="E5534B"/>
          </a:solidFill>
          <a:ln/>
        </p:spPr>
      </p:sp>
      <p:sp>
        <p:nvSpPr>
          <p:cNvPr id="16" name="Shape 14"/>
          <p:cNvSpPr/>
          <p:nvPr/>
        </p:nvSpPr>
        <p:spPr>
          <a:xfrm>
            <a:off x="5806440" y="1892808"/>
            <a:ext cx="128016" cy="128016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7" name="Shape 15"/>
          <p:cNvSpPr/>
          <p:nvPr/>
        </p:nvSpPr>
        <p:spPr>
          <a:xfrm>
            <a:off x="6035040" y="1892808"/>
            <a:ext cx="128016" cy="128016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18" name="Text 16"/>
          <p:cNvSpPr/>
          <p:nvPr/>
        </p:nvSpPr>
        <p:spPr>
          <a:xfrm>
            <a:off x="5349240" y="1856232"/>
            <a:ext cx="60194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B9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setup.py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577840" y="2194560"/>
            <a:ext cx="5836615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torch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print("PyTorch:", torch.__version__)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print("CUDA available:", torch.cuda.is_available())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torch.cuda.is_available():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print("GPU:", torch.cuda.get_device_name(0))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!pip install -q -U transformers datasets \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peft trl accelerate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  •  Faculty Development Program  •  30</a:t>
            </a:r>
            <a:endParaRPr lang="en-US" sz="8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4213D"/>
                </a:solidFill>
                <a:latin typeface="Aptos"/>
              </a:defRPr>
            </a:pPr>
            <a:r>
              <a:t>Pretrained Model vs Instruction-Tuned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14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F6B7A"/>
                </a:solidFill>
                <a:latin typeface="Aptos"/>
              </a:defRPr>
            </a:pPr>
            <a:r>
              <a:t>From learning general language patterns → learning to follow human instructions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508760"/>
            <a:ext cx="5074920" cy="3474720"/>
          </a:xfrm>
          <a:prstGeom prst="roundRect">
            <a:avLst/>
          </a:prstGeom>
          <a:solidFill>
            <a:srgbClr val="E8EEF5"/>
          </a:solidFill>
          <a:ln>
            <a:solidFill>
              <a:srgbClr val="2F5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700" b="0">
                <a:solidFill>
                  <a:srgbClr val="202733"/>
                </a:solidFill>
                <a:latin typeface="Aptos"/>
              </a:defRPr>
            </a:pPr>
            <a:r>
              <a:t>PRETRAINED LLM</a:t>
            </a:r>
            <a:br/>
            <a:br/>
            <a:r>
              <a:t>• Learns from large-scale text</a:t>
            </a:r>
            <a:br/>
            <a:r>
              <a:t>• Main objective: next-token prediction</a:t>
            </a:r>
            <a:br/>
            <a:r>
              <a:t>• Learns language patterns, facts and representations</a:t>
            </a:r>
            <a:br/>
            <a:r>
              <a:t>• General-purpose text completion</a:t>
            </a:r>
            <a:br/>
            <a:r>
              <a:t>• Not specifically optimized for instruction following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508760"/>
            <a:ext cx="5074920" cy="3474720"/>
          </a:xfrm>
          <a:prstGeom prst="roundRect">
            <a:avLst/>
          </a:prstGeom>
          <a:solidFill>
            <a:srgbClr val="E7F3F2"/>
          </a:solidFill>
          <a:ln>
            <a:solidFill>
              <a:srgbClr val="2A7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700" b="0">
                <a:solidFill>
                  <a:srgbClr val="202733"/>
                </a:solidFill>
                <a:latin typeface="Aptos"/>
              </a:defRPr>
            </a:pPr>
            <a:r>
              <a:t>INSTRUCTION-TUNED LLM</a:t>
            </a:r>
            <a:br/>
            <a:br/>
            <a:r>
              <a:t>• Starts from a pretrained model</a:t>
            </a:r>
            <a:br/>
            <a:r>
              <a:t>• Further trained on instruction → response examples</a:t>
            </a:r>
            <a:br/>
            <a:r>
              <a:t>• Learns how to respond to user requests</a:t>
            </a:r>
            <a:br/>
            <a:r>
              <a:t>• Better aligned with helpful task completion</a:t>
            </a:r>
            <a:br/>
            <a:r>
              <a:t>• Designed for conversational / instructional use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50992" y="2743200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C68F30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3492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213D"/>
                </a:solidFill>
                <a:latin typeface="Aptos"/>
              </a:defRPr>
            </a:pPr>
            <a:r>
              <a:t>Training progression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43000" y="5760720"/>
            <a:ext cx="274320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202733"/>
                </a:solidFill>
                <a:latin typeface="Aptos"/>
              </a:defRPr>
            </a:pPr>
            <a:r>
              <a:t>Large text corpus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931920" y="6016752"/>
            <a:ext cx="640080" cy="0"/>
          </a:xfrm>
          <a:prstGeom prst="line">
            <a:avLst/>
          </a:prstGeom>
          <a:ln w="25400">
            <a:solidFill>
              <a:srgbClr val="2F5D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4572000" y="5760720"/>
            <a:ext cx="2743200" cy="502920"/>
          </a:xfrm>
          <a:prstGeom prst="roundRect">
            <a:avLst/>
          </a:prstGeom>
          <a:solidFill>
            <a:srgbClr val="E8EEF5"/>
          </a:solidFill>
          <a:ln>
            <a:solidFill>
              <a:srgbClr val="2F5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202733"/>
                </a:solidFill>
                <a:latin typeface="Aptos"/>
              </a:defRPr>
            </a:pPr>
            <a:r>
              <a:t>Pretrained LLM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360920" y="6016752"/>
            <a:ext cx="640080" cy="0"/>
          </a:xfrm>
          <a:prstGeom prst="line">
            <a:avLst/>
          </a:prstGeom>
          <a:ln w="25400">
            <a:solidFill>
              <a:srgbClr val="2F5D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8001000" y="5760720"/>
            <a:ext cx="2926080" cy="502920"/>
          </a:xfrm>
          <a:prstGeom prst="roundRect">
            <a:avLst/>
          </a:prstGeom>
          <a:solidFill>
            <a:srgbClr val="F8F1E0"/>
          </a:solidFill>
          <a:ln>
            <a:solidFill>
              <a:srgbClr val="C68F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202733"/>
                </a:solidFill>
                <a:latin typeface="Aptos"/>
              </a:defRPr>
            </a:pPr>
            <a:r>
              <a:t>Instruction → Response</a:t>
            </a:r>
          </a:p>
        </p:txBody>
      </p:sp>
    </p:spTree>
    <p:extLst>
      <p:ext uri="{BB962C8B-B14F-4D97-AF65-F5344CB8AC3E}">
        <p14:creationId xmlns:p14="http://schemas.microsoft.com/office/powerpoint/2010/main" val="66001745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4213D"/>
                </a:solidFill>
                <a:latin typeface="Aptos"/>
              </a:defRPr>
            </a:pPr>
            <a:r>
              <a:t>What Does "Instruct" Actually Mean?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14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F6B7A"/>
                </a:solidFill>
                <a:latin typeface="Aptos"/>
              </a:defRPr>
            </a:pPr>
            <a:r>
              <a:t>Instruction tuning is an additional training stage — not training an LLM from scratch.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54480"/>
            <a:ext cx="2743200" cy="960120"/>
          </a:xfrm>
          <a:prstGeom prst="roundRect">
            <a:avLst/>
          </a:prstGeom>
          <a:solidFill>
            <a:srgbClr val="E8EEF5"/>
          </a:solidFill>
          <a:ln>
            <a:solidFill>
              <a:srgbClr val="2F5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202733"/>
                </a:solidFill>
                <a:latin typeface="Aptos"/>
              </a:defRPr>
            </a:pPr>
            <a:r>
              <a:t>1. PRETRAINING</a:t>
            </a:r>
            <a:br/>
            <a:r>
              <a:t>Large text corpus</a:t>
            </a:r>
            <a:br/>
            <a:r>
              <a:t>↓</a:t>
            </a:r>
            <a:br/>
            <a:r>
              <a:t>Next-token prediction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474720" y="2039112"/>
            <a:ext cx="685800" cy="0"/>
          </a:xfrm>
          <a:prstGeom prst="line">
            <a:avLst/>
          </a:prstGeom>
          <a:ln w="25400">
            <a:solidFill>
              <a:srgbClr val="2F5D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4160520" y="1554480"/>
            <a:ext cx="292608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202733"/>
                </a:solidFill>
                <a:latin typeface="Aptos"/>
              </a:defRPr>
            </a:pPr>
            <a:r>
              <a:t>2. PRETRAINED MODEL</a:t>
            </a:r>
            <a:br/>
            <a:r>
              <a:t>General language ability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132320" y="2039112"/>
            <a:ext cx="685800" cy="0"/>
          </a:xfrm>
          <a:prstGeom prst="line">
            <a:avLst/>
          </a:prstGeom>
          <a:ln w="25400">
            <a:solidFill>
              <a:srgbClr val="2F5D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7818120" y="1554480"/>
            <a:ext cx="3611880" cy="960120"/>
          </a:xfrm>
          <a:prstGeom prst="roundRect">
            <a:avLst/>
          </a:prstGeom>
          <a:solidFill>
            <a:srgbClr val="E7F3F2"/>
          </a:solidFill>
          <a:ln>
            <a:solidFill>
              <a:srgbClr val="2A7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202733"/>
                </a:solidFill>
                <a:latin typeface="Aptos"/>
              </a:defRPr>
            </a:pPr>
            <a:r>
              <a:t>3. INSTRUCTION TUNING</a:t>
            </a:r>
            <a:br/>
            <a:r>
              <a:t>Instruction → desired response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88036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F5D8C"/>
                </a:solidFill>
                <a:latin typeface="Aptos"/>
              </a:defRPr>
            </a:pPr>
            <a:r>
              <a:t>Example instruction-tuning data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337560"/>
            <a:ext cx="48463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0">
                <a:solidFill>
                  <a:srgbClr val="202733"/>
                </a:solidFill>
                <a:latin typeface="Aptos"/>
              </a:defRPr>
            </a:pPr>
            <a:r>
              <a:t>USER</a:t>
            </a:r>
            <a:br/>
            <a:r>
              <a:t>Explain backpropagation.</a:t>
            </a:r>
            <a:br/>
            <a:br/>
            <a:r>
              <a:t>ASSISTANT</a:t>
            </a:r>
            <a:br/>
            <a:r>
              <a:t>Backpropagation computes gradients and uses them to update model parameters...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97880" y="297180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A7A7A"/>
                </a:solidFill>
                <a:latin typeface="Aptos"/>
              </a:defRPr>
            </a:pPr>
            <a:r>
              <a:t>What behavior does this teach?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3429000"/>
            <a:ext cx="4754880" cy="411480"/>
          </a:xfrm>
          <a:prstGeom prst="roundRect">
            <a:avLst/>
          </a:prstGeom>
          <a:solidFill>
            <a:srgbClr val="E7F3F2"/>
          </a:solidFill>
          <a:ln>
            <a:solidFill>
              <a:srgbClr val="2A7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202733"/>
                </a:solidFill>
                <a:latin typeface="Aptos"/>
              </a:defRPr>
            </a:pPr>
            <a:r>
              <a:t>Follow the request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3995928"/>
            <a:ext cx="4754880" cy="411480"/>
          </a:xfrm>
          <a:prstGeom prst="roundRect">
            <a:avLst/>
          </a:prstGeom>
          <a:solidFill>
            <a:srgbClr val="E7F3F2"/>
          </a:solidFill>
          <a:ln>
            <a:solidFill>
              <a:srgbClr val="2A7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202733"/>
                </a:solidFill>
                <a:latin typeface="Aptos"/>
              </a:defRPr>
            </a:pPr>
            <a:r>
              <a:t>Answer helpfully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4562856"/>
            <a:ext cx="4754880" cy="411480"/>
          </a:xfrm>
          <a:prstGeom prst="roundRect">
            <a:avLst/>
          </a:prstGeom>
          <a:solidFill>
            <a:srgbClr val="E7F3F2"/>
          </a:solidFill>
          <a:ln>
            <a:solidFill>
              <a:srgbClr val="2A7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202733"/>
                </a:solidFill>
                <a:latin typeface="Aptos"/>
              </a:defRPr>
            </a:pPr>
            <a:r>
              <a:t>Respect conversation roles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0" y="5129783"/>
            <a:ext cx="4754880" cy="411480"/>
          </a:xfrm>
          <a:prstGeom prst="roundRect">
            <a:avLst/>
          </a:prstGeom>
          <a:solidFill>
            <a:srgbClr val="E7F3F2"/>
          </a:solidFill>
          <a:ln>
            <a:solidFill>
              <a:srgbClr val="2A7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202733"/>
                </a:solidFill>
                <a:latin typeface="Aptos"/>
              </a:defRPr>
            </a:pPr>
            <a:r>
              <a:t>Produce useful responses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190647" y="5729714"/>
            <a:ext cx="9692640" cy="731520"/>
          </a:xfrm>
          <a:prstGeom prst="roundRect">
            <a:avLst/>
          </a:prstGeom>
          <a:solidFill>
            <a:srgbClr val="F8F1E0"/>
          </a:solidFill>
          <a:ln>
            <a:solidFill>
              <a:srgbClr val="C68F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14213D"/>
                </a:solidFill>
                <a:latin typeface="Aptos"/>
              </a:defRPr>
            </a:pPr>
            <a:r>
              <a:t>Key idea: an Instruct model is still the same kind of language model — it has undergone an additional training stage that shapes its behavior.</a:t>
            </a:r>
          </a:p>
        </p:txBody>
      </p:sp>
    </p:spTree>
    <p:extLst>
      <p:ext uri="{BB962C8B-B14F-4D97-AF65-F5344CB8AC3E}">
        <p14:creationId xmlns:p14="http://schemas.microsoft.com/office/powerpoint/2010/main" val="177408165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14213D"/>
                </a:solidFill>
                <a:latin typeface="Aptos"/>
              </a:defRPr>
            </a:pPr>
            <a:r>
              <a:t>Our Starting Point — We Are NOT Teaching Instruction Following From Scratch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4360" y="1044286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F6B7A"/>
                </a:solidFill>
                <a:latin typeface="Aptos"/>
              </a:defRPr>
            </a:pPr>
            <a:r>
              <a:t>We start with an instruction-tuned model and specialize its behavior for our Deep Learning assistant.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508760"/>
            <a:ext cx="2377440" cy="914400"/>
          </a:xfrm>
          <a:prstGeom prst="roundRect">
            <a:avLst/>
          </a:prstGeom>
          <a:solidFill>
            <a:srgbClr val="E8EEF5"/>
          </a:solidFill>
          <a:ln>
            <a:solidFill>
              <a:srgbClr val="2F5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202733"/>
                </a:solidFill>
                <a:latin typeface="Aptos"/>
              </a:defRPr>
            </a:pPr>
            <a:r>
              <a:t>PRETRAINING</a:t>
            </a:r>
            <a:br/>
            <a:r>
              <a:t>General language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017520" y="1965960"/>
            <a:ext cx="594360" cy="0"/>
          </a:xfrm>
          <a:prstGeom prst="line">
            <a:avLst/>
          </a:prstGeom>
          <a:ln w="25400">
            <a:solidFill>
              <a:srgbClr val="2F5D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3611880" y="1508760"/>
            <a:ext cx="2377440" cy="914400"/>
          </a:xfrm>
          <a:prstGeom prst="roundRect">
            <a:avLst/>
          </a:prstGeom>
          <a:solidFill>
            <a:srgbClr val="E7F3F2"/>
          </a:solidFill>
          <a:ln>
            <a:solidFill>
              <a:srgbClr val="2A7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202733"/>
                </a:solidFill>
                <a:latin typeface="Aptos"/>
              </a:defRPr>
            </a:pPr>
            <a:r>
              <a:t>INSTRUCTION</a:t>
            </a:r>
            <a:br/>
            <a:r>
              <a:t>TUNING</a:t>
            </a:r>
            <a:br/>
            <a:r>
              <a:t>General instruction following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035040" y="1965960"/>
            <a:ext cx="594360" cy="0"/>
          </a:xfrm>
          <a:prstGeom prst="line">
            <a:avLst/>
          </a:prstGeom>
          <a:ln w="25400">
            <a:solidFill>
              <a:srgbClr val="2F5D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6629400" y="1508760"/>
            <a:ext cx="2651760" cy="914400"/>
          </a:xfrm>
          <a:prstGeom prst="roundRect">
            <a:avLst/>
          </a:prstGeom>
          <a:solidFill>
            <a:srgbClr val="F8F1E0"/>
          </a:solidFill>
          <a:ln>
            <a:solidFill>
              <a:srgbClr val="C68F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202733"/>
                </a:solidFill>
                <a:latin typeface="Aptos"/>
              </a:defRPr>
            </a:pPr>
            <a:r>
              <a:t>Qwen2.5-0.5B-</a:t>
            </a:r>
            <a:br/>
            <a:r>
              <a:t>Instruct</a:t>
            </a:r>
            <a:br/>
            <a:r>
              <a:t>Our starting model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9326880" y="1965960"/>
            <a:ext cx="594360" cy="0"/>
          </a:xfrm>
          <a:prstGeom prst="line">
            <a:avLst/>
          </a:prstGeom>
          <a:ln w="25400">
            <a:solidFill>
              <a:srgbClr val="2F5D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9921240" y="1508760"/>
            <a:ext cx="1645920" cy="914400"/>
          </a:xfrm>
          <a:prstGeom prst="roundRect">
            <a:avLst/>
          </a:prstGeom>
          <a:solidFill>
            <a:srgbClr val="E8EEF5"/>
          </a:solidFill>
          <a:ln>
            <a:solidFill>
              <a:srgbClr val="2F5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202733"/>
                </a:solidFill>
                <a:latin typeface="Aptos"/>
              </a:defRPr>
            </a:pPr>
            <a:r>
              <a:t>LoRA + SFT</a:t>
            </a:r>
            <a:br/>
            <a:r>
              <a:t>OUR SESSION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8346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213D"/>
                </a:solidFill>
                <a:latin typeface="Aptos"/>
              </a:defRPr>
            </a:pPr>
            <a:r>
              <a:t>What does our fine-tuning add?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3337560"/>
            <a:ext cx="1828800" cy="411480"/>
          </a:xfrm>
          <a:prstGeom prst="round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202733"/>
                </a:solidFill>
                <a:latin typeface="Aptos"/>
              </a:defRPr>
            </a:pPr>
            <a:r>
              <a:t>Already has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926080" y="3337560"/>
            <a:ext cx="8046720" cy="411480"/>
          </a:xfrm>
          <a:prstGeom prst="roundRect">
            <a:avLst/>
          </a:prstGeom>
          <a:solidFill>
            <a:srgbClr val="E7F3F2"/>
          </a:solidFill>
          <a:ln>
            <a:solidFill>
              <a:srgbClr val="2A7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202733"/>
                </a:solidFill>
                <a:latin typeface="Aptos"/>
              </a:defRPr>
            </a:pPr>
            <a:r>
              <a:t>General language ability + basic instruction following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3904487"/>
            <a:ext cx="1828800" cy="411480"/>
          </a:xfrm>
          <a:prstGeom prst="round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202733"/>
                </a:solidFill>
                <a:latin typeface="Aptos"/>
              </a:defRPr>
            </a:pPr>
            <a:r>
              <a:t>We teach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926080" y="3904487"/>
            <a:ext cx="8046720" cy="411480"/>
          </a:xfrm>
          <a:prstGeom prst="roundRect">
            <a:avLst/>
          </a:prstGeom>
          <a:solidFill>
            <a:srgbClr val="E7F3F2"/>
          </a:solidFill>
          <a:ln>
            <a:solidFill>
              <a:srgbClr val="2A7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202733"/>
                </a:solidFill>
                <a:latin typeface="Aptos"/>
              </a:defRPr>
            </a:pPr>
            <a:r>
              <a:t>Deep Learning teaching style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4471416"/>
            <a:ext cx="1828800" cy="411480"/>
          </a:xfrm>
          <a:prstGeom prst="round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202733"/>
                </a:solidFill>
                <a:latin typeface="Aptos"/>
              </a:defRPr>
            </a:pPr>
            <a:r>
              <a:t>We want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926080" y="4471416"/>
            <a:ext cx="8046720" cy="411480"/>
          </a:xfrm>
          <a:prstGeom prst="roundRect">
            <a:avLst/>
          </a:prstGeom>
          <a:solidFill>
            <a:srgbClr val="E7F3F2"/>
          </a:solidFill>
          <a:ln>
            <a:solidFill>
              <a:srgbClr val="2A7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202733"/>
                </a:solidFill>
                <a:latin typeface="Aptos"/>
              </a:defRPr>
            </a:pPr>
            <a:r>
              <a:t>Definition → How it works → Why it matters → Example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5038344"/>
            <a:ext cx="1828800" cy="411480"/>
          </a:xfrm>
          <a:prstGeom prst="round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202733"/>
                </a:solidFill>
                <a:latin typeface="Aptos"/>
              </a:defRPr>
            </a:pPr>
            <a:r>
              <a:t>Method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926080" y="5038344"/>
            <a:ext cx="8046720" cy="411480"/>
          </a:xfrm>
          <a:prstGeom prst="roundRect">
            <a:avLst/>
          </a:prstGeom>
          <a:solidFill>
            <a:srgbClr val="F8F1E0"/>
          </a:solidFill>
          <a:ln>
            <a:solidFill>
              <a:srgbClr val="C68F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202733"/>
                </a:solidFill>
                <a:latin typeface="Aptos"/>
              </a:defRPr>
            </a:pPr>
            <a:r>
              <a:t>Supervised examples + LoRA adapter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51560" y="5806440"/>
            <a:ext cx="10058400" cy="548640"/>
          </a:xfrm>
          <a:prstGeom prst="roundRect">
            <a:avLst/>
          </a:prstGeom>
          <a:solidFill>
            <a:srgbClr val="F8F1E0"/>
          </a:solidFill>
          <a:ln>
            <a:solidFill>
              <a:srgbClr val="C68F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14213D"/>
                </a:solidFill>
                <a:latin typeface="Aptos"/>
              </a:defRPr>
            </a:pPr>
            <a:r>
              <a:t>Instruction tuning → general instruction following</a:t>
            </a:r>
            <a:br/>
            <a:r>
              <a:t>Our fine-tuning → specialized behavior</a:t>
            </a:r>
          </a:p>
        </p:txBody>
      </p:sp>
    </p:spTree>
    <p:extLst>
      <p:ext uri="{BB962C8B-B14F-4D97-AF65-F5344CB8AC3E}">
        <p14:creationId xmlns:p14="http://schemas.microsoft.com/office/powerpoint/2010/main" val="202779988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4213D"/>
                </a:solidFill>
                <a:latin typeface="Aptos"/>
              </a:defRPr>
            </a:pPr>
            <a:r>
              <a:t>How This Leads to System / User / Assistant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14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F6B7A"/>
                </a:solidFill>
                <a:latin typeface="Aptos"/>
              </a:defRPr>
            </a:pPr>
            <a:r>
              <a:t>Our dataset gives the instruction-tuned model examples of the behavior we want.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3200400" cy="914400"/>
          </a:xfrm>
          <a:prstGeom prst="roundRect">
            <a:avLst/>
          </a:prstGeom>
          <a:solidFill>
            <a:srgbClr val="E8EEF5"/>
          </a:solidFill>
          <a:ln>
            <a:solidFill>
              <a:srgbClr val="2F5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202733"/>
                </a:solidFill>
                <a:latin typeface="Aptos"/>
              </a:defRPr>
            </a:pPr>
            <a:r>
              <a:t>SYSTEM</a:t>
            </a:r>
            <a:br/>
            <a:r>
              <a:t>How should the assistant behave?</a:t>
            </a:r>
            <a:br/>
            <a:r>
              <a:t>“You are a Deep Learning teaching assistant.”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651760"/>
            <a:ext cx="32004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202733"/>
                </a:solidFill>
                <a:latin typeface="Aptos"/>
              </a:defRPr>
            </a:pPr>
            <a:r>
              <a:t>USER</a:t>
            </a:r>
            <a:br/>
            <a:r>
              <a:t>What does the user want?</a:t>
            </a:r>
            <a:br/>
            <a:r>
              <a:t>“What is backpropagation?”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886200"/>
            <a:ext cx="3200400" cy="914400"/>
          </a:xfrm>
          <a:prstGeom prst="roundRect">
            <a:avLst/>
          </a:prstGeom>
          <a:solidFill>
            <a:srgbClr val="E7F3F2"/>
          </a:solidFill>
          <a:ln>
            <a:solidFill>
              <a:srgbClr val="2A7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202733"/>
                </a:solidFill>
                <a:latin typeface="Aptos"/>
              </a:defRPr>
            </a:pPr>
            <a:r>
              <a:t>ASSISTANT</a:t>
            </a:r>
            <a:br/>
            <a:r>
              <a:t>What should the model produce?</a:t>
            </a:r>
            <a:br/>
            <a:r>
              <a:t>“Definition: … How it works: …”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160520" y="1874519"/>
            <a:ext cx="731520" cy="0"/>
          </a:xfrm>
          <a:prstGeom prst="line">
            <a:avLst/>
          </a:prstGeom>
          <a:ln w="25400">
            <a:solidFill>
              <a:srgbClr val="2F5D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160520" y="3108960"/>
            <a:ext cx="731520" cy="0"/>
          </a:xfrm>
          <a:prstGeom prst="line">
            <a:avLst/>
          </a:prstGeom>
          <a:ln w="25400">
            <a:solidFill>
              <a:srgbClr val="2F5D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160520" y="4343400"/>
            <a:ext cx="731520" cy="0"/>
          </a:xfrm>
          <a:prstGeom prst="line">
            <a:avLst/>
          </a:prstGeom>
          <a:ln w="25400">
            <a:solidFill>
              <a:srgbClr val="2F5D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4892040" y="2057400"/>
            <a:ext cx="2926080" cy="1737360"/>
          </a:xfrm>
          <a:prstGeom prst="roundRect">
            <a:avLst/>
          </a:prstGeom>
          <a:solidFill>
            <a:srgbClr val="F8F1E0"/>
          </a:solidFill>
          <a:ln>
            <a:solidFill>
              <a:srgbClr val="C68F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202733"/>
                </a:solidFill>
                <a:latin typeface="Aptos"/>
              </a:defRPr>
            </a:pPr>
            <a:r>
              <a:t>SUPERVISED EXAMPLE</a:t>
            </a:r>
            <a:br/>
            <a:br/>
            <a:r>
              <a:t>Input:</a:t>
            </a:r>
            <a:br/>
            <a:r>
              <a:t>System + User</a:t>
            </a:r>
            <a:br/>
            <a:br/>
            <a:r>
              <a:t>Target:</a:t>
            </a:r>
            <a:br/>
            <a:r>
              <a:t>Assistant response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909560" y="2926080"/>
            <a:ext cx="640080" cy="0"/>
          </a:xfrm>
          <a:prstGeom prst="line">
            <a:avLst/>
          </a:prstGeom>
          <a:ln w="25400">
            <a:solidFill>
              <a:srgbClr val="2F5D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8549640" y="2057400"/>
            <a:ext cx="2971800" cy="1737360"/>
          </a:xfrm>
          <a:prstGeom prst="roundRect">
            <a:avLst/>
          </a:prstGeom>
          <a:solidFill>
            <a:srgbClr val="E8EEF5"/>
          </a:solidFill>
          <a:ln>
            <a:solidFill>
              <a:srgbClr val="2F5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202733"/>
                </a:solidFill>
                <a:latin typeface="Aptos"/>
              </a:defRPr>
            </a:pPr>
            <a:r>
              <a:t>FINE-TUNING</a:t>
            </a:r>
            <a:br/>
            <a:br/>
            <a:r>
              <a:t>Learn the mapping:</a:t>
            </a:r>
            <a:br/>
            <a:br/>
            <a:r>
              <a:t>request → desired behavior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303520"/>
            <a:ext cx="10241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4213D"/>
                </a:solidFill>
                <a:latin typeface="Aptos"/>
              </a:defRPr>
            </a:pPr>
            <a:r>
              <a:t>Next: Chat Template → converts this structured conversation into the model-specific format expected by the Instruct model.</a:t>
            </a:r>
          </a:p>
        </p:txBody>
      </p:sp>
    </p:spTree>
    <p:extLst>
      <p:ext uri="{BB962C8B-B14F-4D97-AF65-F5344CB8AC3E}">
        <p14:creationId xmlns:p14="http://schemas.microsoft.com/office/powerpoint/2010/main" val="299179170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3B6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PREPARATION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5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Dataset: From Raw JSON to Training Examples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28016" cy="128016"/>
          </a:xfrm>
          <a:prstGeom prst="ellipse">
            <a:avLst/>
          </a:prstGeom>
          <a:solidFill>
            <a:srgbClr val="3B6EF0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636776"/>
            <a:ext cx="4160520" cy="69494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>
                <a:solidFill>
                  <a:srgbClr val="1B2559"/>
                </a:solidFill>
                <a:latin typeface="Calibri"/>
                <a:ea typeface="Calibri"/>
                <a:cs typeface="Calibri"/>
              </a:rPr>
              <a:t>Deep Learning Q&amp;A dataset for supervised fine-tuning.</a:t>
            </a:r>
            <a:endParaRPr lang="en-US" sz="1200">
              <a:latin typeface="Calibri"/>
              <a:ea typeface="Calibri"/>
              <a:cs typeface="Calibri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48640" y="2542032"/>
            <a:ext cx="128016" cy="128016"/>
          </a:xfrm>
          <a:prstGeom prst="ellipse">
            <a:avLst/>
          </a:prstGeom>
          <a:solidFill>
            <a:srgbClr val="3B6EF0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441448"/>
            <a:ext cx="4160520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B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 conversations using system, user and assistant roles.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3346704"/>
            <a:ext cx="128016" cy="128016"/>
          </a:xfrm>
          <a:prstGeom prst="ellipse">
            <a:avLst/>
          </a:prstGeom>
          <a:solidFill>
            <a:srgbClr val="3B6EF0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3246120"/>
            <a:ext cx="4160520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B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examples teach both content and desired response behavior.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4151376"/>
            <a:ext cx="128016" cy="128016"/>
          </a:xfrm>
          <a:prstGeom prst="ellipse">
            <a:avLst/>
          </a:prstGeom>
          <a:solidFill>
            <a:srgbClr val="3B6EF0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4050792"/>
            <a:ext cx="4160520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B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Quality, consistency, diversity and correct formatting are critical.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4956048"/>
            <a:ext cx="128016" cy="128016"/>
          </a:xfrm>
          <a:prstGeom prst="ellipse">
            <a:avLst/>
          </a:prstGeom>
          <a:solidFill>
            <a:srgbClr val="3B6EF0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4855464"/>
            <a:ext cx="4160520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B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tokenization, inspect examples and verify the schema.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349240" y="1691640"/>
            <a:ext cx="6293815" cy="4572000"/>
          </a:xfrm>
          <a:prstGeom prst="roundRect">
            <a:avLst>
              <a:gd name="adj" fmla="val 2000"/>
            </a:avLst>
          </a:prstGeom>
          <a:solidFill>
            <a:srgbClr val="1B2559"/>
          </a:solidFill>
          <a:ln/>
        </p:spPr>
      </p:sp>
      <p:sp>
        <p:nvSpPr>
          <p:cNvPr id="15" name="Shape 13"/>
          <p:cNvSpPr/>
          <p:nvPr/>
        </p:nvSpPr>
        <p:spPr>
          <a:xfrm>
            <a:off x="5577840" y="1892808"/>
            <a:ext cx="128016" cy="128016"/>
          </a:xfrm>
          <a:prstGeom prst="ellipse">
            <a:avLst/>
          </a:prstGeom>
          <a:solidFill>
            <a:srgbClr val="E5534B"/>
          </a:solidFill>
          <a:ln/>
        </p:spPr>
      </p:sp>
      <p:sp>
        <p:nvSpPr>
          <p:cNvPr id="16" name="Shape 14"/>
          <p:cNvSpPr/>
          <p:nvPr/>
        </p:nvSpPr>
        <p:spPr>
          <a:xfrm>
            <a:off x="5806440" y="1892808"/>
            <a:ext cx="128016" cy="128016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7" name="Shape 15"/>
          <p:cNvSpPr/>
          <p:nvPr/>
        </p:nvSpPr>
        <p:spPr>
          <a:xfrm>
            <a:off x="6035040" y="1892808"/>
            <a:ext cx="128016" cy="128016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18" name="Text 16"/>
          <p:cNvSpPr/>
          <p:nvPr/>
        </p:nvSpPr>
        <p:spPr>
          <a:xfrm>
            <a:off x="5349240" y="1856232"/>
            <a:ext cx="60194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B9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sample.json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577840" y="2194560"/>
            <a:ext cx="5836615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"messages": [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{"role": "system",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"content": "You are a Deep Learning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teaching assistant."},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{"role": "user",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"content": "What is backpropagation?"},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{"role": "assistant",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"content": "Backpropagation computes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gradients..."}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]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  •  Faculty Development Program  •  31</a:t>
            </a:r>
            <a:endParaRPr lang="en-US" sz="85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3B6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PREPARATION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5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Inspection &amp; Train/Validation Split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28016" cy="128016"/>
          </a:xfrm>
          <a:prstGeom prst="ellipse">
            <a:avLst/>
          </a:prstGeom>
          <a:solidFill>
            <a:srgbClr val="3B6EF0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636776"/>
            <a:ext cx="4160520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B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the JSON and inspect the first examples.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2542032"/>
            <a:ext cx="128016" cy="128016"/>
          </a:xfrm>
          <a:prstGeom prst="ellipse">
            <a:avLst/>
          </a:prstGeom>
          <a:solidFill>
            <a:srgbClr val="3B6EF0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441448"/>
            <a:ext cx="4160520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B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the message structure and overall dataset size.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3346704"/>
            <a:ext cx="128016" cy="128016"/>
          </a:xfrm>
          <a:prstGeom prst="ellipse">
            <a:avLst/>
          </a:prstGeom>
          <a:solidFill>
            <a:srgbClr val="3B6EF0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3246120"/>
            <a:ext cx="4160520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B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reproducible train/validation split using a fixed seed.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4151376"/>
            <a:ext cx="128016" cy="128016"/>
          </a:xfrm>
          <a:prstGeom prst="ellipse">
            <a:avLst/>
          </a:prstGeom>
          <a:solidFill>
            <a:srgbClr val="3B6EF0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4050792"/>
            <a:ext cx="4160520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B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data updates parameters; validation data monitors generalization.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4956048"/>
            <a:ext cx="128016" cy="128016"/>
          </a:xfrm>
          <a:prstGeom prst="ellipse">
            <a:avLst/>
          </a:prstGeom>
          <a:solidFill>
            <a:srgbClr val="3B6EF0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4855464"/>
            <a:ext cx="4160520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B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Checkpoint: do not proceed until examples in both splits look correct.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349240" y="1691640"/>
            <a:ext cx="6293815" cy="4572000"/>
          </a:xfrm>
          <a:prstGeom prst="roundRect">
            <a:avLst>
              <a:gd name="adj" fmla="val 2000"/>
            </a:avLst>
          </a:prstGeom>
          <a:solidFill>
            <a:srgbClr val="1B2559"/>
          </a:solidFill>
          <a:ln/>
        </p:spPr>
      </p:sp>
      <p:sp>
        <p:nvSpPr>
          <p:cNvPr id="15" name="Shape 13"/>
          <p:cNvSpPr/>
          <p:nvPr/>
        </p:nvSpPr>
        <p:spPr>
          <a:xfrm>
            <a:off x="5577840" y="1892808"/>
            <a:ext cx="128016" cy="128016"/>
          </a:xfrm>
          <a:prstGeom prst="ellipse">
            <a:avLst/>
          </a:prstGeom>
          <a:solidFill>
            <a:srgbClr val="E5534B"/>
          </a:solidFill>
          <a:ln/>
        </p:spPr>
      </p:sp>
      <p:sp>
        <p:nvSpPr>
          <p:cNvPr id="16" name="Shape 14"/>
          <p:cNvSpPr/>
          <p:nvPr/>
        </p:nvSpPr>
        <p:spPr>
          <a:xfrm>
            <a:off x="5806440" y="1892808"/>
            <a:ext cx="128016" cy="128016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7" name="Shape 15"/>
          <p:cNvSpPr/>
          <p:nvPr/>
        </p:nvSpPr>
        <p:spPr>
          <a:xfrm>
            <a:off x="6035040" y="1892808"/>
            <a:ext cx="128016" cy="128016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18" name="Text 16"/>
          <p:cNvSpPr/>
          <p:nvPr/>
        </p:nvSpPr>
        <p:spPr>
          <a:xfrm>
            <a:off x="5349240" y="1856232"/>
            <a:ext cx="60194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B9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split.py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577840" y="2194560"/>
            <a:ext cx="5836615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datasets import load_dataset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dataset = load_dataset("json",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data_files="deep_learning_sft_dataset"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"_improved.json")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dataset = dataset["train"].train_test_split(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test_size=0.15, seed=42)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train_dataset = dataset["train"]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val_dataset = dataset["test"]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print("Train:", len(train_dataset))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print("Validation:", len(val_dataset))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  •  Faculty Development Program  •  32</a:t>
            </a:r>
            <a:endParaRPr lang="en-US" sz="85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3B6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5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Tokenization: From Text to Token IDs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28016" cy="128016"/>
          </a:xfrm>
          <a:prstGeom prst="ellipse">
            <a:avLst/>
          </a:prstGeom>
          <a:solidFill>
            <a:srgbClr val="3B6EF0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636776"/>
            <a:ext cx="4160520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B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consume numerical token IDs rather than raw human-readable text.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2542032"/>
            <a:ext cx="128016" cy="128016"/>
          </a:xfrm>
          <a:prstGeom prst="ellipse">
            <a:avLst/>
          </a:prstGeom>
          <a:solidFill>
            <a:srgbClr val="3B6EF0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441448"/>
            <a:ext cx="4160520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B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 can be words, sub-words or punctuation.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3346704"/>
            <a:ext cx="128016" cy="128016"/>
          </a:xfrm>
          <a:prstGeom prst="ellipse">
            <a:avLst/>
          </a:prstGeom>
          <a:solidFill>
            <a:srgbClr val="3B6EF0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3246120"/>
            <a:ext cx="4160520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B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Tokenization affects sequence length, memory use and context-window consumption.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4151376"/>
            <a:ext cx="128016" cy="128016"/>
          </a:xfrm>
          <a:prstGeom prst="ellipse">
            <a:avLst/>
          </a:prstGeom>
          <a:solidFill>
            <a:srgbClr val="3B6EF0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4050792"/>
            <a:ext cx="4160520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B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tokenizer must match the model's vocabulary and expected special tokens.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4956048"/>
            <a:ext cx="128016" cy="128016"/>
          </a:xfrm>
          <a:prstGeom prst="ellipse">
            <a:avLst/>
          </a:prstGeom>
          <a:solidFill>
            <a:srgbClr val="3B6EF0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4855464"/>
            <a:ext cx="4160520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B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templates then provide the model-specific conversational formatting.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349240" y="1691640"/>
            <a:ext cx="6293815" cy="4572000"/>
          </a:xfrm>
          <a:prstGeom prst="roundRect">
            <a:avLst>
              <a:gd name="adj" fmla="val 2000"/>
            </a:avLst>
          </a:prstGeom>
          <a:solidFill>
            <a:srgbClr val="1B2559"/>
          </a:solidFill>
          <a:ln/>
        </p:spPr>
      </p:sp>
      <p:sp>
        <p:nvSpPr>
          <p:cNvPr id="15" name="Shape 13"/>
          <p:cNvSpPr/>
          <p:nvPr/>
        </p:nvSpPr>
        <p:spPr>
          <a:xfrm>
            <a:off x="5577840" y="1892808"/>
            <a:ext cx="128016" cy="128016"/>
          </a:xfrm>
          <a:prstGeom prst="ellipse">
            <a:avLst/>
          </a:prstGeom>
          <a:solidFill>
            <a:srgbClr val="E5534B"/>
          </a:solidFill>
          <a:ln/>
        </p:spPr>
      </p:sp>
      <p:sp>
        <p:nvSpPr>
          <p:cNvPr id="16" name="Shape 14"/>
          <p:cNvSpPr/>
          <p:nvPr/>
        </p:nvSpPr>
        <p:spPr>
          <a:xfrm>
            <a:off x="5806440" y="1892808"/>
            <a:ext cx="128016" cy="128016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7" name="Shape 15"/>
          <p:cNvSpPr/>
          <p:nvPr/>
        </p:nvSpPr>
        <p:spPr>
          <a:xfrm>
            <a:off x="6035040" y="1892808"/>
            <a:ext cx="128016" cy="128016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18" name="Text 16"/>
          <p:cNvSpPr/>
          <p:nvPr/>
        </p:nvSpPr>
        <p:spPr>
          <a:xfrm>
            <a:off x="5349240" y="1856232"/>
            <a:ext cx="60194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B9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tokenize.py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577840" y="2194560"/>
            <a:ext cx="5836615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transformers import AutoTokenizer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MODEL_NAME = "Qwen/Qwen2.5-0.5B-Instruct"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tokenizer = AutoTokenizer.from_pretrained(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MODEL_NAME)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 = "What is backpropagation?"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print(tokenizer.tokenize(text))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print(tokenizer.encode(text))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  •  Faculty Development Program  •  33</a:t>
            </a:r>
            <a:endParaRPr lang="en-US" sz="85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3B6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5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Chat Templates: Formatting Conversations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28016" cy="128016"/>
          </a:xfrm>
          <a:prstGeom prst="ellipse">
            <a:avLst/>
          </a:prstGeom>
          <a:solidFill>
            <a:srgbClr val="3B6EF0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636776"/>
            <a:ext cx="4160520" cy="9509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B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system/user/assistant messages must be converted to the format the instruction-tuned model expects.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2798064"/>
            <a:ext cx="128016" cy="128016"/>
          </a:xfrm>
          <a:prstGeom prst="ellipse">
            <a:avLst/>
          </a:prstGeom>
          <a:solidFill>
            <a:srgbClr val="3B6EF0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697480"/>
            <a:ext cx="4160520" cy="9509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B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tokenizer's chat template rather than manually inventing model-specific control tokens.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3858768"/>
            <a:ext cx="128016" cy="128016"/>
          </a:xfrm>
          <a:prstGeom prst="ellipse">
            <a:avLst/>
          </a:prstGeom>
          <a:solidFill>
            <a:srgbClr val="3B6EF0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3758184"/>
            <a:ext cx="4160520" cy="9509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B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includes the target assistant response; inference typically ends with a generation prompt.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4919472"/>
            <a:ext cx="128016" cy="128016"/>
          </a:xfrm>
          <a:prstGeom prst="ellipse">
            <a:avLst/>
          </a:prstGeom>
          <a:solidFill>
            <a:srgbClr val="3B6EF0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4818888"/>
            <a:ext cx="4160520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B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formatting across training and inference is essential for correct behavior.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349240" y="1691640"/>
            <a:ext cx="6293815" cy="4572000"/>
          </a:xfrm>
          <a:prstGeom prst="roundRect">
            <a:avLst>
              <a:gd name="adj" fmla="val 2000"/>
            </a:avLst>
          </a:prstGeom>
          <a:solidFill>
            <a:srgbClr val="1B2559"/>
          </a:solidFill>
          <a:ln/>
        </p:spPr>
      </p:sp>
      <p:sp>
        <p:nvSpPr>
          <p:cNvPr id="13" name="Shape 11"/>
          <p:cNvSpPr/>
          <p:nvPr/>
        </p:nvSpPr>
        <p:spPr>
          <a:xfrm>
            <a:off x="5577840" y="1892808"/>
            <a:ext cx="128016" cy="128016"/>
          </a:xfrm>
          <a:prstGeom prst="ellipse">
            <a:avLst/>
          </a:prstGeom>
          <a:solidFill>
            <a:srgbClr val="E5534B"/>
          </a:solidFill>
          <a:ln/>
        </p:spPr>
      </p:sp>
      <p:sp>
        <p:nvSpPr>
          <p:cNvPr id="14" name="Shape 12"/>
          <p:cNvSpPr/>
          <p:nvPr/>
        </p:nvSpPr>
        <p:spPr>
          <a:xfrm>
            <a:off x="5806440" y="1892808"/>
            <a:ext cx="128016" cy="128016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5" name="Shape 13"/>
          <p:cNvSpPr/>
          <p:nvPr/>
        </p:nvSpPr>
        <p:spPr>
          <a:xfrm>
            <a:off x="6035040" y="1892808"/>
            <a:ext cx="128016" cy="128016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16" name="Text 14"/>
          <p:cNvSpPr/>
          <p:nvPr/>
        </p:nvSpPr>
        <p:spPr>
          <a:xfrm>
            <a:off x="5349240" y="1856232"/>
            <a:ext cx="60194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B9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chat_template.py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577840" y="2194560"/>
            <a:ext cx="5836615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formatted = tokenizer.apply_chat_template(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messages,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tokenize=False,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add_generation_prompt=False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print(formatted)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 = tokenizer.apply_chat_template(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prompt_messages,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tokenize=False,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add_generation_prompt=True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  •  Faculty Development Program  •  34</a:t>
            </a:r>
            <a:endParaRPr lang="en-US" sz="85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3B6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5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Baseline Inference: Evaluate Before Fine-Tuning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28016" cy="128016"/>
          </a:xfrm>
          <a:prstGeom prst="ellipse">
            <a:avLst/>
          </a:prstGeom>
          <a:solidFill>
            <a:srgbClr val="3B6EF0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636776"/>
            <a:ext cx="4160520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B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changing model parameters, establish what the base model already does.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2542032"/>
            <a:ext cx="128016" cy="128016"/>
          </a:xfrm>
          <a:prstGeom prst="ellipse">
            <a:avLst/>
          </a:prstGeom>
          <a:solidFill>
            <a:srgbClr val="3B6EF0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441448"/>
            <a:ext cx="4160520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B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representative evaluation prompts that will remain fixed for the final comparison.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3346704"/>
            <a:ext cx="128016" cy="128016"/>
          </a:xfrm>
          <a:prstGeom prst="ellipse">
            <a:avLst/>
          </a:prstGeom>
          <a:solidFill>
            <a:srgbClr val="3B6EF0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3246120"/>
            <a:ext cx="4160520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B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correctness, relevance, clarity, conciseness, terminology and teaching style.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4151376"/>
            <a:ext cx="128016" cy="128016"/>
          </a:xfrm>
          <a:prstGeom prst="ellipse">
            <a:avLst/>
          </a:prstGeom>
          <a:solidFill>
            <a:srgbClr val="3B6EF0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4050792"/>
            <a:ext cx="4160520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B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the baseline responses so the post-training comparison is reproducible.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349240" y="1691640"/>
            <a:ext cx="6293815" cy="4572000"/>
          </a:xfrm>
          <a:prstGeom prst="roundRect">
            <a:avLst>
              <a:gd name="adj" fmla="val 2000"/>
            </a:avLst>
          </a:prstGeom>
          <a:solidFill>
            <a:srgbClr val="1B2559"/>
          </a:solidFill>
          <a:ln/>
        </p:spPr>
      </p:sp>
      <p:sp>
        <p:nvSpPr>
          <p:cNvPr id="13" name="Shape 11"/>
          <p:cNvSpPr/>
          <p:nvPr/>
        </p:nvSpPr>
        <p:spPr>
          <a:xfrm>
            <a:off x="5577840" y="1892808"/>
            <a:ext cx="128016" cy="128016"/>
          </a:xfrm>
          <a:prstGeom prst="ellipse">
            <a:avLst/>
          </a:prstGeom>
          <a:solidFill>
            <a:srgbClr val="E5534B"/>
          </a:solidFill>
          <a:ln/>
        </p:spPr>
      </p:sp>
      <p:sp>
        <p:nvSpPr>
          <p:cNvPr id="14" name="Shape 12"/>
          <p:cNvSpPr/>
          <p:nvPr/>
        </p:nvSpPr>
        <p:spPr>
          <a:xfrm>
            <a:off x="5806440" y="1892808"/>
            <a:ext cx="128016" cy="128016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5" name="Shape 13"/>
          <p:cNvSpPr/>
          <p:nvPr/>
        </p:nvSpPr>
        <p:spPr>
          <a:xfrm>
            <a:off x="6035040" y="1892808"/>
            <a:ext cx="128016" cy="128016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16" name="Text 14"/>
          <p:cNvSpPr/>
          <p:nvPr/>
        </p:nvSpPr>
        <p:spPr>
          <a:xfrm>
            <a:off x="5349240" y="1856232"/>
            <a:ext cx="60194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B9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baseline.py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577840" y="2194560"/>
            <a:ext cx="5836615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transformers import AutoModelForCausalLM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= AutoModelForCausalLM.from_pretrained(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MODEL_NAME, torch_dtype="auto",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device_map="auto"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baseline_prompts = [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"What is backpropagation?",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"Why do neural networks need "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"activation functions?",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"CNNs vs Transformers?",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"Explain overfitting and dropout.",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"Role of the learning rate?"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  •  Faculty Development Program  •  35</a:t>
            </a:r>
            <a:endParaRPr lang="en-US" sz="85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3B6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5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Parameter-Efficient Fine-Tuning?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457200" cy="457200"/>
          </a:xfrm>
          <a:prstGeom prst="ellipse">
            <a:avLst/>
          </a:prstGeom>
          <a:solidFill>
            <a:srgbClr val="F5F7FC"/>
          </a:solidFill>
          <a:ln w="12700">
            <a:solidFill>
              <a:srgbClr val="E3E7F1"/>
            </a:solidFill>
            <a:prstDash val="solid"/>
          </a:ln>
        </p:spPr>
      </p:sp>
      <p:pic>
        <p:nvPicPr>
          <p:cNvPr id="5" name="Image 0" descr="/home/claude/icons/server_3B6EF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783080"/>
            <a:ext cx="274320" cy="274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52144" y="1655064"/>
            <a:ext cx="102412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B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fine-tuning is costly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1152144" y="1911096"/>
            <a:ext cx="1024128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Updates most/all model parameters — expensive in both memory and storage.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548640" y="2606040"/>
            <a:ext cx="457200" cy="457200"/>
          </a:xfrm>
          <a:prstGeom prst="ellipse">
            <a:avLst/>
          </a:prstGeom>
          <a:solidFill>
            <a:srgbClr val="F5F7FC"/>
          </a:solidFill>
          <a:ln w="12700">
            <a:solidFill>
              <a:srgbClr val="E3E7F1"/>
            </a:solidFill>
            <a:prstDash val="solid"/>
          </a:ln>
        </p:spPr>
      </p:sp>
      <p:pic>
        <p:nvPicPr>
          <p:cNvPr id="9" name="Image 1" descr="/home/claude/icons/lock_3B6EF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2697480"/>
            <a:ext cx="274320" cy="2743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52144" y="2569464"/>
            <a:ext cx="102412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B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PEFT freezes the backbone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1152144" y="2825496"/>
            <a:ext cx="1024128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Freezes most pretrained parameters and trains only a small adaptation.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548640" y="3520440"/>
            <a:ext cx="457200" cy="457200"/>
          </a:xfrm>
          <a:prstGeom prst="ellipse">
            <a:avLst/>
          </a:prstGeom>
          <a:solidFill>
            <a:srgbClr val="F5F7FC"/>
          </a:solidFill>
          <a:ln w="12700">
            <a:solidFill>
              <a:srgbClr val="E3E7F1"/>
            </a:solidFill>
            <a:prstDash val="solid"/>
          </a:ln>
        </p:spPr>
      </p:sp>
      <p:pic>
        <p:nvPicPr>
          <p:cNvPr id="13" name="Image 2" descr="/home/claude/icons/message-square_3B6EF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3611880"/>
            <a:ext cx="274320" cy="2743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152144" y="3483864"/>
            <a:ext cx="102412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B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Prompting vs tuning</a:t>
            </a:r>
            <a:endParaRPr lang="en-US" sz="1350" dirty="0"/>
          </a:p>
        </p:txBody>
      </p:sp>
      <p:sp>
        <p:nvSpPr>
          <p:cNvPr id="15" name="Text 10"/>
          <p:cNvSpPr/>
          <p:nvPr/>
        </p:nvSpPr>
        <p:spPr>
          <a:xfrm>
            <a:off x="1152144" y="3739896"/>
            <a:ext cx="1024128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changes instructions at inference time; prompt tuning learns continuous prompt parameters instead.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548640" y="4434840"/>
            <a:ext cx="457200" cy="457200"/>
          </a:xfrm>
          <a:prstGeom prst="ellipse">
            <a:avLst/>
          </a:prstGeom>
          <a:solidFill>
            <a:srgbClr val="F5F7FC"/>
          </a:solidFill>
          <a:ln w="12700">
            <a:solidFill>
              <a:srgbClr val="E3E7F1"/>
            </a:solidFill>
            <a:prstDash val="solid"/>
          </a:ln>
        </p:spPr>
      </p:sp>
      <p:pic>
        <p:nvPicPr>
          <p:cNvPr id="17" name="Image 3" descr="/home/claude/icons/zap_3B6EF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4526280"/>
            <a:ext cx="274320" cy="27432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152144" y="4398264"/>
            <a:ext cx="102412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B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 is our hands-on method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1152144" y="4654296"/>
            <a:ext cx="1024128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low-rank updates to selected model layers — efficient and effective.</a:t>
            </a:r>
            <a:endParaRPr lang="en-US" sz="1150" dirty="0"/>
          </a:p>
        </p:txBody>
      </p:sp>
      <p:sp>
        <p:nvSpPr>
          <p:cNvPr id="20" name="Shape 14"/>
          <p:cNvSpPr/>
          <p:nvPr/>
        </p:nvSpPr>
        <p:spPr>
          <a:xfrm>
            <a:off x="548640" y="5349240"/>
            <a:ext cx="457200" cy="457200"/>
          </a:xfrm>
          <a:prstGeom prst="ellipse">
            <a:avLst/>
          </a:prstGeom>
          <a:solidFill>
            <a:srgbClr val="F5F7FC"/>
          </a:solidFill>
          <a:ln w="12700">
            <a:solidFill>
              <a:srgbClr val="E3E7F1"/>
            </a:solidFill>
            <a:prstDash val="solid"/>
          </a:ln>
        </p:spPr>
      </p:sp>
      <p:pic>
        <p:nvPicPr>
          <p:cNvPr id="21" name="Image 4" descr="/home/claude/icons/cpu_3B6EF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80" y="5440680"/>
            <a:ext cx="274320" cy="27432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152144" y="5312664"/>
            <a:ext cx="102412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B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on limited hardware</a:t>
            </a:r>
            <a:endParaRPr lang="en-US" sz="1350" dirty="0"/>
          </a:p>
        </p:txBody>
      </p:sp>
      <p:sp>
        <p:nvSpPr>
          <p:cNvPr id="23" name="Text 16"/>
          <p:cNvSpPr/>
          <p:nvPr/>
        </p:nvSpPr>
        <p:spPr>
          <a:xfrm>
            <a:off x="1152144" y="5568696"/>
            <a:ext cx="1024128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PEFT makes small-scale experimentation practical on constrained, single-GPU hardware like Colab.</a:t>
            </a:r>
            <a:endParaRPr lang="en-US" sz="1150" dirty="0"/>
          </a:p>
        </p:txBody>
      </p:sp>
      <p:sp>
        <p:nvSpPr>
          <p:cNvPr id="24" name="Text 1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  •  Faculty Development Program  •  36</a:t>
            </a:r>
            <a:endParaRPr lang="en-US" sz="85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3B6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5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Configuring LoRA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28016" cy="128016"/>
          </a:xfrm>
          <a:prstGeom prst="ellipse">
            <a:avLst/>
          </a:prstGeom>
          <a:solidFill>
            <a:srgbClr val="3B6EF0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636776"/>
            <a:ext cx="4160520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B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 rank r controls the capacity of the low-rank update.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2542032"/>
            <a:ext cx="128016" cy="128016"/>
          </a:xfrm>
          <a:prstGeom prst="ellipse">
            <a:avLst/>
          </a:prstGeom>
          <a:solidFill>
            <a:srgbClr val="3B6EF0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441448"/>
            <a:ext cx="4160520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B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lora_alpha scales the adapter contribution; dropout provides regularization.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3346704"/>
            <a:ext cx="128016" cy="128016"/>
          </a:xfrm>
          <a:prstGeom prst="ellipse">
            <a:avLst/>
          </a:prstGeom>
          <a:solidFill>
            <a:srgbClr val="3B6EF0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3246120"/>
            <a:ext cx="4160520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B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target_modules identify the model layers where adapters are inserted.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4151376"/>
            <a:ext cx="128016" cy="128016"/>
          </a:xfrm>
          <a:prstGeom prst="ellipse">
            <a:avLst/>
          </a:prstGeom>
          <a:solidFill>
            <a:srgbClr val="3B6EF0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4050792"/>
            <a:ext cx="4160520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B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target module names depend on the architecture and should be verified.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4956048"/>
            <a:ext cx="128016" cy="128016"/>
          </a:xfrm>
          <a:prstGeom prst="ellipse">
            <a:avLst/>
          </a:prstGeom>
          <a:solidFill>
            <a:srgbClr val="3B6EF0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4855464"/>
            <a:ext cx="4160520" cy="9509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B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attaching LoRA, inspect trainable parameters to see how much of the model is actually updated.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349240" y="1691640"/>
            <a:ext cx="6293815" cy="4572000"/>
          </a:xfrm>
          <a:prstGeom prst="roundRect">
            <a:avLst>
              <a:gd name="adj" fmla="val 2000"/>
            </a:avLst>
          </a:prstGeom>
          <a:solidFill>
            <a:srgbClr val="1B2559"/>
          </a:solidFill>
          <a:ln/>
        </p:spPr>
      </p:sp>
      <p:sp>
        <p:nvSpPr>
          <p:cNvPr id="15" name="Shape 13"/>
          <p:cNvSpPr/>
          <p:nvPr/>
        </p:nvSpPr>
        <p:spPr>
          <a:xfrm>
            <a:off x="5577840" y="1892808"/>
            <a:ext cx="128016" cy="128016"/>
          </a:xfrm>
          <a:prstGeom prst="ellipse">
            <a:avLst/>
          </a:prstGeom>
          <a:solidFill>
            <a:srgbClr val="E5534B"/>
          </a:solidFill>
          <a:ln/>
        </p:spPr>
      </p:sp>
      <p:sp>
        <p:nvSpPr>
          <p:cNvPr id="16" name="Shape 14"/>
          <p:cNvSpPr/>
          <p:nvPr/>
        </p:nvSpPr>
        <p:spPr>
          <a:xfrm>
            <a:off x="5806440" y="1892808"/>
            <a:ext cx="128016" cy="128016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7" name="Shape 15"/>
          <p:cNvSpPr/>
          <p:nvPr/>
        </p:nvSpPr>
        <p:spPr>
          <a:xfrm>
            <a:off x="6035040" y="1892808"/>
            <a:ext cx="128016" cy="128016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18" name="Text 16"/>
          <p:cNvSpPr/>
          <p:nvPr/>
        </p:nvSpPr>
        <p:spPr>
          <a:xfrm>
            <a:off x="5349240" y="1856232"/>
            <a:ext cx="60194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B9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lora_config.py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577840" y="2194560"/>
            <a:ext cx="5836615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peft import LoraConfig, get_peft_model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lora_config = LoraConfig(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r=8, lora_alpha=16,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lora_dropout=0.05,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bias="none",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task_type="CAUSAL_LM",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target_modules=["q_proj", "k_proj",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"v_proj", "o_proj"]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= get_peft_model(model, lora_config)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model.print_trainable_parameters()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  •  Faculty Development Program  •  37</a:t>
            </a:r>
            <a:endParaRPr lang="en-US" sz="85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4213D"/>
                </a:solidFill>
                <a:latin typeface="Aptos"/>
              </a:defRPr>
            </a:pPr>
            <a:r>
              <a:t>LoRA Configuration — What Do These Parameters Control?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14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F6B7A"/>
                </a:solidFill>
                <a:latin typeface="Aptos"/>
              </a:defRPr>
            </a:pPr>
            <a:r>
              <a:t>Our configuration controls adapter capacity, scaling, regularization and where the adapter is inserted.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508760"/>
            <a:ext cx="2788920" cy="2423160"/>
          </a:xfrm>
          <a:prstGeom prst="roundRect">
            <a:avLst/>
          </a:prstGeom>
          <a:solidFill>
            <a:srgbClr val="E8EEF5"/>
          </a:solidFill>
          <a:ln w="13970">
            <a:solidFill>
              <a:srgbClr val="2F5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700" b="1">
                <a:solidFill>
                  <a:srgbClr val="202733"/>
                </a:solidFill>
                <a:latin typeface="Aptos"/>
              </a:defRPr>
            </a:pPr>
            <a:r>
              <a:t>OUR CONFIGURATION</a:t>
            </a:r>
            <a:br/>
            <a:br/>
            <a:r>
              <a:t>r = 8</a:t>
            </a:r>
            <a:br/>
            <a:r>
              <a:t>lora_alpha = 16</a:t>
            </a:r>
            <a:br/>
            <a:r>
              <a:t>lora_dropout = 0.05</a:t>
            </a:r>
            <a:br/>
            <a:br/>
            <a:r>
              <a:t>q_proj, k_proj,</a:t>
            </a:r>
            <a:br/>
            <a:r>
              <a:t>v_proj, o_proj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794760" y="1417320"/>
            <a:ext cx="3703320" cy="105156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2F5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/>
          <a:lstStyle/>
          <a:p>
            <a:pPr algn="ctr">
              <a:defRPr sz="1500" b="0">
                <a:solidFill>
                  <a:srgbClr val="202733"/>
                </a:solidFill>
                <a:latin typeface="Aptos"/>
              </a:defRPr>
            </a:pPr>
            <a:r>
              <a:t>r — RANK</a:t>
            </a:r>
            <a:br>
              <a:rPr dirty="0"/>
            </a:br>
            <a:r>
              <a:t>Controls adapter capacity.</a:t>
            </a:r>
            <a:br>
              <a:rPr dirty="0"/>
            </a:br>
            <a:r>
              <a:t>Higher r → more trainable parameters &amp; capacity.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18120" y="1417320"/>
            <a:ext cx="3703320" cy="1051560"/>
          </a:xfrm>
          <a:prstGeom prst="roundRect">
            <a:avLst/>
          </a:prstGeom>
          <a:solidFill>
            <a:srgbClr val="F8F1E0"/>
          </a:solidFill>
          <a:ln w="13970">
            <a:solidFill>
              <a:srgbClr val="C68F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/>
          <a:lstStyle/>
          <a:p>
            <a:pPr algn="ctr">
              <a:defRPr sz="1500" b="0">
                <a:solidFill>
                  <a:srgbClr val="202733"/>
                </a:solidFill>
                <a:latin typeface="Aptos"/>
              </a:defRPr>
            </a:pPr>
            <a:r>
              <a:rPr dirty="0" err="1"/>
              <a:t>lora_alpha</a:t>
            </a:r>
            <a:r>
              <a:rPr dirty="0"/>
              <a:t> — SCALING</a:t>
            </a:r>
            <a:br>
              <a:rPr dirty="0"/>
            </a:br>
            <a:r>
              <a:rPr dirty="0"/>
              <a:t>Controls the strength of the </a:t>
            </a:r>
            <a:r>
              <a:rPr dirty="0" err="1"/>
              <a:t>LoRA</a:t>
            </a:r>
            <a:r>
              <a:rPr dirty="0"/>
              <a:t> update.</a:t>
            </a:r>
            <a:br>
              <a:rPr dirty="0"/>
            </a:br>
            <a:r>
              <a:rPr dirty="0"/>
              <a:t>Common scaling: α / 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794760" y="2788920"/>
            <a:ext cx="3703320" cy="1051560"/>
          </a:xfrm>
          <a:prstGeom prst="roundRect">
            <a:avLst/>
          </a:prstGeom>
          <a:solidFill>
            <a:srgbClr val="E7F3F2"/>
          </a:solidFill>
          <a:ln w="13970">
            <a:solidFill>
              <a:srgbClr val="2A7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/>
          <a:lstStyle/>
          <a:p>
            <a:pPr algn="ctr">
              <a:defRPr sz="1400" b="0">
                <a:solidFill>
                  <a:srgbClr val="202733"/>
                </a:solidFill>
                <a:latin typeface="Aptos"/>
              </a:defRPr>
            </a:pPr>
            <a:r>
              <a:rPr dirty="0" err="1"/>
              <a:t>lora_dropout</a:t>
            </a:r>
            <a:r>
              <a:rPr dirty="0"/>
              <a:t> — REGULARIZATION</a:t>
            </a:r>
            <a:br>
              <a:rPr dirty="0"/>
            </a:br>
            <a:r>
              <a:rPr dirty="0"/>
              <a:t>Randomly drops adapter activations during training.</a:t>
            </a:r>
            <a:br>
              <a:rPr dirty="0"/>
            </a:br>
            <a:r>
              <a:rPr dirty="0"/>
              <a:t>Helps reduce overfitting.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18120" y="2788920"/>
            <a:ext cx="3703320" cy="1051560"/>
          </a:xfrm>
          <a:prstGeom prst="roundRect">
            <a:avLst/>
          </a:prstGeom>
          <a:solidFill>
            <a:srgbClr val="E8EEF5"/>
          </a:solidFill>
          <a:ln w="13970">
            <a:solidFill>
              <a:srgbClr val="2F5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/>
          <a:lstStyle/>
          <a:p>
            <a:pPr algn="ctr">
              <a:defRPr sz="1400" b="0">
                <a:solidFill>
                  <a:srgbClr val="202733"/>
                </a:solidFill>
                <a:latin typeface="Aptos"/>
              </a:defRPr>
            </a:pPr>
            <a:r>
              <a:rPr dirty="0" err="1"/>
              <a:t>target_modules</a:t>
            </a:r>
            <a:r>
              <a:rPr dirty="0"/>
              <a:t> — WHERE?</a:t>
            </a:r>
            <a:br>
              <a:rPr dirty="0"/>
            </a:br>
            <a:r>
              <a:rPr dirty="0"/>
              <a:t>Layers where </a:t>
            </a:r>
            <a:r>
              <a:rPr dirty="0" err="1"/>
              <a:t>LoRA</a:t>
            </a:r>
            <a:r>
              <a:rPr dirty="0"/>
              <a:t> is inserted.</a:t>
            </a:r>
            <a:br>
              <a:rPr dirty="0"/>
            </a:br>
            <a:r>
              <a:rPr dirty="0"/>
              <a:t>Here: Q, K, V and O projections in attention.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2976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F5D8C"/>
                </a:solidFill>
                <a:latin typeface="Aptos"/>
              </a:defRPr>
            </a:pPr>
            <a:r>
              <a:t>RANK: CAPACITY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709160"/>
            <a:ext cx="1051560" cy="5029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202733"/>
                </a:solidFill>
                <a:latin typeface="Aptos"/>
              </a:defRPr>
            </a:pPr>
            <a:r>
              <a:t>r = 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965960" y="4709160"/>
            <a:ext cx="1051560" cy="502920"/>
          </a:xfrm>
          <a:prstGeom prst="roundRect">
            <a:avLst/>
          </a:prstGeom>
          <a:solidFill>
            <a:srgbClr val="F8F1E0"/>
          </a:solidFill>
          <a:ln w="13970">
            <a:solidFill>
              <a:srgbClr val="C68F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202733"/>
                </a:solidFill>
                <a:latin typeface="Aptos"/>
              </a:defRPr>
            </a:pPr>
            <a:r>
              <a:t>r = 8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108960" y="4709160"/>
            <a:ext cx="1051560" cy="5029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202733"/>
                </a:solidFill>
                <a:latin typeface="Aptos"/>
              </a:defRPr>
            </a:pPr>
            <a:r>
              <a:t>r = 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285232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F6B7A"/>
                </a:solidFill>
                <a:latin typeface="Aptos"/>
              </a:defRPr>
            </a:pPr>
            <a:r>
              <a:t>lower capacity  ←────────→  higher capacity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69080" y="429768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C68F30"/>
                </a:solidFill>
                <a:latin typeface="Aptos"/>
              </a:defRPr>
            </a:pPr>
            <a:r>
              <a:t>OUR SCALING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51960" y="4709160"/>
            <a:ext cx="2743200" cy="685800"/>
          </a:xfrm>
          <a:prstGeom prst="roundRect">
            <a:avLst/>
          </a:prstGeom>
          <a:solidFill>
            <a:srgbClr val="F8F1E0"/>
          </a:solidFill>
          <a:ln w="13970">
            <a:solidFill>
              <a:srgbClr val="C68F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202733"/>
                </a:solidFill>
                <a:latin typeface="Aptos"/>
              </a:defRPr>
            </a:pPr>
            <a:r>
              <a:t>α / r = 16 / 8 = 2</a:t>
            </a:r>
            <a:br/>
            <a:r>
              <a:t>LoRA contribution ×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79" y="429768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A7A7A"/>
                </a:solidFill>
                <a:latin typeface="Aptos"/>
              </a:defRPr>
            </a:pPr>
            <a:r>
              <a:t>ATTENTION TARGETS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01000" y="4709160"/>
            <a:ext cx="658368" cy="502920"/>
          </a:xfrm>
          <a:prstGeom prst="roundRect">
            <a:avLst/>
          </a:prstGeom>
          <a:solidFill>
            <a:srgbClr val="E7F3F2"/>
          </a:solidFill>
          <a:ln w="13970">
            <a:solidFill>
              <a:srgbClr val="2A7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202733"/>
                </a:solidFill>
                <a:latin typeface="Aptos"/>
              </a:defRPr>
            </a:pPr>
            <a:r>
              <a:t>Q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842248" y="4709160"/>
            <a:ext cx="658368" cy="502920"/>
          </a:xfrm>
          <a:prstGeom prst="roundRect">
            <a:avLst/>
          </a:prstGeom>
          <a:solidFill>
            <a:srgbClr val="E7F3F2"/>
          </a:solidFill>
          <a:ln w="13970">
            <a:solidFill>
              <a:srgbClr val="2A7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202733"/>
                </a:solidFill>
                <a:latin typeface="Aptos"/>
              </a:defRPr>
            </a:pPr>
            <a:r>
              <a:t>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683496" y="4709160"/>
            <a:ext cx="658368" cy="502920"/>
          </a:xfrm>
          <a:prstGeom prst="roundRect">
            <a:avLst/>
          </a:prstGeom>
          <a:solidFill>
            <a:srgbClr val="E7F3F2"/>
          </a:solidFill>
          <a:ln w="13970">
            <a:solidFill>
              <a:srgbClr val="2A7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202733"/>
                </a:solidFill>
                <a:latin typeface="Aptos"/>
              </a:defRPr>
            </a:pPr>
            <a:r>
              <a:t>V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524744" y="4709160"/>
            <a:ext cx="658368" cy="502920"/>
          </a:xfrm>
          <a:prstGeom prst="roundRect">
            <a:avLst/>
          </a:prstGeom>
          <a:solidFill>
            <a:srgbClr val="E7F3F2"/>
          </a:solidFill>
          <a:ln w="13970">
            <a:solidFill>
              <a:srgbClr val="2A7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202733"/>
                </a:solidFill>
                <a:latin typeface="Aptos"/>
              </a:defRPr>
            </a:pPr>
            <a:r>
              <a:t>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09560" y="530352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F6B7A"/>
                </a:solidFill>
                <a:latin typeface="Aptos"/>
              </a:defRPr>
            </a:pPr>
            <a:r>
              <a:t>q_proj   k_proj   v_proj   o_proj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51560" y="5897880"/>
            <a:ext cx="10058400" cy="566928"/>
          </a:xfrm>
          <a:prstGeom prst="roundRect">
            <a:avLst/>
          </a:prstGeom>
          <a:solidFill>
            <a:srgbClr val="F8F1E0"/>
          </a:solidFill>
          <a:ln w="13970">
            <a:solidFill>
              <a:srgbClr val="C68F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14213D"/>
                </a:solidFill>
                <a:latin typeface="Aptos"/>
              </a:defRPr>
            </a:pPr>
            <a:r>
              <a:t>Key idea: r = how much can be learned  |  α = how strongly it is applied  |  dropout = regularization  |  target_modules = where it is learned</a:t>
            </a:r>
          </a:p>
        </p:txBody>
      </p:sp>
    </p:spTree>
    <p:extLst>
      <p:ext uri="{BB962C8B-B14F-4D97-AF65-F5344CB8AC3E}">
        <p14:creationId xmlns:p14="http://schemas.microsoft.com/office/powerpoint/2010/main" val="346839476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3B6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5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Supervised Fine-Tuning (SFT)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28016" cy="128016"/>
          </a:xfrm>
          <a:prstGeom prst="ellipse">
            <a:avLst/>
          </a:prstGeom>
          <a:solidFill>
            <a:srgbClr val="3B6EF0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636776"/>
            <a:ext cx="4160520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B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SFT trains on examples where the desired response is known.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2542032"/>
            <a:ext cx="128016" cy="128016"/>
          </a:xfrm>
          <a:prstGeom prst="ellipse">
            <a:avLst/>
          </a:prstGeom>
          <a:solidFill>
            <a:srgbClr val="3B6EF0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441448"/>
            <a:ext cx="4160520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B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pass → token predictions → loss → backpropagation → LoRA parameter update.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3346704"/>
            <a:ext cx="128016" cy="128016"/>
          </a:xfrm>
          <a:prstGeom prst="ellipse">
            <a:avLst/>
          </a:prstGeom>
          <a:solidFill>
            <a:srgbClr val="3B6EF0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3246120"/>
            <a:ext cx="4160520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B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model weights remain frozen; only LoRA parameters receive gradients.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4151376"/>
            <a:ext cx="128016" cy="128016"/>
          </a:xfrm>
          <a:prstGeom prst="ellipse">
            <a:avLst/>
          </a:prstGeom>
          <a:solidFill>
            <a:srgbClr val="3B6EF0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4050792"/>
            <a:ext cx="4160520" cy="9509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B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configuration includes epochs, batch size, gradient accumulation and learning rate.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5212080"/>
            <a:ext cx="128016" cy="128016"/>
          </a:xfrm>
          <a:prstGeom prst="ellipse">
            <a:avLst/>
          </a:prstGeom>
          <a:solidFill>
            <a:srgbClr val="3B6EF0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5111496"/>
            <a:ext cx="4160520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B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data is used throughout to monitor generalization.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349240" y="1691640"/>
            <a:ext cx="6293815" cy="4572000"/>
          </a:xfrm>
          <a:prstGeom prst="roundRect">
            <a:avLst>
              <a:gd name="adj" fmla="val 2000"/>
            </a:avLst>
          </a:prstGeom>
          <a:solidFill>
            <a:srgbClr val="1B2559"/>
          </a:solidFill>
          <a:ln/>
        </p:spPr>
      </p:sp>
      <p:sp>
        <p:nvSpPr>
          <p:cNvPr id="15" name="Shape 13"/>
          <p:cNvSpPr/>
          <p:nvPr/>
        </p:nvSpPr>
        <p:spPr>
          <a:xfrm>
            <a:off x="5577840" y="1892808"/>
            <a:ext cx="128016" cy="128016"/>
          </a:xfrm>
          <a:prstGeom prst="ellipse">
            <a:avLst/>
          </a:prstGeom>
          <a:solidFill>
            <a:srgbClr val="E5534B"/>
          </a:solidFill>
          <a:ln/>
        </p:spPr>
      </p:sp>
      <p:sp>
        <p:nvSpPr>
          <p:cNvPr id="16" name="Shape 14"/>
          <p:cNvSpPr/>
          <p:nvPr/>
        </p:nvSpPr>
        <p:spPr>
          <a:xfrm>
            <a:off x="5806440" y="1892808"/>
            <a:ext cx="128016" cy="128016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7" name="Shape 15"/>
          <p:cNvSpPr/>
          <p:nvPr/>
        </p:nvSpPr>
        <p:spPr>
          <a:xfrm>
            <a:off x="6035040" y="1892808"/>
            <a:ext cx="128016" cy="128016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18" name="Text 16"/>
          <p:cNvSpPr/>
          <p:nvPr/>
        </p:nvSpPr>
        <p:spPr>
          <a:xfrm>
            <a:off x="5349240" y="1856232"/>
            <a:ext cx="60194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B9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train.py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577840" y="2194560"/>
            <a:ext cx="5836615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trl import SFTConfig, SFTTrainer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training_args = SFTConfig(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output_dir="./deep_learning_lora",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num_train_epochs=2,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per_device_train_batch_size=2,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gradient_accumulation_steps=4,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learning_rate=2e-4,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eval_strategy="epoch",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save_strategy="epoch",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trainer = SFTTrainer(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model=model, args=training_args,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train_dataset=train_dataset,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eval_dataset=val_dataset,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processing_class=tokenizer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trainer.train()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  •  Faculty Development Program  •  38</a:t>
            </a:r>
            <a:endParaRPr lang="en-US" sz="85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3B6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&amp; EVALUATION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5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Training Monitoring &amp; Interpreting Results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457200" cy="457200"/>
          </a:xfrm>
          <a:prstGeom prst="ellipse">
            <a:avLst/>
          </a:prstGeom>
          <a:solidFill>
            <a:srgbClr val="F5F7FC"/>
          </a:solidFill>
          <a:ln w="12700">
            <a:solidFill>
              <a:srgbClr val="E3E7F1"/>
            </a:solidFill>
            <a:prstDash val="solid"/>
          </a:ln>
        </p:spPr>
      </p:sp>
      <p:pic>
        <p:nvPicPr>
          <p:cNvPr id="5" name="Image 0" descr="/home/claude/icons/trending-down_3B6EF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286000"/>
            <a:ext cx="274320" cy="274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52144" y="2157984"/>
            <a:ext cx="47091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B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loss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1152144" y="2414016"/>
            <a:ext cx="4709160" cy="932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Indicates how well the model predicts training targets — should trend downward.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548640" y="3383280"/>
            <a:ext cx="457200" cy="457200"/>
          </a:xfrm>
          <a:prstGeom prst="ellipse">
            <a:avLst/>
          </a:prstGeom>
          <a:solidFill>
            <a:srgbClr val="F5F7FC"/>
          </a:solidFill>
          <a:ln w="12700">
            <a:solidFill>
              <a:srgbClr val="E3E7F1"/>
            </a:solidFill>
            <a:prstDash val="solid"/>
          </a:ln>
        </p:spPr>
      </p:sp>
      <p:pic>
        <p:nvPicPr>
          <p:cNvPr id="9" name="Image 1" descr="/home/claude/icons/eye_3B6EF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474720"/>
            <a:ext cx="274320" cy="2743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52144" y="3346704"/>
            <a:ext cx="47091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B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loss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1152144" y="3602736"/>
            <a:ext cx="4709160" cy="932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on unseen examples without updating parameters — the real generalization signal.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548640" y="4572000"/>
            <a:ext cx="457200" cy="457200"/>
          </a:xfrm>
          <a:prstGeom prst="ellipse">
            <a:avLst/>
          </a:prstGeom>
          <a:solidFill>
            <a:srgbClr val="F5F7FC"/>
          </a:solidFill>
          <a:ln w="12700">
            <a:solidFill>
              <a:srgbClr val="E3E7F1"/>
            </a:solidFill>
            <a:prstDash val="solid"/>
          </a:ln>
        </p:spPr>
      </p:sp>
      <p:pic>
        <p:nvPicPr>
          <p:cNvPr id="13" name="Image 2" descr="/home/claude/icons/alert-triangle_3B6EF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4663440"/>
            <a:ext cx="274320" cy="2743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152144" y="4535424"/>
            <a:ext cx="47091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B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trend</a:t>
            </a:r>
            <a:endParaRPr lang="en-US" sz="1350" dirty="0"/>
          </a:p>
        </p:txBody>
      </p:sp>
      <p:sp>
        <p:nvSpPr>
          <p:cNvPr id="15" name="Text 10"/>
          <p:cNvSpPr/>
          <p:nvPr/>
        </p:nvSpPr>
        <p:spPr>
          <a:xfrm>
            <a:off x="1152144" y="4791456"/>
            <a:ext cx="4709160" cy="932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↓ + validation ↓ is generally encouraging; train ↓ + validation ↑ can indicate overfitting.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6263640" y="2194560"/>
            <a:ext cx="457200" cy="457200"/>
          </a:xfrm>
          <a:prstGeom prst="ellipse">
            <a:avLst/>
          </a:prstGeom>
          <a:solidFill>
            <a:srgbClr val="F5F7FC"/>
          </a:solidFill>
          <a:ln w="12700">
            <a:solidFill>
              <a:srgbClr val="E3E7F1"/>
            </a:solidFill>
            <a:prstDash val="solid"/>
          </a:ln>
        </p:spPr>
      </p:sp>
      <p:pic>
        <p:nvPicPr>
          <p:cNvPr id="17" name="Image 3" descr="/home/claude/icons/clock_1B2559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5080" y="2286000"/>
            <a:ext cx="274320" cy="27432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867144" y="2157984"/>
            <a:ext cx="47091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B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Epoch vs. global step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6867144" y="2414016"/>
            <a:ext cx="4709160" cy="932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Epoch = one pass through the training data; global step = optimizer update count.</a:t>
            </a:r>
            <a:endParaRPr lang="en-US" sz="1150" dirty="0"/>
          </a:p>
        </p:txBody>
      </p:sp>
      <p:sp>
        <p:nvSpPr>
          <p:cNvPr id="20" name="Shape 14"/>
          <p:cNvSpPr/>
          <p:nvPr/>
        </p:nvSpPr>
        <p:spPr>
          <a:xfrm>
            <a:off x="6263640" y="3383280"/>
            <a:ext cx="457200" cy="457200"/>
          </a:xfrm>
          <a:prstGeom prst="ellipse">
            <a:avLst/>
          </a:prstGeom>
          <a:solidFill>
            <a:srgbClr val="F5F7FC"/>
          </a:solidFill>
          <a:ln w="12700">
            <a:solidFill>
              <a:srgbClr val="E3E7F1"/>
            </a:solidFill>
            <a:prstDash val="solid"/>
          </a:ln>
        </p:spPr>
      </p:sp>
      <p:pic>
        <p:nvPicPr>
          <p:cNvPr id="21" name="Image 4" descr="/home/claude/icons/layers_1B2559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55080" y="3474720"/>
            <a:ext cx="274320" cy="27432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6867144" y="3346704"/>
            <a:ext cx="47091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B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Effective batch size</a:t>
            </a:r>
            <a:endParaRPr lang="en-US" sz="1350" dirty="0"/>
          </a:p>
        </p:txBody>
      </p:sp>
      <p:sp>
        <p:nvSpPr>
          <p:cNvPr id="23" name="Text 16"/>
          <p:cNvSpPr/>
          <p:nvPr/>
        </p:nvSpPr>
        <p:spPr>
          <a:xfrm>
            <a:off x="6867144" y="3602736"/>
            <a:ext cx="4709160" cy="932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Approximately per-device batch size × gradient accumulation steps.</a:t>
            </a:r>
            <a:endParaRPr lang="en-US" sz="1150" dirty="0"/>
          </a:p>
        </p:txBody>
      </p:sp>
      <p:sp>
        <p:nvSpPr>
          <p:cNvPr id="24" name="Shape 17"/>
          <p:cNvSpPr/>
          <p:nvPr/>
        </p:nvSpPr>
        <p:spPr>
          <a:xfrm>
            <a:off x="6263640" y="4572000"/>
            <a:ext cx="457200" cy="457200"/>
          </a:xfrm>
          <a:prstGeom prst="ellipse">
            <a:avLst/>
          </a:prstGeom>
          <a:solidFill>
            <a:srgbClr val="F5F7FC"/>
          </a:solidFill>
          <a:ln w="12700">
            <a:solidFill>
              <a:srgbClr val="E3E7F1"/>
            </a:solidFill>
            <a:prstDash val="solid"/>
          </a:ln>
        </p:spPr>
      </p:sp>
      <p:pic>
        <p:nvPicPr>
          <p:cNvPr id="25" name="Image 5" descr="/home/claude/icons/bar-chart_1B2559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55080" y="4663440"/>
            <a:ext cx="274320" cy="27432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6867144" y="4535424"/>
            <a:ext cx="47091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B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is diagnostic, not final</a:t>
            </a:r>
            <a:endParaRPr lang="en-US" sz="1350" dirty="0"/>
          </a:p>
        </p:txBody>
      </p:sp>
      <p:sp>
        <p:nvSpPr>
          <p:cNvPr id="27" name="Text 19"/>
          <p:cNvSpPr/>
          <p:nvPr/>
        </p:nvSpPr>
        <p:spPr>
          <a:xfrm>
            <a:off x="6867144" y="4791456"/>
            <a:ext cx="4709160" cy="932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trends are useful signals, but output quality ultimately determines usefulness.</a:t>
            </a:r>
            <a:endParaRPr lang="en-US" sz="1150" dirty="0"/>
          </a:p>
        </p:txBody>
      </p:sp>
      <p:sp>
        <p:nvSpPr>
          <p:cNvPr id="28" name="Text 2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  •  Faculty Development Program  •  39</a:t>
            </a:r>
            <a:endParaRPr lang="en-US" sz="85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3B6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ADAPTER LIFECYCLE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5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Saving &amp; Loading the LoRA Adapter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28016" cy="128016"/>
          </a:xfrm>
          <a:prstGeom prst="ellipse">
            <a:avLst/>
          </a:prstGeom>
          <a:solidFill>
            <a:srgbClr val="3B6EF0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636776"/>
            <a:ext cx="4160520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B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the trained adapter rather than creating a full new copy of the base LLM.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2542032"/>
            <a:ext cx="128016" cy="128016"/>
          </a:xfrm>
          <a:prstGeom prst="ellipse">
            <a:avLst/>
          </a:prstGeom>
          <a:solidFill>
            <a:srgbClr val="3B6EF0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441448"/>
            <a:ext cx="4160520" cy="9509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B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adapter_model.safetensors stores learned weights; adapter_config.json stores configuration.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3602736"/>
            <a:ext cx="128016" cy="128016"/>
          </a:xfrm>
          <a:prstGeom prst="ellipse">
            <a:avLst/>
          </a:prstGeom>
          <a:solidFill>
            <a:srgbClr val="3B6EF0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3502152"/>
            <a:ext cx="4160520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B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Reload the base model and attach the adapter with PeftModel.from_pretrained.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4407408"/>
            <a:ext cx="128016" cy="128016"/>
          </a:xfrm>
          <a:prstGeom prst="ellipse">
            <a:avLst/>
          </a:prstGeom>
          <a:solidFill>
            <a:srgbClr val="3B6EF0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4306824"/>
            <a:ext cx="4160520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B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Adapters can be stored, transferred and reused with the same base model.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5212080"/>
            <a:ext cx="128016" cy="128016"/>
          </a:xfrm>
          <a:prstGeom prst="ellipse">
            <a:avLst/>
          </a:prstGeom>
          <a:solidFill>
            <a:srgbClr val="3B6EF0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5111496"/>
            <a:ext cx="4160520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B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During inference, parameters are used but never updated.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349240" y="1691640"/>
            <a:ext cx="6293815" cy="4572000"/>
          </a:xfrm>
          <a:prstGeom prst="roundRect">
            <a:avLst>
              <a:gd name="adj" fmla="val 2000"/>
            </a:avLst>
          </a:prstGeom>
          <a:solidFill>
            <a:srgbClr val="1B2559"/>
          </a:solidFill>
          <a:ln/>
        </p:spPr>
      </p:sp>
      <p:sp>
        <p:nvSpPr>
          <p:cNvPr id="15" name="Shape 13"/>
          <p:cNvSpPr/>
          <p:nvPr/>
        </p:nvSpPr>
        <p:spPr>
          <a:xfrm>
            <a:off x="5577840" y="1892808"/>
            <a:ext cx="128016" cy="128016"/>
          </a:xfrm>
          <a:prstGeom prst="ellipse">
            <a:avLst/>
          </a:prstGeom>
          <a:solidFill>
            <a:srgbClr val="E5534B"/>
          </a:solidFill>
          <a:ln/>
        </p:spPr>
      </p:sp>
      <p:sp>
        <p:nvSpPr>
          <p:cNvPr id="16" name="Shape 14"/>
          <p:cNvSpPr/>
          <p:nvPr/>
        </p:nvSpPr>
        <p:spPr>
          <a:xfrm>
            <a:off x="5806440" y="1892808"/>
            <a:ext cx="128016" cy="128016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7" name="Shape 15"/>
          <p:cNvSpPr/>
          <p:nvPr/>
        </p:nvSpPr>
        <p:spPr>
          <a:xfrm>
            <a:off x="6035040" y="1892808"/>
            <a:ext cx="128016" cy="128016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18" name="Text 16"/>
          <p:cNvSpPr/>
          <p:nvPr/>
        </p:nvSpPr>
        <p:spPr>
          <a:xfrm>
            <a:off x="5349240" y="1856232"/>
            <a:ext cx="60194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B9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save_load.py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577840" y="2194560"/>
            <a:ext cx="5836615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ADAPTER_PATH = "./deep_learning_lora_adapter"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trainer.save_model(ADAPTER_PATH)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peft import PeftModel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base_model = AutoModelForCausalLM \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.from_pretrained(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MODEL_NAME, torch_dtype="auto",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device_map="auto"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finetuned_model = PeftModel.from_pretrained(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base_model, ADAPTER_PATH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finetuned_model.eval()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  •  Faculty Development Program  •  40</a:t>
            </a:r>
            <a:endParaRPr lang="en-US" sz="85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3B6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5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 Model vs Fine-Tuned Model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28016" cy="128016"/>
          </a:xfrm>
          <a:prstGeom prst="ellipse">
            <a:avLst/>
          </a:prstGeom>
          <a:solidFill>
            <a:srgbClr val="3B6EF0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636776"/>
            <a:ext cx="4160520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B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exactly the same evaluation prompts before and after fine-tuning.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2542032"/>
            <a:ext cx="128016" cy="128016"/>
          </a:xfrm>
          <a:prstGeom prst="ellipse">
            <a:avLst/>
          </a:prstGeom>
          <a:solidFill>
            <a:srgbClr val="3B6EF0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441448"/>
            <a:ext cx="4160520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B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and save baseline responses first, then generate fine-tuned responses.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3346704"/>
            <a:ext cx="128016" cy="128016"/>
          </a:xfrm>
          <a:prstGeom prst="ellipse">
            <a:avLst/>
          </a:prstGeom>
          <a:solidFill>
            <a:srgbClr val="3B6EF0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3246120"/>
            <a:ext cx="4160520" cy="9509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B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correctness, relevance, clarity, conciseness, terminology, style and consistency.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4407408"/>
            <a:ext cx="128016" cy="128016"/>
          </a:xfrm>
          <a:prstGeom prst="ellipse">
            <a:avLst/>
          </a:prstGeom>
          <a:solidFill>
            <a:srgbClr val="3B6EF0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4306824"/>
            <a:ext cx="4160520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B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different answer is not automatically a better answer.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5212080"/>
            <a:ext cx="128016" cy="128016"/>
          </a:xfrm>
          <a:prstGeom prst="ellipse">
            <a:avLst/>
          </a:prstGeom>
          <a:solidFill>
            <a:srgbClr val="3B6EF0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5111496"/>
            <a:ext cx="4160520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B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goal is desired behavior improvement, not simply output change.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349240" y="1691640"/>
            <a:ext cx="6293815" cy="4572000"/>
          </a:xfrm>
          <a:prstGeom prst="roundRect">
            <a:avLst>
              <a:gd name="adj" fmla="val 2000"/>
            </a:avLst>
          </a:prstGeom>
          <a:solidFill>
            <a:srgbClr val="1B2559"/>
          </a:solidFill>
          <a:ln/>
        </p:spPr>
      </p:sp>
      <p:sp>
        <p:nvSpPr>
          <p:cNvPr id="15" name="Shape 13"/>
          <p:cNvSpPr/>
          <p:nvPr/>
        </p:nvSpPr>
        <p:spPr>
          <a:xfrm>
            <a:off x="5577840" y="1892808"/>
            <a:ext cx="128016" cy="128016"/>
          </a:xfrm>
          <a:prstGeom prst="ellipse">
            <a:avLst/>
          </a:prstGeom>
          <a:solidFill>
            <a:srgbClr val="E5534B"/>
          </a:solidFill>
          <a:ln/>
        </p:spPr>
      </p:sp>
      <p:sp>
        <p:nvSpPr>
          <p:cNvPr id="16" name="Shape 14"/>
          <p:cNvSpPr/>
          <p:nvPr/>
        </p:nvSpPr>
        <p:spPr>
          <a:xfrm>
            <a:off x="5806440" y="1892808"/>
            <a:ext cx="128016" cy="128016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7" name="Shape 15"/>
          <p:cNvSpPr/>
          <p:nvPr/>
        </p:nvSpPr>
        <p:spPr>
          <a:xfrm>
            <a:off x="6035040" y="1892808"/>
            <a:ext cx="128016" cy="128016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18" name="Text 16"/>
          <p:cNvSpPr/>
          <p:nvPr/>
        </p:nvSpPr>
        <p:spPr>
          <a:xfrm>
            <a:off x="5349240" y="1856232"/>
            <a:ext cx="60194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B9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compare.py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577840" y="2194560"/>
            <a:ext cx="5836615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prompt in baseline_prompts: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print("=" * 60)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print("QUESTION:", prompt)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print("BASE MODEL:",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baseline_results[prompt])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print("FINE-TUNED MODEL:",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finetuned_results[prompt])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  •  Faculty Development Program  •  41</a:t>
            </a:r>
            <a:endParaRPr lang="en-US" sz="85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3B6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5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Evaluating Fine-Tuned LLMs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457200" cy="457200"/>
          </a:xfrm>
          <a:prstGeom prst="ellipse">
            <a:avLst/>
          </a:prstGeom>
          <a:solidFill>
            <a:srgbClr val="F5F7FC"/>
          </a:solidFill>
          <a:ln w="12700">
            <a:solidFill>
              <a:srgbClr val="E3E7F1"/>
            </a:solidFill>
            <a:prstDash val="solid"/>
          </a:ln>
        </p:spPr>
      </p:sp>
      <p:pic>
        <p:nvPicPr>
          <p:cNvPr id="5" name="Image 0" descr="/home/claude/icons/bar-chart_3B6EF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286000"/>
            <a:ext cx="274320" cy="274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52144" y="2157984"/>
            <a:ext cx="47091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B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metrics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1152144" y="2414016"/>
            <a:ext cx="4709160" cy="932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Loss, validation loss and perplexity — quick automatic signals from the training run itself.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548640" y="3383280"/>
            <a:ext cx="457200" cy="457200"/>
          </a:xfrm>
          <a:prstGeom prst="ellipse">
            <a:avLst/>
          </a:prstGeom>
          <a:solidFill>
            <a:srgbClr val="F5F7FC"/>
          </a:solidFill>
          <a:ln w="12700">
            <a:solidFill>
              <a:srgbClr val="E3E7F1"/>
            </a:solidFill>
            <a:prstDash val="solid"/>
          </a:ln>
        </p:spPr>
      </p:sp>
      <p:pic>
        <p:nvPicPr>
          <p:cNvPr id="9" name="Image 1" descr="/home/claude/icons/target_3B6EF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474720"/>
            <a:ext cx="274320" cy="2743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52144" y="3346704"/>
            <a:ext cx="47091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B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Task-specific metrics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1152144" y="3602736"/>
            <a:ext cx="4709160" cy="932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Accuracy, F1, exact match or other appropriate task measures.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548640" y="4572000"/>
            <a:ext cx="457200" cy="457200"/>
          </a:xfrm>
          <a:prstGeom prst="ellipse">
            <a:avLst/>
          </a:prstGeom>
          <a:solidFill>
            <a:srgbClr val="F5F7FC"/>
          </a:solidFill>
          <a:ln w="12700">
            <a:solidFill>
              <a:srgbClr val="E3E7F1"/>
            </a:solidFill>
            <a:prstDash val="solid"/>
          </a:ln>
        </p:spPr>
      </p:sp>
      <p:pic>
        <p:nvPicPr>
          <p:cNvPr id="13" name="Image 2" descr="/home/claude/icons/eye_3B6EF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4663440"/>
            <a:ext cx="274320" cy="2743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152144" y="4535424"/>
            <a:ext cx="47091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B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Qualitative evaluation</a:t>
            </a:r>
            <a:endParaRPr lang="en-US" sz="1350" dirty="0"/>
          </a:p>
        </p:txBody>
      </p:sp>
      <p:sp>
        <p:nvSpPr>
          <p:cNvPr id="15" name="Text 10"/>
          <p:cNvSpPr/>
          <p:nvPr/>
        </p:nvSpPr>
        <p:spPr>
          <a:xfrm>
            <a:off x="1152144" y="4791456"/>
            <a:ext cx="4709160" cy="932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Correctness, relevance, clarity, consistency and style, assessed by reading outputs.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6263640" y="2194560"/>
            <a:ext cx="457200" cy="457200"/>
          </a:xfrm>
          <a:prstGeom prst="ellipse">
            <a:avLst/>
          </a:prstGeom>
          <a:solidFill>
            <a:srgbClr val="F5F7FC"/>
          </a:solidFill>
          <a:ln w="12700">
            <a:solidFill>
              <a:srgbClr val="E3E7F1"/>
            </a:solidFill>
            <a:prstDash val="solid"/>
          </a:ln>
        </p:spPr>
      </p:sp>
      <p:pic>
        <p:nvPicPr>
          <p:cNvPr id="17" name="Image 3" descr="/home/claude/icons/users_1B2559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5080" y="2286000"/>
            <a:ext cx="274320" cy="27432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867144" y="2157984"/>
            <a:ext cx="47091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B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evaluation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6867144" y="2414016"/>
            <a:ext cx="4709160" cy="932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 for open-ended generation where automatic metrics fall short.</a:t>
            </a:r>
            <a:endParaRPr lang="en-US" sz="1150" dirty="0"/>
          </a:p>
        </p:txBody>
      </p:sp>
      <p:sp>
        <p:nvSpPr>
          <p:cNvPr id="20" name="Shape 14"/>
          <p:cNvSpPr/>
          <p:nvPr/>
        </p:nvSpPr>
        <p:spPr>
          <a:xfrm>
            <a:off x="6263640" y="3383280"/>
            <a:ext cx="457200" cy="457200"/>
          </a:xfrm>
          <a:prstGeom prst="ellipse">
            <a:avLst/>
          </a:prstGeom>
          <a:solidFill>
            <a:srgbClr val="F5F7FC"/>
          </a:solidFill>
          <a:ln w="12700">
            <a:solidFill>
              <a:srgbClr val="E3E7F1"/>
            </a:solidFill>
            <a:prstDash val="solid"/>
          </a:ln>
        </p:spPr>
      </p:sp>
      <p:pic>
        <p:nvPicPr>
          <p:cNvPr id="21" name="Image 4" descr="/home/claude/icons/search_1B2559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55080" y="3474720"/>
            <a:ext cx="274320" cy="27432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6867144" y="3346704"/>
            <a:ext cx="47091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B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LLM-as-a-judge</a:t>
            </a:r>
            <a:endParaRPr lang="en-US" sz="1350" dirty="0"/>
          </a:p>
        </p:txBody>
      </p:sp>
      <p:sp>
        <p:nvSpPr>
          <p:cNvPr id="23" name="Text 16"/>
          <p:cNvSpPr/>
          <p:nvPr/>
        </p:nvSpPr>
        <p:spPr>
          <a:xfrm>
            <a:off x="6867144" y="3602736"/>
            <a:ext cx="4709160" cy="932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scale evaluation but can introduce bias — should be validated against human judgment.</a:t>
            </a:r>
            <a:endParaRPr lang="en-US" sz="1150" dirty="0"/>
          </a:p>
        </p:txBody>
      </p:sp>
      <p:sp>
        <p:nvSpPr>
          <p:cNvPr id="24" name="Shape 17"/>
          <p:cNvSpPr/>
          <p:nvPr/>
        </p:nvSpPr>
        <p:spPr>
          <a:xfrm>
            <a:off x="6263640" y="4572000"/>
            <a:ext cx="457200" cy="457200"/>
          </a:xfrm>
          <a:prstGeom prst="ellipse">
            <a:avLst/>
          </a:prstGeom>
          <a:solidFill>
            <a:srgbClr val="F5F7FC"/>
          </a:solidFill>
          <a:ln w="12700">
            <a:solidFill>
              <a:srgbClr val="E3E7F1"/>
            </a:solidFill>
            <a:prstDash val="solid"/>
          </a:ln>
        </p:spPr>
      </p:sp>
      <p:pic>
        <p:nvPicPr>
          <p:cNvPr id="25" name="Image 5" descr="/home/claude/icons/check-circle_1B2559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55080" y="4663440"/>
            <a:ext cx="274320" cy="27432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6867144" y="4535424"/>
            <a:ext cx="47091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B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this workshop</a:t>
            </a:r>
            <a:endParaRPr lang="en-US" sz="1350" dirty="0"/>
          </a:p>
        </p:txBody>
      </p:sp>
      <p:sp>
        <p:nvSpPr>
          <p:cNvPr id="27" name="Text 19"/>
          <p:cNvSpPr/>
          <p:nvPr/>
        </p:nvSpPr>
        <p:spPr>
          <a:xfrm>
            <a:off x="6867144" y="4791456"/>
            <a:ext cx="4709160" cy="932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 simple base-vs-fine-tuned rubric on a fixed set of prompts.</a:t>
            </a:r>
            <a:endParaRPr lang="en-US" sz="1150" dirty="0"/>
          </a:p>
        </p:txBody>
      </p:sp>
      <p:sp>
        <p:nvSpPr>
          <p:cNvPr id="28" name="Text 2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  •  Faculty Development Program  •  42</a:t>
            </a:r>
            <a:endParaRPr lang="en-US" sz="85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3B6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DEPLOYMENT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5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Colab Experiment to Real-World Fine-Tuning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457200" cy="457200"/>
          </a:xfrm>
          <a:prstGeom prst="ellipse">
            <a:avLst/>
          </a:prstGeom>
          <a:solidFill>
            <a:srgbClr val="F5F7FC"/>
          </a:solidFill>
          <a:ln w="12700">
            <a:solidFill>
              <a:srgbClr val="E3E7F1"/>
            </a:solidFill>
            <a:prstDash val="solid"/>
          </a:ln>
        </p:spPr>
      </p:sp>
      <p:pic>
        <p:nvPicPr>
          <p:cNvPr id="5" name="Image 0" descr="/home/claude/icons/database_3B6EF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286000"/>
            <a:ext cx="274320" cy="274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52144" y="2157984"/>
            <a:ext cx="47091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B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datasets are bigger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1152144" y="2414016"/>
            <a:ext cx="4709160" cy="932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projects use larger, more diverse and carefully curated datasets than a workshop example.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548640" y="3383280"/>
            <a:ext cx="457200" cy="457200"/>
          </a:xfrm>
          <a:prstGeom prst="ellipse">
            <a:avLst/>
          </a:prstGeom>
          <a:solidFill>
            <a:srgbClr val="F5F7FC"/>
          </a:solidFill>
          <a:ln w="12700">
            <a:solidFill>
              <a:srgbClr val="E3E7F1"/>
            </a:solidFill>
            <a:prstDash val="solid"/>
          </a:ln>
        </p:spPr>
      </p:sp>
      <p:pic>
        <p:nvPicPr>
          <p:cNvPr id="9" name="Image 1" descr="/home/claude/icons/sliders_3B6EF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474720"/>
            <a:ext cx="274320" cy="2743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52144" y="3346704"/>
            <a:ext cx="47091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B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decisions scale up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1152144" y="3602736"/>
            <a:ext cx="4709160" cy="932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choice, compute, sequence length, LoRA/QLoRA settings and evaluation all become real engineering decisions.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548640" y="4572000"/>
            <a:ext cx="457200" cy="457200"/>
          </a:xfrm>
          <a:prstGeom prst="ellipse">
            <a:avLst/>
          </a:prstGeom>
          <a:solidFill>
            <a:srgbClr val="F5F7FC"/>
          </a:solidFill>
          <a:ln w="12700">
            <a:solidFill>
              <a:srgbClr val="E3E7F1"/>
            </a:solidFill>
            <a:prstDash val="solid"/>
          </a:ln>
        </p:spPr>
      </p:sp>
      <p:pic>
        <p:nvPicPr>
          <p:cNvPr id="13" name="Image 2" descr="/home/claude/icons/lock_3B6EF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4663440"/>
            <a:ext cx="274320" cy="2743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152144" y="4535424"/>
            <a:ext cx="47091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B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needs more</a:t>
            </a:r>
            <a:endParaRPr lang="en-US" sz="1350" dirty="0"/>
          </a:p>
        </p:txBody>
      </p:sp>
      <p:sp>
        <p:nvSpPr>
          <p:cNvPr id="15" name="Text 10"/>
          <p:cNvSpPr/>
          <p:nvPr/>
        </p:nvSpPr>
        <p:spPr>
          <a:xfrm>
            <a:off x="1152144" y="4791456"/>
            <a:ext cx="4709160" cy="932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systems need safety, privacy, robustness, monitoring and deployment considerations.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6263640" y="2194560"/>
            <a:ext cx="457200" cy="457200"/>
          </a:xfrm>
          <a:prstGeom prst="ellipse">
            <a:avLst/>
          </a:prstGeom>
          <a:solidFill>
            <a:srgbClr val="F5F7FC"/>
          </a:solidFill>
          <a:ln w="12700">
            <a:solidFill>
              <a:srgbClr val="E3E7F1"/>
            </a:solidFill>
            <a:prstDash val="solid"/>
          </a:ln>
        </p:spPr>
      </p:sp>
      <p:pic>
        <p:nvPicPr>
          <p:cNvPr id="17" name="Image 3" descr="/home/claude/icons/database_1B2559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5080" y="2286000"/>
            <a:ext cx="274320" cy="27432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867144" y="2157984"/>
            <a:ext cx="47091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B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 RAG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6867144" y="2414016"/>
            <a:ext cx="4709160" cy="932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 RAG when the primary need is access to changing external knowledge.</a:t>
            </a:r>
            <a:endParaRPr lang="en-US" sz="1150" dirty="0"/>
          </a:p>
        </p:txBody>
      </p:sp>
      <p:sp>
        <p:nvSpPr>
          <p:cNvPr id="20" name="Shape 14"/>
          <p:cNvSpPr/>
          <p:nvPr/>
        </p:nvSpPr>
        <p:spPr>
          <a:xfrm>
            <a:off x="6263640" y="3383280"/>
            <a:ext cx="457200" cy="457200"/>
          </a:xfrm>
          <a:prstGeom prst="ellipse">
            <a:avLst/>
          </a:prstGeom>
          <a:solidFill>
            <a:srgbClr val="F5F7FC"/>
          </a:solidFill>
          <a:ln w="12700">
            <a:solidFill>
              <a:srgbClr val="E3E7F1"/>
            </a:solidFill>
            <a:prstDash val="solid"/>
          </a:ln>
        </p:spPr>
      </p:sp>
      <p:pic>
        <p:nvPicPr>
          <p:cNvPr id="21" name="Image 4" descr="/home/claude/icons/zap_1B2559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55080" y="3474720"/>
            <a:ext cx="274320" cy="27432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6867144" y="3346704"/>
            <a:ext cx="47091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B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Fine-tuning's sweet spot</a:t>
            </a:r>
            <a:endParaRPr lang="en-US" sz="1350" dirty="0"/>
          </a:p>
        </p:txBody>
      </p:sp>
      <p:sp>
        <p:nvSpPr>
          <p:cNvPr id="23" name="Text 16"/>
          <p:cNvSpPr/>
          <p:nvPr/>
        </p:nvSpPr>
        <p:spPr>
          <a:xfrm>
            <a:off x="6867144" y="3602736"/>
            <a:ext cx="4709160" cy="932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useful for specialized behavior, task execution, style or domain response patterns.</a:t>
            </a:r>
            <a:endParaRPr lang="en-US" sz="1150" dirty="0"/>
          </a:p>
        </p:txBody>
      </p:sp>
      <p:sp>
        <p:nvSpPr>
          <p:cNvPr id="24" name="Shape 17"/>
          <p:cNvSpPr/>
          <p:nvPr/>
        </p:nvSpPr>
        <p:spPr>
          <a:xfrm>
            <a:off x="6263640" y="4572000"/>
            <a:ext cx="457200" cy="457200"/>
          </a:xfrm>
          <a:prstGeom prst="ellipse">
            <a:avLst/>
          </a:prstGeom>
          <a:solidFill>
            <a:srgbClr val="F5F7FC"/>
          </a:solidFill>
          <a:ln w="12700">
            <a:solidFill>
              <a:srgbClr val="E3E7F1"/>
            </a:solidFill>
            <a:prstDash val="solid"/>
          </a:ln>
        </p:spPr>
      </p:sp>
      <p:pic>
        <p:nvPicPr>
          <p:cNvPr id="25" name="Image 5" descr="/home/claude/icons/refresh-cw_1B2559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55080" y="4663440"/>
            <a:ext cx="274320" cy="27432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6867144" y="4535424"/>
            <a:ext cx="47091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B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can combine</a:t>
            </a:r>
            <a:endParaRPr lang="en-US" sz="1350" dirty="0"/>
          </a:p>
        </p:txBody>
      </p:sp>
      <p:sp>
        <p:nvSpPr>
          <p:cNvPr id="27" name="Text 19"/>
          <p:cNvSpPr/>
          <p:nvPr/>
        </p:nvSpPr>
        <p:spPr>
          <a:xfrm>
            <a:off x="6867144" y="4791456"/>
            <a:ext cx="4709160" cy="932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and fine-tuning can also be combined for the best of both approaches.</a:t>
            </a:r>
            <a:endParaRPr lang="en-US" sz="1150" dirty="0"/>
          </a:p>
        </p:txBody>
      </p:sp>
      <p:sp>
        <p:nvSpPr>
          <p:cNvPr id="28" name="Text 2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  •  Faculty Development Program  •  43</a:t>
            </a:r>
            <a:endParaRPr lang="en-US" sz="85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3B6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5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Session 2 Summary &amp; Take-Home Checklist</a:t>
            </a:r>
            <a:endParaRPr lang="en-US" sz="3000" dirty="0"/>
          </a:p>
        </p:txBody>
      </p:sp>
      <p:pic>
        <p:nvPicPr>
          <p:cNvPr id="4" name="Image 0" descr="/home/claude/icons/check-circle_3B6EF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098548"/>
            <a:ext cx="237744" cy="23774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96112" y="2025396"/>
            <a:ext cx="49834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B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 an SFT dataset and train/validation split.</a:t>
            </a:r>
            <a:endParaRPr lang="en-US" sz="1250" dirty="0"/>
          </a:p>
        </p:txBody>
      </p:sp>
      <p:pic>
        <p:nvPicPr>
          <p:cNvPr id="6" name="Image 1" descr="/home/claude/icons/check-circle_3B6EF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875788"/>
            <a:ext cx="237744" cy="23774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96112" y="2802636"/>
            <a:ext cx="49834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B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tokenization and chat templates.</a:t>
            </a:r>
            <a:endParaRPr lang="en-US" sz="1250" dirty="0"/>
          </a:p>
        </p:txBody>
      </p:sp>
      <p:pic>
        <p:nvPicPr>
          <p:cNvPr id="8" name="Image 2" descr="/home/claude/icons/check-circle_3B6EF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653028"/>
            <a:ext cx="237744" cy="237744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896112" y="3579876"/>
            <a:ext cx="49834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B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 a baseline before training.</a:t>
            </a:r>
            <a:endParaRPr lang="en-US" sz="1250" dirty="0"/>
          </a:p>
        </p:txBody>
      </p:sp>
      <p:pic>
        <p:nvPicPr>
          <p:cNvPr id="10" name="Image 3" descr="/home/claude/icons/check-circle_3B6EF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430268"/>
            <a:ext cx="237744" cy="237744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896112" y="4357116"/>
            <a:ext cx="49834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B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LoRA and perform SFT.</a:t>
            </a:r>
            <a:endParaRPr lang="en-US" sz="1250" dirty="0"/>
          </a:p>
        </p:txBody>
      </p:sp>
      <p:pic>
        <p:nvPicPr>
          <p:cNvPr id="12" name="Image 4" descr="/home/claude/icons/check-circle_3B6EF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2098548"/>
            <a:ext cx="237744" cy="237744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6611112" y="2025396"/>
            <a:ext cx="49834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B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Save/reload adapters and reproduce inference.</a:t>
            </a:r>
            <a:endParaRPr lang="en-US" sz="1250" dirty="0"/>
          </a:p>
        </p:txBody>
      </p:sp>
      <p:pic>
        <p:nvPicPr>
          <p:cNvPr id="14" name="Image 5" descr="/home/claude/icons/check-circle_3B6EF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2875788"/>
            <a:ext cx="237744" cy="237744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6611112" y="2802636"/>
            <a:ext cx="49834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B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base vs fine-tuned outputs using fixed prompts.</a:t>
            </a:r>
            <a:endParaRPr lang="en-US" sz="1250" dirty="0"/>
          </a:p>
        </p:txBody>
      </p:sp>
      <p:pic>
        <p:nvPicPr>
          <p:cNvPr id="16" name="Image 6" descr="/home/claude/icons/check-circle_3B6EF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3653028"/>
            <a:ext cx="237744" cy="237744"/>
          </a:xfrm>
          <a:prstGeom prst="rect">
            <a:avLst/>
          </a:prstGeom>
        </p:spPr>
      </p:pic>
      <p:sp>
        <p:nvSpPr>
          <p:cNvPr id="17" name="Text 8"/>
          <p:cNvSpPr/>
          <p:nvPr/>
        </p:nvSpPr>
        <p:spPr>
          <a:xfrm>
            <a:off x="6611112" y="3579876"/>
            <a:ext cx="49834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B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 training/evaluation behavior and identify when fine-tuning vs RAG is appropriate.</a:t>
            </a:r>
            <a:endParaRPr lang="en-US" sz="1250" dirty="0"/>
          </a:p>
        </p:txBody>
      </p:sp>
      <p:sp>
        <p:nvSpPr>
          <p:cNvPr id="18" name="Shape 9"/>
          <p:cNvSpPr/>
          <p:nvPr/>
        </p:nvSpPr>
        <p:spPr>
          <a:xfrm>
            <a:off x="548640" y="5806440"/>
            <a:ext cx="11064240" cy="685800"/>
          </a:xfrm>
          <a:prstGeom prst="roundRect">
            <a:avLst>
              <a:gd name="adj" fmla="val 13333"/>
            </a:avLst>
          </a:prstGeom>
          <a:solidFill>
            <a:srgbClr val="1B2559"/>
          </a:solidFill>
          <a:ln/>
        </p:spPr>
      </p:sp>
      <p:pic>
        <p:nvPicPr>
          <p:cNvPr id="19" name="Image 7" descr="/home/claude/icons/award_F5A62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6007608"/>
            <a:ext cx="292608" cy="292608"/>
          </a:xfrm>
          <a:prstGeom prst="rect">
            <a:avLst/>
          </a:prstGeom>
        </p:spPr>
      </p:pic>
      <p:sp>
        <p:nvSpPr>
          <p:cNvPr id="20" name="Text 10"/>
          <p:cNvSpPr/>
          <p:nvPr/>
        </p:nvSpPr>
        <p:spPr>
          <a:xfrm>
            <a:off x="1234440" y="5806440"/>
            <a:ext cx="10149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takeaway: Don't just fine-tune a model. Fine-tune it for a reason — and measure whether it worked.</a:t>
            </a:r>
            <a:endParaRPr lang="en-US" sz="1250" dirty="0"/>
          </a:p>
        </p:txBody>
      </p:sp>
      <p:sp>
        <p:nvSpPr>
          <p:cNvPr id="21" name="Text 11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  •  Faculty Development Program  •  44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57</Slides>
  <Notes>44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57</vt:i4>
      </vt:variant>
    </vt:vector>
  </HeadingPairs>
  <TitlesOfParts>
    <vt:vector size="58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46</cp:revision>
  <dcterms:created xsi:type="dcterms:W3CDTF">2026-08-14T18:05:05Z</dcterms:created>
  <dcterms:modified xsi:type="dcterms:W3CDTF">2026-08-17T01:32:13Z</dcterms:modified>
</cp:coreProperties>
</file>